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5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937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we'll walk through six areas: our strategic foundation, the UX and UI framework behind the site, a full section-by-section walkthrough, the patient journey, the business impact across stakeholders, and finally the technology stack and roadmap ahead. Together these give a complete picture of the Medsev platform from both a design and business perspective.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Medsev brings every patient touchpoint into one trustworthy digital experience — services, doctors, and appointments all in one place. Our analysis goes beyond describing features: for every section we ask why it exists, what business value it creates, and how it improves the patient experience. That's the lens for everything that follows.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decision on this site should trace back to a business outcome. We defined six goals: more online bookings, higher patient satisfaction, lighter administrative load, stronger branding, better digital visibility, and the ability to make data-driven improvements over time. These goals guide every section we're about to review.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serves six distinct audiences: everyday patients booking care, families and parents seeking reassurance, senior citizens who need accessible design, emergency cases who need speed above all, healthcare professionals who value credibility, and hospital administration who need efficiency. Every UX decision has to work across this full range of needs.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has four core objectives: guiding visitors smoothly toward booking, establishing trust immediately through design and credentials, centralizing all hospital information in one place, and delivering a consistent experience no matter what device a patient uses.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typical hospital websites, Medsev stands out in two ways. On the experience side: a unified patient flow, transparent doctor profiles, and a modern visual identity. On the operations side: self-service booking that cuts down phone calls, a content hub that builds authority, and fully responsive, accessible design.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principles guide every screen: strong visual hierarchy, clear persistent navigation, accessibility for all ages, fully responsive layouts, a guided journey toward booking, purposeful calls-to-action, visible trust elements, and continuous conversion optimization. These aren't decorative ideas — they're the criteria we used to evaluate every section of the site.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walk through the website itself, section by section — not just describing what each part contains, but why it exists and the value it creates for patients, doctors, and the hospital.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is the site's control center. It holds the hospital's identity, full navigation, and a persistent booking button, and it stays visible while scrolling. This isn't just convenience — a sticky, clear header keeps the path to booking always one click away, which directly reduces drop-off.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merges the original Features and Why Choose Us sections, since both serve the same purpose: proving the hospital's value quickly. Instead of long paragraphs, short feature cards — like 24/7 emergency support and qualified doctors — let visitors absorb key strengths in seconds, directly addressing the hesitations that stand between a visit and a booking.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About Us section answers the question every new visitor silently asks: who are you, and can I trust you? By presenting mission, experience, and achievements clearly, it builds the credibility patients need before committing to book — differentiating the hospital on trust rather than price alone.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Medical Services section is the site's directory of care. By organizing specialties like cardiology, pediatrics, and emergency care into clear, icon-led cards, it lets patients self-identify what they need and move straight into booking — improving both user experience and conversion.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doctor is one of the most personal decisions a patient makes. This section increases transparency with photos, credentials, and specialty tags, letting patients feel confident about who will treat them — which meaningfully lowers hesitation before booking an appointment.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interaction on the site — the point where a visitor becomes a patient. A simple form covering department, doctor, date, and time removes the friction of phone calls, saves patients time, and reduces the administrative burden on hospital staff.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trust numbers more than adjectives. A short counter section — doctors on staff, patients served, successful surgeries — gives visitors measurable proof of the hospital's experience, reinforcing confidence right at the moment they're deciding whether to commit.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Medical Services lists individual treatments, Departments organizes the hospital's structure itself — cardiology, radiology, ICU, and more — each linking to its own doctors, treatments, and hours. This mirrors how patients actually think about care, helping them self-navigate without calling for directions.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amount of marketing copy is as persuasive as a real patient's voice. Testimonials with photos, ratings, and honest feedback increase trust, show real outcomes, and directly encourage new visitors to take the same step — booking an appointment.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 does double duty: it educates patients on prevention and wellness while quietly improving the hospital's search engine visibility. Fresh, useful content increases website traffic, builds authority, and keeps the hospital top-of-mind long after a patient's first visit.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FAQ section quietly removes friction by answering the most common questions — booking, emergency services, hours — before a patient has to call and ask. It's a small section with an outsized impact on both patient satisfaction and administrative workload.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and Footer are combined here because together they serve one purpose: making sure no visitor ever reaches a dead end. Contact details, a map, and a message form sit on every page, while the footer offers one last set of navigation options before a visitor leaves the site.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journey has seven clear steps: landing, exploring services, choosing a department, selecting a doctor, booking, confirmation, and finally the hospital visit itself. Each step is deliberately designed to answer one question and open the next, minimizing friction and drop-off at every stage.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platform's nine core features are online booking, a doctor directory, a department hub, patient testimonials, a health blog, an FAQ accordion, location and map integration, fully responsive design, and consistent trust signals throughout. Together, these are what make Medsev feel like a complete healthcare platform rather than a simple brochure site.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design creates value for everyone, not just the visitor. Patients get faster, more transparent access to care. Doctors gain a stronger personal brand. Hospital management sees improved perception and measurable performance. The marketing team gets an SEO-ready content engine. And administration benefits from fewer manual calls and a lighter operational load.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technical standpoint, the site is built on standard, dependable web technologies: HTML5 for semantic structure, CSS3 for styling, JavaScript for interactivity, and Bootstrap for a responsive grid. Combined with Git and GitHub for version control, this gives a lightweight, maintainable foundation that's easy to extend as the platform grows.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we've grouped future improvements into three tracks: patient-facing features like a personal dashboard and online payments, engagement features like an AI assistant and live chat, and platform features like a doctor dashboard and admin panel. This roadmap keeps the site's next phase realistic and prioritized.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Medsev's vision is a single, trustworthy digital home for the patient journey. Its business value is fewer calls and more bookings. Its user experience is clear and reassuring at every step. And it stands on a foundation ready for real digital transformation — dashboards, AI, and telemedicine. A hospital website can be more than a brochure; it can be an active partner in care. Thank you.</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9.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4.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7.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9.png"/><Relationship Id="rId10" Type="http://schemas.openxmlformats.org/officeDocument/2006/relationships/image" Target="../media/image25.png"/><Relationship Id="rId4" Type="http://schemas.openxmlformats.org/officeDocument/2006/relationships/image" Target="../media/image4.png"/><Relationship Id="rId9" Type="http://schemas.openxmlformats.org/officeDocument/2006/relationships/image" Target="../media/image23.png"/></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20.png"/><Relationship Id="rId5" Type="http://schemas.openxmlformats.org/officeDocument/2006/relationships/image" Target="../media/image8.png"/><Relationship Id="rId10" Type="http://schemas.openxmlformats.org/officeDocument/2006/relationships/image" Target="../media/image34.png"/><Relationship Id="rId4" Type="http://schemas.openxmlformats.org/officeDocument/2006/relationships/image" Target="../media/image7.png"/><Relationship Id="rId9" Type="http://schemas.openxmlformats.org/officeDocument/2006/relationships/image" Target="../media/image31.png"/></Relationships>
</file>

<file path=ppt/slides/_rels/slide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39.png"/></Relationships>
</file>

<file path=ppt/slides/_rels/slide26.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7.png"/><Relationship Id="rId3" Type="http://schemas.openxmlformats.org/officeDocument/2006/relationships/image" Target="../media/image1.png"/><Relationship Id="rId7" Type="http://schemas.openxmlformats.org/officeDocument/2006/relationships/image" Target="../media/image43.png"/><Relationship Id="rId12" Type="http://schemas.openxmlformats.org/officeDocument/2006/relationships/image" Target="../media/image46.png"/><Relationship Id="rId2" Type="http://schemas.openxmlformats.org/officeDocument/2006/relationships/notesSlide" Target="../notesSlides/notesSlide26.xml"/><Relationship Id="rId16"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32.png"/><Relationship Id="rId5" Type="http://schemas.openxmlformats.org/officeDocument/2006/relationships/image" Target="../media/image41.png"/><Relationship Id="rId15" Type="http://schemas.openxmlformats.org/officeDocument/2006/relationships/image" Target="../media/image19.png"/><Relationship Id="rId10" Type="http://schemas.openxmlformats.org/officeDocument/2006/relationships/image" Target="../media/image31.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txBody>
          <a:bodyPr/>
          <a:lstStyle/>
          <a:p>
            <a:endParaRPr lang="en-US"/>
          </a:p>
        </p:txBody>
      </p:sp>
      <p:sp>
        <p:nvSpPr>
          <p:cNvPr id="3" name="Shape 1"/>
          <p:cNvSpPr/>
          <p:nvPr/>
        </p:nvSpPr>
        <p:spPr>
          <a:xfrm>
            <a:off x="10543032" y="4480560"/>
            <a:ext cx="2926080" cy="2926080"/>
          </a:xfrm>
          <a:prstGeom prst="ellipse">
            <a:avLst/>
          </a:prstGeom>
          <a:solidFill>
            <a:srgbClr val="2EC4B6">
              <a:alpha val="30000"/>
            </a:srgbClr>
          </a:solidFill>
          <a:ln/>
        </p:spPr>
        <p:txBody>
          <a:bodyPr/>
          <a:lstStyle/>
          <a:p>
            <a:endParaRPr lang="en-US"/>
          </a:p>
        </p:txBody>
      </p:sp>
      <p:sp>
        <p:nvSpPr>
          <p:cNvPr id="4" name="Shape 2"/>
          <p:cNvSpPr/>
          <p:nvPr/>
        </p:nvSpPr>
        <p:spPr>
          <a:xfrm>
            <a:off x="149290" y="0"/>
            <a:ext cx="12188952" cy="6858000"/>
          </a:xfrm>
          <a:prstGeom prst="rect">
            <a:avLst/>
          </a:prstGeom>
          <a:solidFill>
            <a:srgbClr val="0B2545">
              <a:alpha val="0"/>
            </a:srgbClr>
          </a:solidFill>
          <a:ln/>
        </p:spPr>
        <p:txBody>
          <a:bodyPr/>
          <a:lstStyle/>
          <a:p>
            <a:endParaRPr lang="en-US"/>
          </a:p>
        </p:txBody>
      </p:sp>
      <p:sp>
        <p:nvSpPr>
          <p:cNvPr id="5" name="Shape 3"/>
          <p:cNvSpPr/>
          <p:nvPr/>
        </p:nvSpPr>
        <p:spPr>
          <a:xfrm>
            <a:off x="640080" y="548640"/>
            <a:ext cx="566928" cy="566928"/>
          </a:xfrm>
          <a:prstGeom prst="ellipse">
            <a:avLst/>
          </a:prstGeom>
          <a:solidFill>
            <a:srgbClr val="0E7C86"/>
          </a:solidFill>
          <a:ln/>
        </p:spPr>
        <p:txBody>
          <a:bodyPr/>
          <a:lstStyle/>
          <a:p>
            <a:endParaRPr lang="en-US"/>
          </a:p>
        </p:txBody>
      </p:sp>
      <p:pic>
        <p:nvPicPr>
          <p:cNvPr id="6" name="Image 0" descr="/home/claude/hospital/icons/logo_cross_white.png"/>
          <p:cNvPicPr>
            <a:picLocks noChangeAspect="1"/>
          </p:cNvPicPr>
          <p:nvPr/>
        </p:nvPicPr>
        <p:blipFill>
          <a:blip r:embed="rId3"/>
          <a:stretch>
            <a:fillRect/>
          </a:stretch>
        </p:blipFill>
        <p:spPr>
          <a:xfrm>
            <a:off x="767639" y="676199"/>
            <a:ext cx="311810" cy="311810"/>
          </a:xfrm>
          <a:prstGeom prst="rect">
            <a:avLst/>
          </a:prstGeom>
        </p:spPr>
      </p:pic>
      <p:sp>
        <p:nvSpPr>
          <p:cNvPr id="7" name="Text 4"/>
          <p:cNvSpPr/>
          <p:nvPr/>
        </p:nvSpPr>
        <p:spPr>
          <a:xfrm>
            <a:off x="1325880" y="548640"/>
            <a:ext cx="4572000" cy="320040"/>
          </a:xfrm>
          <a:prstGeom prst="rect">
            <a:avLst/>
          </a:prstGeom>
          <a:noFill/>
          <a:ln/>
        </p:spPr>
        <p:txBody>
          <a:bodyPr wrap="square" rtlCol="0" anchor="ctr"/>
          <a:lstStyle/>
          <a:p>
            <a:pPr marL="0" indent="0">
              <a:buNone/>
            </a:pPr>
            <a:r>
              <a:rPr lang="en-US" sz="1300" b="1" kern="0" spc="200" dirty="0">
                <a:solidFill>
                  <a:srgbClr val="2EC4B6"/>
                </a:solidFill>
                <a:latin typeface="Calibri" pitchFamily="34" charset="0"/>
                <a:ea typeface="Calibri" pitchFamily="34" charset="-122"/>
                <a:cs typeface="Calibri" pitchFamily="34" charset="-120"/>
              </a:rPr>
              <a:t>CareConnect HEALTHCARE</a:t>
            </a:r>
            <a:endParaRPr lang="en-US" sz="1300" dirty="0"/>
          </a:p>
        </p:txBody>
      </p:sp>
      <p:sp>
        <p:nvSpPr>
          <p:cNvPr id="8" name="Text 5"/>
          <p:cNvSpPr/>
          <p:nvPr/>
        </p:nvSpPr>
        <p:spPr>
          <a:xfrm>
            <a:off x="1325880" y="868680"/>
            <a:ext cx="4572000" cy="274320"/>
          </a:xfrm>
          <a:prstGeom prst="rect">
            <a:avLst/>
          </a:prstGeom>
          <a:noFill/>
          <a:ln/>
        </p:spPr>
        <p:txBody>
          <a:bodyPr wrap="square" rtlCol="0" anchor="ctr"/>
          <a:lstStyle/>
          <a:p>
            <a:pPr marL="0" indent="0">
              <a:buNone/>
            </a:pPr>
            <a:r>
              <a:rPr lang="en-US" sz="950" i="1" dirty="0">
                <a:solidFill>
                  <a:srgbClr val="AEC6C6"/>
                </a:solidFill>
                <a:latin typeface="Calibri" pitchFamily="34" charset="0"/>
                <a:ea typeface="Calibri" pitchFamily="34" charset="-122"/>
                <a:cs typeface="Calibri" pitchFamily="34" charset="-120"/>
              </a:rPr>
              <a:t>Fostering Support at Every Stage</a:t>
            </a:r>
            <a:endParaRPr lang="en-US" sz="950" dirty="0"/>
          </a:p>
        </p:txBody>
      </p:sp>
      <p:sp>
        <p:nvSpPr>
          <p:cNvPr id="9" name="Text 6"/>
          <p:cNvSpPr/>
          <p:nvPr/>
        </p:nvSpPr>
        <p:spPr>
          <a:xfrm>
            <a:off x="640080" y="2286000"/>
            <a:ext cx="9601200" cy="1737360"/>
          </a:xfrm>
          <a:prstGeom prst="rect">
            <a:avLst/>
          </a:prstGeom>
          <a:noFill/>
          <a:ln/>
        </p:spPr>
        <p:txBody>
          <a:bodyPr wrap="square" rtlCol="0" anchor="ctr"/>
          <a:lstStyle/>
          <a:p>
            <a:pPr marL="0" indent="0">
              <a:lnSpc>
                <a:spcPct val="102000"/>
              </a:lnSpc>
              <a:buNone/>
            </a:pPr>
            <a:r>
              <a:rPr lang="en-US" sz="5000" b="1" dirty="0">
                <a:solidFill>
                  <a:srgbClr val="FFFFFF"/>
                </a:solidFill>
                <a:latin typeface="Cambria" pitchFamily="34" charset="0"/>
                <a:ea typeface="Cambria" pitchFamily="34" charset="-122"/>
                <a:cs typeface="Cambria" pitchFamily="34" charset="-120"/>
              </a:rPr>
              <a:t>CareConnect Healthcare</a:t>
            </a:r>
            <a:endParaRPr lang="en-US" sz="5000" dirty="0"/>
          </a:p>
          <a:p>
            <a:pPr marL="0" indent="0">
              <a:lnSpc>
                <a:spcPct val="102000"/>
              </a:lnSpc>
              <a:buNone/>
            </a:pPr>
            <a:r>
              <a:rPr lang="en-US" sz="5000" b="1" dirty="0">
                <a:solidFill>
                  <a:srgbClr val="FFFFFF"/>
                </a:solidFill>
                <a:latin typeface="Cambria" pitchFamily="34" charset="0"/>
                <a:ea typeface="Cambria" pitchFamily="34" charset="-122"/>
                <a:cs typeface="Cambria" pitchFamily="34" charset="-120"/>
              </a:rPr>
              <a:t>Website</a:t>
            </a:r>
            <a:endParaRPr lang="en-US" sz="5000" dirty="0"/>
          </a:p>
        </p:txBody>
      </p:sp>
      <p:sp>
        <p:nvSpPr>
          <p:cNvPr id="10" name="Text 7"/>
          <p:cNvSpPr/>
          <p:nvPr/>
        </p:nvSpPr>
        <p:spPr>
          <a:xfrm>
            <a:off x="658368" y="3977640"/>
            <a:ext cx="8686800" cy="502920"/>
          </a:xfrm>
          <a:prstGeom prst="rect">
            <a:avLst/>
          </a:prstGeom>
          <a:noFill/>
          <a:ln/>
        </p:spPr>
        <p:txBody>
          <a:bodyPr wrap="square" rtlCol="0" anchor="ctr"/>
          <a:lstStyle/>
          <a:p>
            <a:pPr marL="0" indent="0">
              <a:buNone/>
            </a:pPr>
            <a:r>
              <a:rPr lang="en-US" sz="1900" i="1" dirty="0">
                <a:solidFill>
                  <a:srgbClr val="2EC4B6"/>
                </a:solidFill>
                <a:latin typeface="Calibri" pitchFamily="34" charset="0"/>
                <a:ea typeface="Calibri" pitchFamily="34" charset="-122"/>
                <a:cs typeface="Calibri" pitchFamily="34" charset="-120"/>
              </a:rPr>
              <a:t>A UX, Business &amp; Product Strategy Analysis</a:t>
            </a:r>
            <a:endParaRPr lang="en-US" sz="1900" dirty="0"/>
          </a:p>
        </p:txBody>
      </p:sp>
      <p:sp>
        <p:nvSpPr>
          <p:cNvPr id="11" name="Text 8"/>
          <p:cNvSpPr/>
          <p:nvPr/>
        </p:nvSpPr>
        <p:spPr>
          <a:xfrm>
            <a:off x="658368" y="4526280"/>
            <a:ext cx="7498080" cy="640080"/>
          </a:xfrm>
          <a:prstGeom prst="rect">
            <a:avLst/>
          </a:prstGeom>
          <a:noFill/>
          <a:ln/>
        </p:spPr>
        <p:txBody>
          <a:bodyPr wrap="square" rtlCol="0" anchor="ctr"/>
          <a:lstStyle/>
          <a:p>
            <a:pPr marL="0" indent="0">
              <a:lnSpc>
                <a:spcPct val="115000"/>
              </a:lnSpc>
              <a:buNone/>
            </a:pPr>
            <a:r>
              <a:rPr lang="en-US" sz="1250" dirty="0">
                <a:solidFill>
                  <a:srgbClr val="CBD9D9"/>
                </a:solidFill>
                <a:latin typeface="Calibri" pitchFamily="34" charset="0"/>
                <a:ea typeface="Calibri" pitchFamily="34" charset="-122"/>
                <a:cs typeface="Calibri" pitchFamily="34" charset="-120"/>
              </a:rPr>
              <a:t>Evaluating digital experience, information architecture, and business value to strengthen patient engagement and hospital growth.</a:t>
            </a:r>
            <a:endParaRPr lang="en-US" sz="1250" dirty="0"/>
          </a:p>
        </p:txBody>
      </p:sp>
      <p:sp>
        <p:nvSpPr>
          <p:cNvPr id="12" name="Shape 9"/>
          <p:cNvSpPr/>
          <p:nvPr/>
        </p:nvSpPr>
        <p:spPr>
          <a:xfrm>
            <a:off x="658368" y="5440680"/>
            <a:ext cx="3108960" cy="0"/>
          </a:xfrm>
          <a:prstGeom prst="line">
            <a:avLst/>
          </a:prstGeom>
          <a:noFill/>
          <a:ln w="25400">
            <a:solidFill>
              <a:srgbClr val="0E7C86"/>
            </a:solidFill>
            <a:prstDash val="solid"/>
          </a:ln>
        </p:spPr>
        <p:txBody>
          <a:bodyPr/>
          <a:lstStyle/>
          <a:p>
            <a:endParaRPr lang="en-US"/>
          </a:p>
        </p:txBody>
      </p:sp>
      <p:sp>
        <p:nvSpPr>
          <p:cNvPr id="13" name="Text 10"/>
          <p:cNvSpPr/>
          <p:nvPr/>
        </p:nvSpPr>
        <p:spPr>
          <a:xfrm>
            <a:off x="658368" y="5577840"/>
            <a:ext cx="914400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Prepared by: Tomas </a:t>
            </a:r>
            <a:r>
              <a:rPr lang="en-US" sz="1150" b="1" dirty="0" err="1">
                <a:solidFill>
                  <a:srgbClr val="FFFFFF"/>
                </a:solidFill>
                <a:latin typeface="Calibri" pitchFamily="34" charset="0"/>
                <a:ea typeface="Calibri" pitchFamily="34" charset="-122"/>
                <a:cs typeface="Calibri" pitchFamily="34" charset="-120"/>
              </a:rPr>
              <a:t>Nageh</a:t>
            </a:r>
            <a:r>
              <a:rPr lang="en-US" sz="1150" b="1" dirty="0">
                <a:solidFill>
                  <a:srgbClr val="FFFFFF"/>
                </a:solidFill>
                <a:latin typeface="Calibri" pitchFamily="34" charset="0"/>
                <a:ea typeface="Calibri" pitchFamily="34" charset="-122"/>
                <a:cs typeface="Calibri" pitchFamily="34" charset="-120"/>
              </a:rPr>
              <a:t> •  </a:t>
            </a:r>
            <a:r>
              <a:rPr lang="en-US" sz="1150" b="1" dirty="0" err="1">
                <a:solidFill>
                  <a:srgbClr val="FFFFFF"/>
                </a:solidFill>
                <a:latin typeface="Calibri" pitchFamily="34" charset="0"/>
                <a:ea typeface="Calibri" pitchFamily="34" charset="-122"/>
                <a:cs typeface="Calibri" pitchFamily="34" charset="-120"/>
              </a:rPr>
              <a:t>Joile</a:t>
            </a:r>
            <a:r>
              <a:rPr lang="en-US" sz="1150" b="1" dirty="0">
                <a:solidFill>
                  <a:srgbClr val="FFFFFF"/>
                </a:solidFill>
                <a:latin typeface="Calibri" pitchFamily="34" charset="0"/>
                <a:ea typeface="Calibri" pitchFamily="34" charset="-122"/>
                <a:cs typeface="Calibri" pitchFamily="34" charset="-120"/>
              </a:rPr>
              <a:t> Fayez •  Jana Khaled • Omar </a:t>
            </a:r>
            <a:r>
              <a:rPr lang="en-US" sz="1150" b="1" dirty="0" err="1">
                <a:solidFill>
                  <a:srgbClr val="FFFFFF"/>
                </a:solidFill>
                <a:latin typeface="Calibri" pitchFamily="34" charset="0"/>
                <a:ea typeface="Calibri" pitchFamily="34" charset="-122"/>
                <a:cs typeface="Calibri" pitchFamily="34" charset="-120"/>
              </a:rPr>
              <a:t>Abdelziz</a:t>
            </a:r>
            <a:r>
              <a:rPr lang="en-US" sz="1150" b="1" dirty="0">
                <a:solidFill>
                  <a:srgbClr val="FFFFFF"/>
                </a:solidFill>
                <a:latin typeface="Calibri" pitchFamily="34" charset="0"/>
                <a:ea typeface="Calibri" pitchFamily="34" charset="-122"/>
                <a:cs typeface="Calibri" pitchFamily="34" charset="-120"/>
              </a:rPr>
              <a:t> </a:t>
            </a:r>
            <a:endParaRPr lang="en-US" sz="1150" dirty="0"/>
          </a:p>
        </p:txBody>
      </p:sp>
      <p:sp>
        <p:nvSpPr>
          <p:cNvPr id="14" name="Text 11"/>
          <p:cNvSpPr/>
          <p:nvPr/>
        </p:nvSpPr>
        <p:spPr>
          <a:xfrm>
            <a:off x="658368" y="5897880"/>
            <a:ext cx="9144000" cy="274320"/>
          </a:xfrm>
          <a:prstGeom prst="rect">
            <a:avLst/>
          </a:prstGeom>
          <a:noFill/>
          <a:ln/>
        </p:spPr>
        <p:txBody>
          <a:bodyPr wrap="square" rtlCol="0" anchor="ctr"/>
          <a:lstStyle/>
          <a:p>
            <a:pPr marL="0" indent="0">
              <a:buNone/>
            </a:pPr>
            <a:r>
              <a:rPr lang="en-US" sz="1050" dirty="0">
                <a:solidFill>
                  <a:srgbClr val="9FB4B4"/>
                </a:solidFill>
                <a:latin typeface="Calibri" pitchFamily="34" charset="0"/>
                <a:ea typeface="Calibri" pitchFamily="34" charset="-122"/>
                <a:cs typeface="Calibri" pitchFamily="34" charset="-120"/>
              </a:rPr>
              <a:t>DEPI Graduation Project  |</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45720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777240"/>
            <a:ext cx="8229600" cy="822960"/>
          </a:xfrm>
          <a:prstGeom prst="rect">
            <a:avLst/>
          </a:prstGeom>
          <a:noFill/>
          <a:ln/>
        </p:spPr>
        <p:txBody>
          <a:bodyPr wrap="square" rtlCol="0" anchor="t"/>
          <a:lstStyle/>
          <a:p>
            <a:pPr marL="0" indent="0" algn="l">
              <a:lnSpc>
                <a:spcPct val="102000"/>
              </a:lnSpc>
              <a:buNone/>
            </a:pPr>
            <a:r>
              <a:rPr lang="en-US" sz="3000" b="1" dirty="0">
                <a:solidFill>
                  <a:srgbClr val="0B2545"/>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874520"/>
            <a:ext cx="3474720" cy="1691640"/>
          </a:xfrm>
          <a:prstGeom prst="roundRect">
            <a:avLst>
              <a:gd name="adj" fmla="val 4865"/>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5" name="Shape 3"/>
          <p:cNvSpPr/>
          <p:nvPr/>
        </p:nvSpPr>
        <p:spPr>
          <a:xfrm>
            <a:off x="804672" y="2130552"/>
            <a:ext cx="566928" cy="566928"/>
          </a:xfrm>
          <a:prstGeom prst="ellipse">
            <a:avLst/>
          </a:prstGeom>
          <a:solidFill>
            <a:srgbClr val="0E7C86"/>
          </a:solidFill>
          <a:ln/>
        </p:spPr>
        <p:txBody>
          <a:bodyPr/>
          <a:lstStyle/>
          <a:p>
            <a:endParaRPr lang="en-US"/>
          </a:p>
        </p:txBody>
      </p:sp>
      <p:pic>
        <p:nvPicPr>
          <p:cNvPr id="6" name="Image 0" descr="/home/claude/hospital/icons/target_white.png"/>
          <p:cNvPicPr>
            <a:picLocks noChangeAspect="1"/>
          </p:cNvPicPr>
          <p:nvPr/>
        </p:nvPicPr>
        <p:blipFill>
          <a:blip r:embed="rId3"/>
          <a:stretch>
            <a:fillRect/>
          </a:stretch>
        </p:blipFill>
        <p:spPr>
          <a:xfrm>
            <a:off x="932231" y="2258111"/>
            <a:ext cx="311810" cy="311810"/>
          </a:xfrm>
          <a:prstGeom prst="rect">
            <a:avLst/>
          </a:prstGeom>
        </p:spPr>
      </p:pic>
      <p:sp>
        <p:nvSpPr>
          <p:cNvPr id="7" name="Text 4"/>
          <p:cNvSpPr/>
          <p:nvPr/>
        </p:nvSpPr>
        <p:spPr>
          <a:xfrm>
            <a:off x="3246120" y="2075688"/>
            <a:ext cx="594360" cy="457200"/>
          </a:xfrm>
          <a:prstGeom prst="rect">
            <a:avLst/>
          </a:prstGeom>
          <a:noFill/>
          <a:ln/>
        </p:spPr>
        <p:txBody>
          <a:bodyPr wrap="square" rtlCol="0" anchor="ctr"/>
          <a:lstStyle/>
          <a:p>
            <a:pPr marL="0" indent="0" algn="r">
              <a:buNone/>
            </a:pPr>
            <a:r>
              <a:rPr lang="en-US" sz="2200" b="1" dirty="0">
                <a:solidFill>
                  <a:srgbClr val="E8F1F1"/>
                </a:solidFill>
                <a:latin typeface="Cambria" pitchFamily="34" charset="0"/>
                <a:ea typeface="Cambria" pitchFamily="34" charset="-122"/>
                <a:cs typeface="Cambria" pitchFamily="34" charset="-120"/>
              </a:rPr>
              <a:t>01</a:t>
            </a:r>
            <a:endParaRPr lang="en-US" sz="2200" dirty="0"/>
          </a:p>
        </p:txBody>
      </p:sp>
      <p:sp>
        <p:nvSpPr>
          <p:cNvPr id="8" name="Text 5"/>
          <p:cNvSpPr/>
          <p:nvPr/>
        </p:nvSpPr>
        <p:spPr>
          <a:xfrm>
            <a:off x="804672" y="2788920"/>
            <a:ext cx="2962656" cy="32004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Strategic Foundation</a:t>
            </a:r>
            <a:endParaRPr lang="en-US" sz="1400" dirty="0"/>
          </a:p>
        </p:txBody>
      </p:sp>
      <p:sp>
        <p:nvSpPr>
          <p:cNvPr id="9" name="Text 6"/>
          <p:cNvSpPr/>
          <p:nvPr/>
        </p:nvSpPr>
        <p:spPr>
          <a:xfrm>
            <a:off x="804672" y="3108960"/>
            <a:ext cx="2962656" cy="411480"/>
          </a:xfrm>
          <a:prstGeom prst="rect">
            <a:avLst/>
          </a:prstGeom>
          <a:noFill/>
          <a:ln/>
        </p:spPr>
        <p:txBody>
          <a:bodyPr wrap="square" rtlCol="0" anchor="ctr"/>
          <a:lstStyle/>
          <a:p>
            <a:pPr marL="0" indent="0">
              <a:buNone/>
            </a:pPr>
            <a:r>
              <a:rPr lang="en-US" sz="1050" dirty="0">
                <a:solidFill>
                  <a:srgbClr val="5B6B73"/>
                </a:solidFill>
                <a:latin typeface="Calibri" pitchFamily="34" charset="0"/>
                <a:ea typeface="Calibri" pitchFamily="34" charset="-122"/>
                <a:cs typeface="Calibri" pitchFamily="34" charset="-120"/>
              </a:rPr>
              <a:t>Vision, business goals, audience &amp; objectives</a:t>
            </a:r>
            <a:endParaRPr lang="en-US" sz="1050" dirty="0"/>
          </a:p>
        </p:txBody>
      </p:sp>
      <p:sp>
        <p:nvSpPr>
          <p:cNvPr id="10" name="Shape 7"/>
          <p:cNvSpPr/>
          <p:nvPr/>
        </p:nvSpPr>
        <p:spPr>
          <a:xfrm>
            <a:off x="4343400" y="1874520"/>
            <a:ext cx="3474720" cy="1691640"/>
          </a:xfrm>
          <a:prstGeom prst="roundRect">
            <a:avLst>
              <a:gd name="adj" fmla="val 4865"/>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1" name="Shape 8"/>
          <p:cNvSpPr/>
          <p:nvPr/>
        </p:nvSpPr>
        <p:spPr>
          <a:xfrm>
            <a:off x="4599432" y="2130552"/>
            <a:ext cx="566928" cy="566928"/>
          </a:xfrm>
          <a:prstGeom prst="ellipse">
            <a:avLst/>
          </a:prstGeom>
          <a:solidFill>
            <a:srgbClr val="0E7C86"/>
          </a:solidFill>
          <a:ln/>
        </p:spPr>
        <p:txBody>
          <a:bodyPr/>
          <a:lstStyle/>
          <a:p>
            <a:endParaRPr lang="en-US"/>
          </a:p>
        </p:txBody>
      </p:sp>
      <p:pic>
        <p:nvPicPr>
          <p:cNvPr id="12" name="Image 1" descr="/home/claude/hospital/icons/layout_white.png"/>
          <p:cNvPicPr>
            <a:picLocks noChangeAspect="1"/>
          </p:cNvPicPr>
          <p:nvPr/>
        </p:nvPicPr>
        <p:blipFill>
          <a:blip r:embed="rId4"/>
          <a:stretch>
            <a:fillRect/>
          </a:stretch>
        </p:blipFill>
        <p:spPr>
          <a:xfrm>
            <a:off x="4726991" y="2258111"/>
            <a:ext cx="311810" cy="311810"/>
          </a:xfrm>
          <a:prstGeom prst="rect">
            <a:avLst/>
          </a:prstGeom>
        </p:spPr>
      </p:pic>
      <p:sp>
        <p:nvSpPr>
          <p:cNvPr id="13" name="Text 9"/>
          <p:cNvSpPr/>
          <p:nvPr/>
        </p:nvSpPr>
        <p:spPr>
          <a:xfrm>
            <a:off x="7040880" y="2075688"/>
            <a:ext cx="594360" cy="457200"/>
          </a:xfrm>
          <a:prstGeom prst="rect">
            <a:avLst/>
          </a:prstGeom>
          <a:noFill/>
          <a:ln/>
        </p:spPr>
        <p:txBody>
          <a:bodyPr wrap="square" rtlCol="0" anchor="ctr"/>
          <a:lstStyle/>
          <a:p>
            <a:pPr marL="0" indent="0" algn="r">
              <a:buNone/>
            </a:pPr>
            <a:r>
              <a:rPr lang="en-US" sz="2200" b="1" dirty="0">
                <a:solidFill>
                  <a:srgbClr val="E8F1F1"/>
                </a:solidFill>
                <a:latin typeface="Cambria" pitchFamily="34" charset="0"/>
                <a:ea typeface="Cambria" pitchFamily="34" charset="-122"/>
                <a:cs typeface="Cambria" pitchFamily="34" charset="-120"/>
              </a:rPr>
              <a:t>02</a:t>
            </a:r>
            <a:endParaRPr lang="en-US" sz="2200" dirty="0"/>
          </a:p>
        </p:txBody>
      </p:sp>
      <p:sp>
        <p:nvSpPr>
          <p:cNvPr id="14" name="Text 10"/>
          <p:cNvSpPr/>
          <p:nvPr/>
        </p:nvSpPr>
        <p:spPr>
          <a:xfrm>
            <a:off x="4599432" y="2788920"/>
            <a:ext cx="2962656" cy="32004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UX / UI Framework</a:t>
            </a:r>
            <a:endParaRPr lang="en-US" sz="1400" dirty="0"/>
          </a:p>
        </p:txBody>
      </p:sp>
      <p:sp>
        <p:nvSpPr>
          <p:cNvPr id="15" name="Text 11"/>
          <p:cNvSpPr/>
          <p:nvPr/>
        </p:nvSpPr>
        <p:spPr>
          <a:xfrm>
            <a:off x="4599432" y="3108960"/>
            <a:ext cx="2962656" cy="411480"/>
          </a:xfrm>
          <a:prstGeom prst="rect">
            <a:avLst/>
          </a:prstGeom>
          <a:noFill/>
          <a:ln/>
        </p:spPr>
        <p:txBody>
          <a:bodyPr wrap="square" rtlCol="0" anchor="ctr"/>
          <a:lstStyle/>
          <a:p>
            <a:pPr marL="0" indent="0">
              <a:buNone/>
            </a:pPr>
            <a:r>
              <a:rPr lang="en-US" sz="1050" dirty="0">
                <a:solidFill>
                  <a:srgbClr val="5B6B73"/>
                </a:solidFill>
                <a:latin typeface="Calibri" pitchFamily="34" charset="0"/>
                <a:ea typeface="Calibri" pitchFamily="34" charset="-122"/>
                <a:cs typeface="Calibri" pitchFamily="34" charset="-120"/>
              </a:rPr>
              <a:t>Design principles guiding the experience</a:t>
            </a:r>
            <a:endParaRPr lang="en-US" sz="1050" dirty="0"/>
          </a:p>
        </p:txBody>
      </p:sp>
      <p:sp>
        <p:nvSpPr>
          <p:cNvPr id="16" name="Shape 12"/>
          <p:cNvSpPr/>
          <p:nvPr/>
        </p:nvSpPr>
        <p:spPr>
          <a:xfrm>
            <a:off x="8138160" y="1874520"/>
            <a:ext cx="3474720" cy="1691640"/>
          </a:xfrm>
          <a:prstGeom prst="roundRect">
            <a:avLst>
              <a:gd name="adj" fmla="val 4865"/>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7" name="Shape 13"/>
          <p:cNvSpPr/>
          <p:nvPr/>
        </p:nvSpPr>
        <p:spPr>
          <a:xfrm>
            <a:off x="8394192" y="2130552"/>
            <a:ext cx="566928" cy="566928"/>
          </a:xfrm>
          <a:prstGeom prst="ellipse">
            <a:avLst/>
          </a:prstGeom>
          <a:solidFill>
            <a:srgbClr val="0E7C86"/>
          </a:solidFill>
          <a:ln/>
        </p:spPr>
        <p:txBody>
          <a:bodyPr/>
          <a:lstStyle/>
          <a:p>
            <a:endParaRPr lang="en-US"/>
          </a:p>
        </p:txBody>
      </p:sp>
      <p:pic>
        <p:nvPicPr>
          <p:cNvPr id="18" name="Image 2" descr="/home/claude/hospital/icons/compass_white.png"/>
          <p:cNvPicPr>
            <a:picLocks noChangeAspect="1"/>
          </p:cNvPicPr>
          <p:nvPr/>
        </p:nvPicPr>
        <p:blipFill>
          <a:blip r:embed="rId5"/>
          <a:stretch>
            <a:fillRect/>
          </a:stretch>
        </p:blipFill>
        <p:spPr>
          <a:xfrm>
            <a:off x="8521751" y="2258111"/>
            <a:ext cx="311810" cy="311810"/>
          </a:xfrm>
          <a:prstGeom prst="rect">
            <a:avLst/>
          </a:prstGeom>
        </p:spPr>
      </p:pic>
      <p:sp>
        <p:nvSpPr>
          <p:cNvPr id="19" name="Text 14"/>
          <p:cNvSpPr/>
          <p:nvPr/>
        </p:nvSpPr>
        <p:spPr>
          <a:xfrm>
            <a:off x="10835640" y="2075688"/>
            <a:ext cx="594360" cy="457200"/>
          </a:xfrm>
          <a:prstGeom prst="rect">
            <a:avLst/>
          </a:prstGeom>
          <a:noFill/>
          <a:ln/>
        </p:spPr>
        <p:txBody>
          <a:bodyPr wrap="square" rtlCol="0" anchor="ctr"/>
          <a:lstStyle/>
          <a:p>
            <a:pPr marL="0" indent="0" algn="r">
              <a:buNone/>
            </a:pPr>
            <a:r>
              <a:rPr lang="en-US" sz="2200" b="1" dirty="0">
                <a:solidFill>
                  <a:srgbClr val="E8F1F1"/>
                </a:solidFill>
                <a:latin typeface="Cambria" pitchFamily="34" charset="0"/>
                <a:ea typeface="Cambria" pitchFamily="34" charset="-122"/>
                <a:cs typeface="Cambria" pitchFamily="34" charset="-120"/>
              </a:rPr>
              <a:t>03</a:t>
            </a:r>
            <a:endParaRPr lang="en-US" sz="2200" dirty="0"/>
          </a:p>
        </p:txBody>
      </p:sp>
      <p:sp>
        <p:nvSpPr>
          <p:cNvPr id="20" name="Text 15"/>
          <p:cNvSpPr/>
          <p:nvPr/>
        </p:nvSpPr>
        <p:spPr>
          <a:xfrm>
            <a:off x="8394192" y="2788920"/>
            <a:ext cx="2962656" cy="32004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Website Walkthrough</a:t>
            </a:r>
            <a:endParaRPr lang="en-US" sz="1400" dirty="0"/>
          </a:p>
        </p:txBody>
      </p:sp>
      <p:sp>
        <p:nvSpPr>
          <p:cNvPr id="21" name="Text 16"/>
          <p:cNvSpPr/>
          <p:nvPr/>
        </p:nvSpPr>
        <p:spPr>
          <a:xfrm>
            <a:off x="8394192" y="3108960"/>
            <a:ext cx="2962656" cy="411480"/>
          </a:xfrm>
          <a:prstGeom prst="rect">
            <a:avLst/>
          </a:prstGeom>
          <a:noFill/>
          <a:ln/>
        </p:spPr>
        <p:txBody>
          <a:bodyPr wrap="square" rtlCol="0" anchor="ctr"/>
          <a:lstStyle/>
          <a:p>
            <a:pPr marL="0" indent="0">
              <a:buNone/>
            </a:pPr>
            <a:r>
              <a:rPr lang="en-US" sz="1050" dirty="0">
                <a:solidFill>
                  <a:srgbClr val="5B6B73"/>
                </a:solidFill>
                <a:latin typeface="Calibri" pitchFamily="34" charset="0"/>
                <a:ea typeface="Calibri" pitchFamily="34" charset="-122"/>
                <a:cs typeface="Calibri" pitchFamily="34" charset="-120"/>
              </a:rPr>
              <a:t>Section-by-section experience analysis</a:t>
            </a:r>
            <a:endParaRPr lang="en-US" sz="1050" dirty="0"/>
          </a:p>
        </p:txBody>
      </p:sp>
      <p:sp>
        <p:nvSpPr>
          <p:cNvPr id="22" name="Shape 17"/>
          <p:cNvSpPr/>
          <p:nvPr/>
        </p:nvSpPr>
        <p:spPr>
          <a:xfrm>
            <a:off x="548640" y="3886200"/>
            <a:ext cx="3474720" cy="1691640"/>
          </a:xfrm>
          <a:prstGeom prst="roundRect">
            <a:avLst>
              <a:gd name="adj" fmla="val 4865"/>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dirty="0"/>
          </a:p>
        </p:txBody>
      </p:sp>
      <p:sp>
        <p:nvSpPr>
          <p:cNvPr id="23" name="Shape 18"/>
          <p:cNvSpPr/>
          <p:nvPr/>
        </p:nvSpPr>
        <p:spPr>
          <a:xfrm>
            <a:off x="804672" y="4142232"/>
            <a:ext cx="566928" cy="566928"/>
          </a:xfrm>
          <a:prstGeom prst="ellipse">
            <a:avLst/>
          </a:prstGeom>
          <a:solidFill>
            <a:srgbClr val="0E7C86"/>
          </a:solidFill>
          <a:ln/>
        </p:spPr>
        <p:txBody>
          <a:bodyPr/>
          <a:lstStyle/>
          <a:p>
            <a:endParaRPr lang="en-US"/>
          </a:p>
        </p:txBody>
      </p:sp>
      <p:pic>
        <p:nvPicPr>
          <p:cNvPr id="24" name="Image 3" descr="/home/claude/hospital/icons/route_white.png"/>
          <p:cNvPicPr>
            <a:picLocks noChangeAspect="1"/>
          </p:cNvPicPr>
          <p:nvPr/>
        </p:nvPicPr>
        <p:blipFill>
          <a:blip r:embed="rId6"/>
          <a:stretch>
            <a:fillRect/>
          </a:stretch>
        </p:blipFill>
        <p:spPr>
          <a:xfrm>
            <a:off x="932231" y="4269791"/>
            <a:ext cx="311810" cy="311810"/>
          </a:xfrm>
          <a:prstGeom prst="rect">
            <a:avLst/>
          </a:prstGeom>
        </p:spPr>
      </p:pic>
      <p:sp>
        <p:nvSpPr>
          <p:cNvPr id="25" name="Text 19"/>
          <p:cNvSpPr/>
          <p:nvPr/>
        </p:nvSpPr>
        <p:spPr>
          <a:xfrm>
            <a:off x="3246120" y="4087368"/>
            <a:ext cx="594360" cy="457200"/>
          </a:xfrm>
          <a:prstGeom prst="rect">
            <a:avLst/>
          </a:prstGeom>
          <a:noFill/>
          <a:ln/>
        </p:spPr>
        <p:txBody>
          <a:bodyPr wrap="square" rtlCol="0" anchor="ctr"/>
          <a:lstStyle/>
          <a:p>
            <a:pPr marL="0" indent="0" algn="r">
              <a:buNone/>
            </a:pPr>
            <a:r>
              <a:rPr lang="en-US" sz="2200" b="1" dirty="0">
                <a:solidFill>
                  <a:srgbClr val="E8F1F1"/>
                </a:solidFill>
                <a:latin typeface="Cambria" pitchFamily="34" charset="0"/>
                <a:ea typeface="Cambria" pitchFamily="34" charset="-122"/>
                <a:cs typeface="Cambria" pitchFamily="34" charset="-120"/>
              </a:rPr>
              <a:t>04</a:t>
            </a:r>
            <a:endParaRPr lang="en-US" sz="2200" dirty="0"/>
          </a:p>
        </p:txBody>
      </p:sp>
      <p:sp>
        <p:nvSpPr>
          <p:cNvPr id="26" name="Text 20"/>
          <p:cNvSpPr/>
          <p:nvPr/>
        </p:nvSpPr>
        <p:spPr>
          <a:xfrm>
            <a:off x="804672" y="4800600"/>
            <a:ext cx="2962656" cy="32004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Patient Journey</a:t>
            </a:r>
            <a:endParaRPr lang="en-US" sz="1400" dirty="0"/>
          </a:p>
        </p:txBody>
      </p:sp>
      <p:sp>
        <p:nvSpPr>
          <p:cNvPr id="27" name="Text 21"/>
          <p:cNvSpPr/>
          <p:nvPr/>
        </p:nvSpPr>
        <p:spPr>
          <a:xfrm>
            <a:off x="804672" y="5120640"/>
            <a:ext cx="2962656" cy="411480"/>
          </a:xfrm>
          <a:prstGeom prst="rect">
            <a:avLst/>
          </a:prstGeom>
          <a:noFill/>
          <a:ln/>
        </p:spPr>
        <p:txBody>
          <a:bodyPr wrap="square" rtlCol="0" anchor="ctr"/>
          <a:lstStyle/>
          <a:p>
            <a:pPr marL="0" indent="0">
              <a:buNone/>
            </a:pPr>
            <a:r>
              <a:rPr lang="en-US" sz="1050" dirty="0">
                <a:solidFill>
                  <a:srgbClr val="5B6B73"/>
                </a:solidFill>
                <a:latin typeface="Calibri" pitchFamily="34" charset="0"/>
                <a:ea typeface="Calibri" pitchFamily="34" charset="-122"/>
                <a:cs typeface="Calibri" pitchFamily="34" charset="-120"/>
              </a:rPr>
              <a:t>The complete path from visit to visit</a:t>
            </a:r>
            <a:endParaRPr lang="en-US" sz="1050" dirty="0"/>
          </a:p>
        </p:txBody>
      </p:sp>
      <p:sp>
        <p:nvSpPr>
          <p:cNvPr id="31" name="Text 24"/>
          <p:cNvSpPr/>
          <p:nvPr/>
        </p:nvSpPr>
        <p:spPr>
          <a:xfrm>
            <a:off x="7040880" y="4087368"/>
            <a:ext cx="594360" cy="457200"/>
          </a:xfrm>
          <a:prstGeom prst="rect">
            <a:avLst/>
          </a:prstGeom>
          <a:noFill/>
          <a:ln/>
        </p:spPr>
        <p:txBody>
          <a:bodyPr wrap="square" rtlCol="0" anchor="ctr"/>
          <a:lstStyle/>
          <a:p>
            <a:pPr marL="0" indent="0" algn="r">
              <a:buNone/>
            </a:pPr>
            <a:r>
              <a:rPr lang="en-US" sz="2200" b="1" dirty="0">
                <a:solidFill>
                  <a:srgbClr val="E8F1F1"/>
                </a:solidFill>
                <a:latin typeface="Cambria" pitchFamily="34" charset="0"/>
                <a:ea typeface="Cambria" pitchFamily="34" charset="-122"/>
                <a:cs typeface="Cambria" pitchFamily="34" charset="-120"/>
              </a:rPr>
              <a:t>05</a:t>
            </a:r>
            <a:endParaRPr lang="en-US" sz="2200" dirty="0"/>
          </a:p>
        </p:txBody>
      </p:sp>
      <p:sp>
        <p:nvSpPr>
          <p:cNvPr id="34" name="Shape 27"/>
          <p:cNvSpPr/>
          <p:nvPr/>
        </p:nvSpPr>
        <p:spPr>
          <a:xfrm>
            <a:off x="4358640" y="3954780"/>
            <a:ext cx="3474720" cy="1691640"/>
          </a:xfrm>
          <a:prstGeom prst="roundRect">
            <a:avLst>
              <a:gd name="adj" fmla="val 4865"/>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35" name="Shape 28"/>
          <p:cNvSpPr/>
          <p:nvPr/>
        </p:nvSpPr>
        <p:spPr>
          <a:xfrm>
            <a:off x="4441352" y="4014673"/>
            <a:ext cx="566928" cy="566928"/>
          </a:xfrm>
          <a:prstGeom prst="ellipse">
            <a:avLst/>
          </a:prstGeom>
          <a:solidFill>
            <a:srgbClr val="0E7C86"/>
          </a:solidFill>
          <a:ln/>
        </p:spPr>
        <p:txBody>
          <a:bodyPr/>
          <a:lstStyle/>
          <a:p>
            <a:endParaRPr lang="en-US"/>
          </a:p>
        </p:txBody>
      </p:sp>
      <p:pic>
        <p:nvPicPr>
          <p:cNvPr id="36" name="Image 5" descr="/home/claude/hospital/icons/rocket_white.png"/>
          <p:cNvPicPr>
            <a:picLocks noChangeAspect="1"/>
          </p:cNvPicPr>
          <p:nvPr/>
        </p:nvPicPr>
        <p:blipFill>
          <a:blip r:embed="rId7"/>
          <a:stretch>
            <a:fillRect/>
          </a:stretch>
        </p:blipFill>
        <p:spPr>
          <a:xfrm>
            <a:off x="4528361" y="4160063"/>
            <a:ext cx="311810" cy="311810"/>
          </a:xfrm>
          <a:prstGeom prst="rect">
            <a:avLst/>
          </a:prstGeom>
        </p:spPr>
      </p:pic>
      <p:sp>
        <p:nvSpPr>
          <p:cNvPr id="37" name="Text 29"/>
          <p:cNvSpPr/>
          <p:nvPr/>
        </p:nvSpPr>
        <p:spPr>
          <a:xfrm>
            <a:off x="7025875" y="4057650"/>
            <a:ext cx="594360" cy="457200"/>
          </a:xfrm>
          <a:prstGeom prst="rect">
            <a:avLst/>
          </a:prstGeom>
          <a:noFill/>
          <a:ln/>
        </p:spPr>
        <p:txBody>
          <a:bodyPr wrap="square" rtlCol="0" anchor="ctr"/>
          <a:lstStyle/>
          <a:p>
            <a:pPr marL="0" indent="0" algn="r">
              <a:buNone/>
            </a:pPr>
            <a:r>
              <a:rPr lang="en-US" sz="2200" b="1" dirty="0">
                <a:solidFill>
                  <a:srgbClr val="E8F1F1"/>
                </a:solidFill>
                <a:latin typeface="Cambria" pitchFamily="34" charset="0"/>
                <a:ea typeface="Cambria" pitchFamily="34" charset="-122"/>
                <a:cs typeface="Cambria" pitchFamily="34" charset="-120"/>
              </a:rPr>
              <a:t>05</a:t>
            </a:r>
            <a:endParaRPr lang="en-US" sz="2200" dirty="0"/>
          </a:p>
        </p:txBody>
      </p:sp>
      <p:sp>
        <p:nvSpPr>
          <p:cNvPr id="38" name="Text 30"/>
          <p:cNvSpPr/>
          <p:nvPr/>
        </p:nvSpPr>
        <p:spPr>
          <a:xfrm>
            <a:off x="5008280" y="4709160"/>
            <a:ext cx="2962656" cy="32004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Roadmap Ahead</a:t>
            </a:r>
            <a:endParaRPr lang="en-US" sz="1400" dirty="0"/>
          </a:p>
        </p:txBody>
      </p:sp>
      <p:sp>
        <p:nvSpPr>
          <p:cNvPr id="39" name="Text 31"/>
          <p:cNvSpPr/>
          <p:nvPr/>
        </p:nvSpPr>
        <p:spPr>
          <a:xfrm>
            <a:off x="4855464" y="5029200"/>
            <a:ext cx="2962656" cy="411480"/>
          </a:xfrm>
          <a:prstGeom prst="rect">
            <a:avLst/>
          </a:prstGeom>
          <a:noFill/>
          <a:ln/>
        </p:spPr>
        <p:txBody>
          <a:bodyPr wrap="square" rtlCol="0" anchor="ctr"/>
          <a:lstStyle/>
          <a:p>
            <a:pPr marL="0" indent="0">
              <a:buNone/>
            </a:pPr>
            <a:r>
              <a:rPr lang="en-US" sz="1050" dirty="0">
                <a:solidFill>
                  <a:srgbClr val="5B6B73"/>
                </a:solidFill>
                <a:latin typeface="Calibri" pitchFamily="34" charset="0"/>
                <a:ea typeface="Calibri" pitchFamily="34" charset="-122"/>
                <a:cs typeface="Calibri" pitchFamily="34" charset="-120"/>
              </a:rPr>
              <a:t>Technology stack &amp; future opportunities</a:t>
            </a:r>
            <a:endParaRPr lang="en-US" sz="1050" dirty="0"/>
          </a:p>
        </p:txBody>
      </p:sp>
      <p:pic>
        <p:nvPicPr>
          <p:cNvPr id="40" name="Image 6" descr="/home/claude/hospital/icons/logo_cross_teal.png"/>
          <p:cNvPicPr>
            <a:picLocks noChangeAspect="1"/>
          </p:cNvPicPr>
          <p:nvPr/>
        </p:nvPicPr>
        <p:blipFill>
          <a:blip r:embed="rId8"/>
          <a:stretch>
            <a:fillRect/>
          </a:stretch>
        </p:blipFill>
        <p:spPr>
          <a:xfrm>
            <a:off x="457200" y="6473952"/>
            <a:ext cx="201168" cy="201168"/>
          </a:xfrm>
          <a:prstGeom prst="rect">
            <a:avLst/>
          </a:prstGeom>
        </p:spPr>
      </p:pic>
      <p:sp>
        <p:nvSpPr>
          <p:cNvPr id="41" name="Text 32"/>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42" name="Text 33"/>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Project Vision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marL="0" indent="0" algn="r">
              <a:buNone/>
            </a:pPr>
            <a:r>
              <a:rPr lang="en-US" sz="1000" b="1"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417320"/>
            <a:ext cx="10881360" cy="868680"/>
          </a:xfrm>
          <a:prstGeom prst="rect">
            <a:avLst/>
          </a:prstGeom>
          <a:noFill/>
          <a:ln/>
        </p:spPr>
        <p:txBody>
          <a:bodyPr wrap="square" rtlCol="0" anchor="ctr"/>
          <a:lstStyle/>
          <a:p>
            <a:pPr marL="0" indent="0">
              <a:lnSpc>
                <a:spcPct val="125000"/>
              </a:lnSpc>
              <a:buNone/>
            </a:pPr>
            <a:r>
              <a:rPr lang="en-US" sz="1450" dirty="0">
                <a:solidFill>
                  <a:srgbClr val="1B2B34"/>
                </a:solidFill>
                <a:latin typeface="Calibri" pitchFamily="34" charset="0"/>
                <a:ea typeface="Calibri" pitchFamily="34" charset="-122"/>
                <a:cs typeface="Calibri" pitchFamily="34" charset="-120"/>
              </a:rPr>
              <a:t>CareConnect is a modern healthcare website built for hospitals, clinics, and private practices. It brings every patient touchpoint — services, doctors, appointments, and communication — into one clean, trustworthy digital experience.</a:t>
            </a:r>
            <a:endParaRPr lang="en-US" sz="1450" dirty="0"/>
          </a:p>
        </p:txBody>
      </p:sp>
      <p:sp>
        <p:nvSpPr>
          <p:cNvPr id="7" name="Shape 4"/>
          <p:cNvSpPr/>
          <p:nvPr/>
        </p:nvSpPr>
        <p:spPr>
          <a:xfrm>
            <a:off x="548640" y="2606040"/>
            <a:ext cx="2560320" cy="1783080"/>
          </a:xfrm>
          <a:prstGeom prst="roundRect">
            <a:avLst>
              <a:gd name="adj" fmla="val 4615"/>
            </a:avLst>
          </a:prstGeom>
          <a:solidFill>
            <a:srgbClr val="F2F7F7"/>
          </a:solidFill>
          <a:ln w="12700">
            <a:solidFill>
              <a:srgbClr val="DCE7E7"/>
            </a:solidFill>
            <a:prstDash val="solid"/>
          </a:ln>
        </p:spPr>
        <p:txBody>
          <a:bodyPr/>
          <a:lstStyle/>
          <a:p>
            <a:endParaRPr lang="en-US"/>
          </a:p>
        </p:txBody>
      </p:sp>
      <p:sp>
        <p:nvSpPr>
          <p:cNvPr id="8" name="Shape 5"/>
          <p:cNvSpPr/>
          <p:nvPr/>
        </p:nvSpPr>
        <p:spPr>
          <a:xfrm>
            <a:off x="1554480" y="2834640"/>
            <a:ext cx="548640" cy="548640"/>
          </a:xfrm>
          <a:prstGeom prst="ellipse">
            <a:avLst/>
          </a:prstGeom>
          <a:solidFill>
            <a:srgbClr val="0E7C86"/>
          </a:solidFill>
          <a:ln/>
        </p:spPr>
        <p:txBody>
          <a:bodyPr/>
          <a:lstStyle/>
          <a:p>
            <a:endParaRPr lang="en-US"/>
          </a:p>
        </p:txBody>
      </p:sp>
      <p:pic>
        <p:nvPicPr>
          <p:cNvPr id="9" name="Image 1" descr="/home/claude/hospital/icons/calendar_white.png"/>
          <p:cNvPicPr>
            <a:picLocks noChangeAspect="1"/>
          </p:cNvPicPr>
          <p:nvPr/>
        </p:nvPicPr>
        <p:blipFill>
          <a:blip r:embed="rId4"/>
          <a:stretch>
            <a:fillRect/>
          </a:stretch>
        </p:blipFill>
        <p:spPr>
          <a:xfrm>
            <a:off x="1677924" y="2958084"/>
            <a:ext cx="301752" cy="301752"/>
          </a:xfrm>
          <a:prstGeom prst="rect">
            <a:avLst/>
          </a:prstGeom>
        </p:spPr>
      </p:pic>
      <p:sp>
        <p:nvSpPr>
          <p:cNvPr id="10" name="Text 6"/>
          <p:cNvSpPr/>
          <p:nvPr/>
        </p:nvSpPr>
        <p:spPr>
          <a:xfrm>
            <a:off x="548640" y="3520440"/>
            <a:ext cx="2560320" cy="457200"/>
          </a:xfrm>
          <a:prstGeom prst="rect">
            <a:avLst/>
          </a:prstGeom>
          <a:noFill/>
          <a:ln/>
        </p:spPr>
        <p:txBody>
          <a:bodyPr wrap="square" rtlCol="0" anchor="ctr"/>
          <a:lstStyle/>
          <a:p>
            <a:pPr marL="0" indent="0" algn="ctr">
              <a:buNone/>
            </a:pPr>
            <a:r>
              <a:rPr lang="en-US" sz="2100" b="1" dirty="0">
                <a:solidFill>
                  <a:srgbClr val="0B2545"/>
                </a:solidFill>
                <a:latin typeface="Cambria" pitchFamily="34" charset="0"/>
                <a:ea typeface="Cambria" pitchFamily="34" charset="-122"/>
                <a:cs typeface="Cambria" pitchFamily="34" charset="-120"/>
              </a:rPr>
              <a:t>24/7</a:t>
            </a:r>
            <a:endParaRPr lang="en-US" sz="2100" dirty="0"/>
          </a:p>
        </p:txBody>
      </p:sp>
      <p:sp>
        <p:nvSpPr>
          <p:cNvPr id="11" name="Text 7"/>
          <p:cNvSpPr/>
          <p:nvPr/>
        </p:nvSpPr>
        <p:spPr>
          <a:xfrm>
            <a:off x="685800" y="3977640"/>
            <a:ext cx="2286000" cy="365760"/>
          </a:xfrm>
          <a:prstGeom prst="rect">
            <a:avLst/>
          </a:prstGeom>
          <a:noFill/>
          <a:ln/>
        </p:spPr>
        <p:txBody>
          <a:bodyPr wrap="square" rtlCol="0" anchor="ctr"/>
          <a:lstStyle/>
          <a:p>
            <a:pPr marL="0" indent="0" algn="ctr">
              <a:buNone/>
            </a:pPr>
            <a:r>
              <a:rPr lang="en-US" sz="950" dirty="0">
                <a:solidFill>
                  <a:srgbClr val="5B6B73"/>
                </a:solidFill>
                <a:latin typeface="Calibri" pitchFamily="34" charset="0"/>
                <a:ea typeface="Calibri" pitchFamily="34" charset="-122"/>
                <a:cs typeface="Calibri" pitchFamily="34" charset="-120"/>
              </a:rPr>
              <a:t>Online Appointment Access</a:t>
            </a:r>
            <a:endParaRPr lang="en-US" sz="950" dirty="0"/>
          </a:p>
        </p:txBody>
      </p:sp>
      <p:sp>
        <p:nvSpPr>
          <p:cNvPr id="12" name="Shape 8"/>
          <p:cNvSpPr/>
          <p:nvPr/>
        </p:nvSpPr>
        <p:spPr>
          <a:xfrm>
            <a:off x="3383280" y="2606040"/>
            <a:ext cx="2560320" cy="1783080"/>
          </a:xfrm>
          <a:prstGeom prst="roundRect">
            <a:avLst>
              <a:gd name="adj" fmla="val 4615"/>
            </a:avLst>
          </a:prstGeom>
          <a:solidFill>
            <a:srgbClr val="0B2545"/>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3" name="Shape 9"/>
          <p:cNvSpPr/>
          <p:nvPr/>
        </p:nvSpPr>
        <p:spPr>
          <a:xfrm>
            <a:off x="4389120" y="2834640"/>
            <a:ext cx="548640" cy="548640"/>
          </a:xfrm>
          <a:prstGeom prst="ellipse">
            <a:avLst/>
          </a:prstGeom>
          <a:solidFill>
            <a:srgbClr val="2EC4B6"/>
          </a:solidFill>
          <a:ln/>
        </p:spPr>
        <p:txBody>
          <a:bodyPr/>
          <a:lstStyle/>
          <a:p>
            <a:endParaRPr lang="en-US"/>
          </a:p>
        </p:txBody>
      </p:sp>
      <p:pic>
        <p:nvPicPr>
          <p:cNvPr id="14" name="Image 2" descr="/home/claude/hospital/icons/doctor_white.png"/>
          <p:cNvPicPr>
            <a:picLocks noChangeAspect="1"/>
          </p:cNvPicPr>
          <p:nvPr/>
        </p:nvPicPr>
        <p:blipFill>
          <a:blip r:embed="rId5"/>
          <a:stretch>
            <a:fillRect/>
          </a:stretch>
        </p:blipFill>
        <p:spPr>
          <a:xfrm>
            <a:off x="4512564" y="2958084"/>
            <a:ext cx="301752" cy="301752"/>
          </a:xfrm>
          <a:prstGeom prst="rect">
            <a:avLst/>
          </a:prstGeom>
        </p:spPr>
      </p:pic>
      <p:sp>
        <p:nvSpPr>
          <p:cNvPr id="15" name="Text 10"/>
          <p:cNvSpPr/>
          <p:nvPr/>
        </p:nvSpPr>
        <p:spPr>
          <a:xfrm>
            <a:off x="3383280" y="3520440"/>
            <a:ext cx="2560320" cy="4572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100%</a:t>
            </a:r>
            <a:endParaRPr lang="en-US" sz="2100" dirty="0"/>
          </a:p>
        </p:txBody>
      </p:sp>
      <p:sp>
        <p:nvSpPr>
          <p:cNvPr id="16" name="Text 11"/>
          <p:cNvSpPr/>
          <p:nvPr/>
        </p:nvSpPr>
        <p:spPr>
          <a:xfrm>
            <a:off x="3520440" y="3977640"/>
            <a:ext cx="2286000" cy="365760"/>
          </a:xfrm>
          <a:prstGeom prst="rect">
            <a:avLst/>
          </a:prstGeom>
          <a:noFill/>
          <a:ln/>
        </p:spPr>
        <p:txBody>
          <a:bodyPr wrap="square" rtlCol="0" anchor="ctr"/>
          <a:lstStyle/>
          <a:p>
            <a:pPr marL="0" indent="0" algn="ctr">
              <a:buNone/>
            </a:pPr>
            <a:r>
              <a:rPr lang="en-US" sz="950" dirty="0">
                <a:solidFill>
                  <a:srgbClr val="CBD9D9"/>
                </a:solidFill>
                <a:latin typeface="Calibri" pitchFamily="34" charset="0"/>
                <a:ea typeface="Calibri" pitchFamily="34" charset="-122"/>
                <a:cs typeface="Calibri" pitchFamily="34" charset="-120"/>
              </a:rPr>
              <a:t>Digital Doctor Directory</a:t>
            </a:r>
            <a:endParaRPr lang="en-US" sz="950" dirty="0"/>
          </a:p>
        </p:txBody>
      </p:sp>
      <p:sp>
        <p:nvSpPr>
          <p:cNvPr id="17" name="Shape 12"/>
          <p:cNvSpPr/>
          <p:nvPr/>
        </p:nvSpPr>
        <p:spPr>
          <a:xfrm>
            <a:off x="6217920" y="2606040"/>
            <a:ext cx="2560320" cy="1783080"/>
          </a:xfrm>
          <a:prstGeom prst="roundRect">
            <a:avLst>
              <a:gd name="adj" fmla="val 4615"/>
            </a:avLst>
          </a:prstGeom>
          <a:solidFill>
            <a:srgbClr val="F2F7F7"/>
          </a:solidFill>
          <a:ln w="12700">
            <a:solidFill>
              <a:srgbClr val="DCE7E7"/>
            </a:solidFill>
            <a:prstDash val="solid"/>
          </a:ln>
        </p:spPr>
        <p:txBody>
          <a:bodyPr/>
          <a:lstStyle/>
          <a:p>
            <a:endParaRPr lang="en-US"/>
          </a:p>
        </p:txBody>
      </p:sp>
      <p:sp>
        <p:nvSpPr>
          <p:cNvPr id="18" name="Shape 13"/>
          <p:cNvSpPr/>
          <p:nvPr/>
        </p:nvSpPr>
        <p:spPr>
          <a:xfrm>
            <a:off x="7223760" y="2834640"/>
            <a:ext cx="548640" cy="548640"/>
          </a:xfrm>
          <a:prstGeom prst="ellipse">
            <a:avLst/>
          </a:prstGeom>
          <a:solidFill>
            <a:srgbClr val="0E7C86"/>
          </a:solidFill>
          <a:ln/>
        </p:spPr>
        <p:txBody>
          <a:bodyPr/>
          <a:lstStyle/>
          <a:p>
            <a:endParaRPr lang="en-US"/>
          </a:p>
        </p:txBody>
      </p:sp>
      <p:pic>
        <p:nvPicPr>
          <p:cNvPr id="19" name="Image 3" descr="/home/claude/hospital/icons/star_white.png"/>
          <p:cNvPicPr>
            <a:picLocks noChangeAspect="1"/>
          </p:cNvPicPr>
          <p:nvPr/>
        </p:nvPicPr>
        <p:blipFill>
          <a:blip r:embed="rId6"/>
          <a:stretch>
            <a:fillRect/>
          </a:stretch>
        </p:blipFill>
        <p:spPr>
          <a:xfrm>
            <a:off x="7347204" y="2958084"/>
            <a:ext cx="301752" cy="301752"/>
          </a:xfrm>
          <a:prstGeom prst="rect">
            <a:avLst/>
          </a:prstGeom>
        </p:spPr>
      </p:pic>
      <p:sp>
        <p:nvSpPr>
          <p:cNvPr id="20" name="Text 14"/>
          <p:cNvSpPr/>
          <p:nvPr/>
        </p:nvSpPr>
        <p:spPr>
          <a:xfrm>
            <a:off x="6217920" y="3520440"/>
            <a:ext cx="2560320" cy="457200"/>
          </a:xfrm>
          <a:prstGeom prst="rect">
            <a:avLst/>
          </a:prstGeom>
          <a:noFill/>
          <a:ln/>
        </p:spPr>
        <p:txBody>
          <a:bodyPr wrap="square" rtlCol="0" anchor="ctr"/>
          <a:lstStyle/>
          <a:p>
            <a:pPr marL="0" indent="0" algn="ctr">
              <a:buNone/>
            </a:pPr>
            <a:r>
              <a:rPr lang="en-US" sz="2100" b="1" dirty="0">
                <a:solidFill>
                  <a:srgbClr val="0B2545"/>
                </a:solidFill>
                <a:latin typeface="Cambria" pitchFamily="34" charset="0"/>
                <a:ea typeface="Cambria" pitchFamily="34" charset="-122"/>
                <a:cs typeface="Cambria" pitchFamily="34" charset="-120"/>
              </a:rPr>
              <a:t>Trust-First</a:t>
            </a:r>
            <a:endParaRPr lang="en-US" sz="2100" dirty="0"/>
          </a:p>
        </p:txBody>
      </p:sp>
      <p:sp>
        <p:nvSpPr>
          <p:cNvPr id="21" name="Text 15"/>
          <p:cNvSpPr/>
          <p:nvPr/>
        </p:nvSpPr>
        <p:spPr>
          <a:xfrm>
            <a:off x="6355080" y="3977640"/>
            <a:ext cx="2286000" cy="365760"/>
          </a:xfrm>
          <a:prstGeom prst="rect">
            <a:avLst/>
          </a:prstGeom>
          <a:noFill/>
          <a:ln/>
        </p:spPr>
        <p:txBody>
          <a:bodyPr wrap="square" rtlCol="0" anchor="ctr"/>
          <a:lstStyle/>
          <a:p>
            <a:pPr marL="0" indent="0" algn="ctr">
              <a:buNone/>
            </a:pPr>
            <a:r>
              <a:rPr lang="en-US" sz="950" dirty="0">
                <a:solidFill>
                  <a:srgbClr val="5B6B73"/>
                </a:solidFill>
                <a:latin typeface="Calibri" pitchFamily="34" charset="0"/>
                <a:ea typeface="Calibri" pitchFamily="34" charset="-122"/>
                <a:cs typeface="Calibri" pitchFamily="34" charset="-120"/>
              </a:rPr>
              <a:t>Design Philosophy</a:t>
            </a:r>
            <a:endParaRPr lang="en-US" sz="950" dirty="0"/>
          </a:p>
        </p:txBody>
      </p:sp>
      <p:sp>
        <p:nvSpPr>
          <p:cNvPr id="22" name="Shape 16"/>
          <p:cNvSpPr/>
          <p:nvPr/>
        </p:nvSpPr>
        <p:spPr>
          <a:xfrm>
            <a:off x="9052560" y="2606040"/>
            <a:ext cx="2560320" cy="1783080"/>
          </a:xfrm>
          <a:prstGeom prst="roundRect">
            <a:avLst>
              <a:gd name="adj" fmla="val 4615"/>
            </a:avLst>
          </a:prstGeom>
          <a:solidFill>
            <a:srgbClr val="F2F7F7"/>
          </a:solidFill>
          <a:ln w="12700">
            <a:solidFill>
              <a:srgbClr val="DCE7E7"/>
            </a:solidFill>
            <a:prstDash val="solid"/>
          </a:ln>
        </p:spPr>
        <p:txBody>
          <a:bodyPr/>
          <a:lstStyle/>
          <a:p>
            <a:endParaRPr lang="en-US"/>
          </a:p>
        </p:txBody>
      </p:sp>
      <p:sp>
        <p:nvSpPr>
          <p:cNvPr id="23" name="Shape 17"/>
          <p:cNvSpPr/>
          <p:nvPr/>
        </p:nvSpPr>
        <p:spPr>
          <a:xfrm>
            <a:off x="10058400" y="2834640"/>
            <a:ext cx="548640" cy="548640"/>
          </a:xfrm>
          <a:prstGeom prst="ellipse">
            <a:avLst/>
          </a:prstGeom>
          <a:solidFill>
            <a:srgbClr val="0E7C86"/>
          </a:solidFill>
          <a:ln/>
        </p:spPr>
        <p:txBody>
          <a:bodyPr/>
          <a:lstStyle/>
          <a:p>
            <a:endParaRPr lang="en-US"/>
          </a:p>
        </p:txBody>
      </p:sp>
      <p:pic>
        <p:nvPicPr>
          <p:cNvPr id="24" name="Image 4" descr="/home/claude/hospital/icons/chart_white.png"/>
          <p:cNvPicPr>
            <a:picLocks noChangeAspect="1"/>
          </p:cNvPicPr>
          <p:nvPr/>
        </p:nvPicPr>
        <p:blipFill>
          <a:blip r:embed="rId7"/>
          <a:stretch>
            <a:fillRect/>
          </a:stretch>
        </p:blipFill>
        <p:spPr>
          <a:xfrm>
            <a:off x="10181844" y="2958084"/>
            <a:ext cx="301752" cy="301752"/>
          </a:xfrm>
          <a:prstGeom prst="rect">
            <a:avLst/>
          </a:prstGeom>
        </p:spPr>
      </p:pic>
      <p:sp>
        <p:nvSpPr>
          <p:cNvPr id="25" name="Text 18"/>
          <p:cNvSpPr/>
          <p:nvPr/>
        </p:nvSpPr>
        <p:spPr>
          <a:xfrm>
            <a:off x="9052560" y="3520440"/>
            <a:ext cx="2560320" cy="457200"/>
          </a:xfrm>
          <a:prstGeom prst="rect">
            <a:avLst/>
          </a:prstGeom>
          <a:noFill/>
          <a:ln/>
        </p:spPr>
        <p:txBody>
          <a:bodyPr wrap="square" rtlCol="0" anchor="ctr"/>
          <a:lstStyle/>
          <a:p>
            <a:pPr marL="0" indent="0" algn="ctr">
              <a:buNone/>
            </a:pPr>
            <a:r>
              <a:rPr lang="en-US" sz="2100" b="1" dirty="0">
                <a:solidFill>
                  <a:srgbClr val="0B2545"/>
                </a:solidFill>
                <a:latin typeface="Cambria" pitchFamily="34" charset="0"/>
                <a:ea typeface="Cambria" pitchFamily="34" charset="-122"/>
                <a:cs typeface="Cambria" pitchFamily="34" charset="-120"/>
              </a:rPr>
              <a:t>Scalable</a:t>
            </a:r>
            <a:endParaRPr lang="en-US" sz="2100" dirty="0"/>
          </a:p>
        </p:txBody>
      </p:sp>
      <p:sp>
        <p:nvSpPr>
          <p:cNvPr id="26" name="Text 19"/>
          <p:cNvSpPr/>
          <p:nvPr/>
        </p:nvSpPr>
        <p:spPr>
          <a:xfrm>
            <a:off x="9189720" y="3977640"/>
            <a:ext cx="2286000" cy="365760"/>
          </a:xfrm>
          <a:prstGeom prst="rect">
            <a:avLst/>
          </a:prstGeom>
          <a:noFill/>
          <a:ln/>
        </p:spPr>
        <p:txBody>
          <a:bodyPr wrap="square" rtlCol="0" anchor="ctr"/>
          <a:lstStyle/>
          <a:p>
            <a:pPr marL="0" indent="0" algn="ctr">
              <a:buNone/>
            </a:pPr>
            <a:r>
              <a:rPr lang="en-US" sz="950" dirty="0">
                <a:solidFill>
                  <a:srgbClr val="5B6B73"/>
                </a:solidFill>
                <a:latin typeface="Calibri" pitchFamily="34" charset="0"/>
                <a:ea typeface="Calibri" pitchFamily="34" charset="-122"/>
                <a:cs typeface="Calibri" pitchFamily="34" charset="-120"/>
              </a:rPr>
              <a:t>Architecture for Growth</a:t>
            </a:r>
            <a:endParaRPr lang="en-US" sz="950" dirty="0"/>
          </a:p>
        </p:txBody>
      </p:sp>
      <p:sp>
        <p:nvSpPr>
          <p:cNvPr id="27" name="Text 20"/>
          <p:cNvSpPr/>
          <p:nvPr/>
        </p:nvSpPr>
        <p:spPr>
          <a:xfrm>
            <a:off x="548640" y="4709160"/>
            <a:ext cx="10881360" cy="777240"/>
          </a:xfrm>
          <a:prstGeom prst="rect">
            <a:avLst/>
          </a:prstGeom>
          <a:noFill/>
          <a:ln/>
        </p:spPr>
        <p:txBody>
          <a:bodyPr wrap="square" rtlCol="0" anchor="ctr"/>
          <a:lstStyle/>
          <a:p>
            <a:pPr marL="0" indent="0">
              <a:lnSpc>
                <a:spcPct val="120000"/>
              </a:lnSpc>
              <a:buNone/>
            </a:pPr>
            <a:r>
              <a:rPr lang="en-US" sz="1250" i="1" dirty="0">
                <a:solidFill>
                  <a:srgbClr val="0A5C63"/>
                </a:solidFill>
                <a:latin typeface="Calibri" pitchFamily="34" charset="0"/>
                <a:ea typeface="Calibri" pitchFamily="34" charset="-122"/>
                <a:cs typeface="Calibri" pitchFamily="34" charset="-120"/>
              </a:rPr>
              <a:t>This analysis evaluates the platform through the lens of Business Analysis, UX/UI Design, and Product Strategy — identifying not just what each feature does, but why it matters to patients, doctors, and hospital management.</a:t>
            </a:r>
            <a:endParaRPr lang="en-US" sz="125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STRATEGIC FOUNDATION</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Business Goals</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marL="0" indent="0" algn="r">
              <a:buNone/>
            </a:pPr>
            <a:r>
              <a:rPr lang="en-US" sz="1000" b="1"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Shape 3"/>
          <p:cNvSpPr/>
          <p:nvPr/>
        </p:nvSpPr>
        <p:spPr>
          <a:xfrm>
            <a:off x="548640" y="1508760"/>
            <a:ext cx="3505200" cy="1828800"/>
          </a:xfrm>
          <a:prstGeom prst="roundRect">
            <a:avLst>
              <a:gd name="adj" fmla="val 450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7" name="Shape 4"/>
          <p:cNvSpPr/>
          <p:nvPr/>
        </p:nvSpPr>
        <p:spPr>
          <a:xfrm>
            <a:off x="777240" y="1737360"/>
            <a:ext cx="502920" cy="502920"/>
          </a:xfrm>
          <a:prstGeom prst="ellipse">
            <a:avLst/>
          </a:prstGeom>
          <a:solidFill>
            <a:srgbClr val="0E7C86"/>
          </a:solidFill>
          <a:ln/>
        </p:spPr>
        <p:txBody>
          <a:bodyPr/>
          <a:lstStyle/>
          <a:p>
            <a:endParaRPr lang="en-US"/>
          </a:p>
        </p:txBody>
      </p:sp>
      <p:pic>
        <p:nvPicPr>
          <p:cNvPr id="8" name="Image 1" descr="/home/claude/hospital/icons/calendar_white.png"/>
          <p:cNvPicPr>
            <a:picLocks noChangeAspect="1"/>
          </p:cNvPicPr>
          <p:nvPr/>
        </p:nvPicPr>
        <p:blipFill>
          <a:blip r:embed="rId4"/>
          <a:stretch>
            <a:fillRect/>
          </a:stretch>
        </p:blipFill>
        <p:spPr>
          <a:xfrm>
            <a:off x="890397" y="1850517"/>
            <a:ext cx="276606" cy="276606"/>
          </a:xfrm>
          <a:prstGeom prst="rect">
            <a:avLst/>
          </a:prstGeom>
        </p:spPr>
      </p:pic>
      <p:sp>
        <p:nvSpPr>
          <p:cNvPr id="9" name="Text 5"/>
          <p:cNvSpPr/>
          <p:nvPr/>
        </p:nvSpPr>
        <p:spPr>
          <a:xfrm>
            <a:off x="777240" y="2377440"/>
            <a:ext cx="3048000" cy="411480"/>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Increase Online Appointments</a:t>
            </a:r>
            <a:endParaRPr lang="en-US" sz="1250" dirty="0"/>
          </a:p>
        </p:txBody>
      </p:sp>
      <p:sp>
        <p:nvSpPr>
          <p:cNvPr id="10" name="Text 6"/>
          <p:cNvSpPr/>
          <p:nvPr/>
        </p:nvSpPr>
        <p:spPr>
          <a:xfrm>
            <a:off x="777240" y="2770632"/>
            <a:ext cx="3048000" cy="502920"/>
          </a:xfrm>
          <a:prstGeom prst="rect">
            <a:avLst/>
          </a:prstGeom>
          <a:noFill/>
          <a:ln/>
        </p:spPr>
        <p:txBody>
          <a:bodyPr wrap="square" rtlCol="0" anchor="ctr"/>
          <a:lstStyle/>
          <a:p>
            <a:pPr marL="0" indent="0">
              <a:lnSpc>
                <a:spcPct val="110000"/>
              </a:lnSpc>
              <a:buNone/>
            </a:pPr>
            <a:r>
              <a:rPr lang="en-US" sz="980" dirty="0">
                <a:solidFill>
                  <a:srgbClr val="5B6B73"/>
                </a:solidFill>
                <a:latin typeface="Calibri" pitchFamily="34" charset="0"/>
                <a:ea typeface="Calibri" pitchFamily="34" charset="-122"/>
                <a:cs typeface="Calibri" pitchFamily="34" charset="-120"/>
              </a:rPr>
              <a:t>Convert website visitors into booked patients through a frictionless, always-available scheduling flow.</a:t>
            </a:r>
            <a:endParaRPr lang="en-US" sz="980" dirty="0"/>
          </a:p>
        </p:txBody>
      </p:sp>
      <p:sp>
        <p:nvSpPr>
          <p:cNvPr id="11" name="Shape 7"/>
          <p:cNvSpPr/>
          <p:nvPr/>
        </p:nvSpPr>
        <p:spPr>
          <a:xfrm>
            <a:off x="4328160" y="1508760"/>
            <a:ext cx="3505200" cy="1828800"/>
          </a:xfrm>
          <a:prstGeom prst="roundRect">
            <a:avLst>
              <a:gd name="adj" fmla="val 450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2" name="Shape 8"/>
          <p:cNvSpPr/>
          <p:nvPr/>
        </p:nvSpPr>
        <p:spPr>
          <a:xfrm>
            <a:off x="4556760" y="1737360"/>
            <a:ext cx="502920" cy="502920"/>
          </a:xfrm>
          <a:prstGeom prst="ellipse">
            <a:avLst/>
          </a:prstGeom>
          <a:solidFill>
            <a:srgbClr val="0E7C86"/>
          </a:solidFill>
          <a:ln/>
        </p:spPr>
        <p:txBody>
          <a:bodyPr/>
          <a:lstStyle/>
          <a:p>
            <a:endParaRPr lang="en-US"/>
          </a:p>
        </p:txBody>
      </p:sp>
      <p:pic>
        <p:nvPicPr>
          <p:cNvPr id="13" name="Image 2" descr="/home/claude/hospital/icons/star_white.png"/>
          <p:cNvPicPr>
            <a:picLocks noChangeAspect="1"/>
          </p:cNvPicPr>
          <p:nvPr/>
        </p:nvPicPr>
        <p:blipFill>
          <a:blip r:embed="rId5"/>
          <a:stretch>
            <a:fillRect/>
          </a:stretch>
        </p:blipFill>
        <p:spPr>
          <a:xfrm>
            <a:off x="4669917" y="1850517"/>
            <a:ext cx="276606" cy="276606"/>
          </a:xfrm>
          <a:prstGeom prst="rect">
            <a:avLst/>
          </a:prstGeom>
        </p:spPr>
      </p:pic>
      <p:sp>
        <p:nvSpPr>
          <p:cNvPr id="14" name="Text 9"/>
          <p:cNvSpPr/>
          <p:nvPr/>
        </p:nvSpPr>
        <p:spPr>
          <a:xfrm>
            <a:off x="4556760" y="2377440"/>
            <a:ext cx="3048000" cy="411480"/>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Improve Patient Satisfaction</a:t>
            </a:r>
            <a:endParaRPr lang="en-US" sz="1250" dirty="0"/>
          </a:p>
        </p:txBody>
      </p:sp>
      <p:sp>
        <p:nvSpPr>
          <p:cNvPr id="15" name="Text 10"/>
          <p:cNvSpPr/>
          <p:nvPr/>
        </p:nvSpPr>
        <p:spPr>
          <a:xfrm>
            <a:off x="4556760" y="2770632"/>
            <a:ext cx="3048000" cy="502920"/>
          </a:xfrm>
          <a:prstGeom prst="rect">
            <a:avLst/>
          </a:prstGeom>
          <a:noFill/>
          <a:ln/>
        </p:spPr>
        <p:txBody>
          <a:bodyPr wrap="square" rtlCol="0" anchor="ctr"/>
          <a:lstStyle/>
          <a:p>
            <a:pPr marL="0" indent="0">
              <a:lnSpc>
                <a:spcPct val="110000"/>
              </a:lnSpc>
              <a:buNone/>
            </a:pPr>
            <a:r>
              <a:rPr lang="en-US" sz="980" dirty="0">
                <a:solidFill>
                  <a:srgbClr val="5B6B73"/>
                </a:solidFill>
                <a:latin typeface="Calibri" pitchFamily="34" charset="0"/>
                <a:ea typeface="Calibri" pitchFamily="34" charset="-122"/>
                <a:cs typeface="Calibri" pitchFamily="34" charset="-120"/>
              </a:rPr>
              <a:t>Deliver clear information and self-service tools that reduce confusion and build confidence.</a:t>
            </a:r>
            <a:endParaRPr lang="en-US" sz="980" dirty="0"/>
          </a:p>
        </p:txBody>
      </p:sp>
      <p:sp>
        <p:nvSpPr>
          <p:cNvPr id="16" name="Shape 11"/>
          <p:cNvSpPr/>
          <p:nvPr/>
        </p:nvSpPr>
        <p:spPr>
          <a:xfrm>
            <a:off x="8107680" y="1508760"/>
            <a:ext cx="3505200" cy="1828800"/>
          </a:xfrm>
          <a:prstGeom prst="roundRect">
            <a:avLst>
              <a:gd name="adj" fmla="val 450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7" name="Shape 12"/>
          <p:cNvSpPr/>
          <p:nvPr/>
        </p:nvSpPr>
        <p:spPr>
          <a:xfrm>
            <a:off x="8336280" y="1737360"/>
            <a:ext cx="502920" cy="502920"/>
          </a:xfrm>
          <a:prstGeom prst="ellipse">
            <a:avLst/>
          </a:prstGeom>
          <a:solidFill>
            <a:srgbClr val="0E7C86"/>
          </a:solidFill>
          <a:ln/>
        </p:spPr>
        <p:txBody>
          <a:bodyPr/>
          <a:lstStyle/>
          <a:p>
            <a:endParaRPr lang="en-US"/>
          </a:p>
        </p:txBody>
      </p:sp>
      <p:pic>
        <p:nvPicPr>
          <p:cNvPr id="18" name="Image 3" descr="/home/claude/hospital/icons/gear_white.png"/>
          <p:cNvPicPr>
            <a:picLocks noChangeAspect="1"/>
          </p:cNvPicPr>
          <p:nvPr/>
        </p:nvPicPr>
        <p:blipFill>
          <a:blip r:embed="rId6"/>
          <a:stretch>
            <a:fillRect/>
          </a:stretch>
        </p:blipFill>
        <p:spPr>
          <a:xfrm>
            <a:off x="8449437" y="1850517"/>
            <a:ext cx="276606" cy="276606"/>
          </a:xfrm>
          <a:prstGeom prst="rect">
            <a:avLst/>
          </a:prstGeom>
        </p:spPr>
      </p:pic>
      <p:sp>
        <p:nvSpPr>
          <p:cNvPr id="19" name="Text 13"/>
          <p:cNvSpPr/>
          <p:nvPr/>
        </p:nvSpPr>
        <p:spPr>
          <a:xfrm>
            <a:off x="8336280" y="2377440"/>
            <a:ext cx="3048000" cy="411480"/>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Reduce Administrative Workload</a:t>
            </a:r>
            <a:endParaRPr lang="en-US" sz="1250" dirty="0"/>
          </a:p>
        </p:txBody>
      </p:sp>
      <p:sp>
        <p:nvSpPr>
          <p:cNvPr id="20" name="Text 14"/>
          <p:cNvSpPr/>
          <p:nvPr/>
        </p:nvSpPr>
        <p:spPr>
          <a:xfrm>
            <a:off x="8336280" y="2770632"/>
            <a:ext cx="3048000" cy="502920"/>
          </a:xfrm>
          <a:prstGeom prst="rect">
            <a:avLst/>
          </a:prstGeom>
          <a:noFill/>
          <a:ln/>
        </p:spPr>
        <p:txBody>
          <a:bodyPr wrap="square" rtlCol="0" anchor="ctr"/>
          <a:lstStyle/>
          <a:p>
            <a:pPr marL="0" indent="0">
              <a:lnSpc>
                <a:spcPct val="110000"/>
              </a:lnSpc>
              <a:buNone/>
            </a:pPr>
            <a:r>
              <a:rPr lang="en-US" sz="980" dirty="0">
                <a:solidFill>
                  <a:srgbClr val="5B6B73"/>
                </a:solidFill>
                <a:latin typeface="Calibri" pitchFamily="34" charset="0"/>
                <a:ea typeface="Calibri" pitchFamily="34" charset="-122"/>
                <a:cs typeface="Calibri" pitchFamily="34" charset="-120"/>
              </a:rPr>
              <a:t>Automate routine requests so front-desk staff can focus on in-person care.</a:t>
            </a:r>
            <a:endParaRPr lang="en-US" sz="980" dirty="0"/>
          </a:p>
        </p:txBody>
      </p:sp>
      <p:sp>
        <p:nvSpPr>
          <p:cNvPr id="21" name="Shape 15"/>
          <p:cNvSpPr/>
          <p:nvPr/>
        </p:nvSpPr>
        <p:spPr>
          <a:xfrm>
            <a:off x="548640" y="3611880"/>
            <a:ext cx="3505200" cy="1828800"/>
          </a:xfrm>
          <a:prstGeom prst="roundRect">
            <a:avLst>
              <a:gd name="adj" fmla="val 450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22" name="Shape 16"/>
          <p:cNvSpPr/>
          <p:nvPr/>
        </p:nvSpPr>
        <p:spPr>
          <a:xfrm>
            <a:off x="777240" y="3840480"/>
            <a:ext cx="502920" cy="502920"/>
          </a:xfrm>
          <a:prstGeom prst="ellipse">
            <a:avLst/>
          </a:prstGeom>
          <a:solidFill>
            <a:srgbClr val="0E7C86"/>
          </a:solidFill>
          <a:ln/>
        </p:spPr>
        <p:txBody>
          <a:bodyPr/>
          <a:lstStyle/>
          <a:p>
            <a:endParaRPr lang="en-US"/>
          </a:p>
        </p:txBody>
      </p:sp>
      <p:pic>
        <p:nvPicPr>
          <p:cNvPr id="23" name="Image 4" descr="/home/claude/hospital/icons/shield_white.png"/>
          <p:cNvPicPr>
            <a:picLocks noChangeAspect="1"/>
          </p:cNvPicPr>
          <p:nvPr/>
        </p:nvPicPr>
        <p:blipFill>
          <a:blip r:embed="rId7"/>
          <a:stretch>
            <a:fillRect/>
          </a:stretch>
        </p:blipFill>
        <p:spPr>
          <a:xfrm>
            <a:off x="890397" y="3953637"/>
            <a:ext cx="276606" cy="276606"/>
          </a:xfrm>
          <a:prstGeom prst="rect">
            <a:avLst/>
          </a:prstGeom>
        </p:spPr>
      </p:pic>
      <p:sp>
        <p:nvSpPr>
          <p:cNvPr id="24" name="Text 17"/>
          <p:cNvSpPr/>
          <p:nvPr/>
        </p:nvSpPr>
        <p:spPr>
          <a:xfrm>
            <a:off x="777240" y="4480560"/>
            <a:ext cx="3048000" cy="411480"/>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Strengthen Hospital Branding</a:t>
            </a:r>
            <a:endParaRPr lang="en-US" sz="1250" dirty="0"/>
          </a:p>
        </p:txBody>
      </p:sp>
      <p:sp>
        <p:nvSpPr>
          <p:cNvPr id="25" name="Text 18"/>
          <p:cNvSpPr/>
          <p:nvPr/>
        </p:nvSpPr>
        <p:spPr>
          <a:xfrm>
            <a:off x="777240" y="4873752"/>
            <a:ext cx="3048000" cy="502920"/>
          </a:xfrm>
          <a:prstGeom prst="rect">
            <a:avLst/>
          </a:prstGeom>
          <a:noFill/>
          <a:ln/>
        </p:spPr>
        <p:txBody>
          <a:bodyPr wrap="square" rtlCol="0" anchor="ctr"/>
          <a:lstStyle/>
          <a:p>
            <a:pPr marL="0" indent="0">
              <a:lnSpc>
                <a:spcPct val="110000"/>
              </a:lnSpc>
              <a:buNone/>
            </a:pPr>
            <a:r>
              <a:rPr lang="en-US" sz="980" dirty="0">
                <a:solidFill>
                  <a:srgbClr val="5B6B73"/>
                </a:solidFill>
                <a:latin typeface="Calibri" pitchFamily="34" charset="0"/>
                <a:ea typeface="Calibri" pitchFamily="34" charset="-122"/>
                <a:cs typeface="Calibri" pitchFamily="34" charset="-120"/>
              </a:rPr>
              <a:t>Present a consistent, premium identity that reflects clinical quality and trustworthiness.</a:t>
            </a:r>
            <a:endParaRPr lang="en-US" sz="980" dirty="0"/>
          </a:p>
        </p:txBody>
      </p:sp>
      <p:sp>
        <p:nvSpPr>
          <p:cNvPr id="26" name="Shape 19"/>
          <p:cNvSpPr/>
          <p:nvPr/>
        </p:nvSpPr>
        <p:spPr>
          <a:xfrm>
            <a:off x="4328160" y="3611880"/>
            <a:ext cx="3505200" cy="1828800"/>
          </a:xfrm>
          <a:prstGeom prst="roundRect">
            <a:avLst>
              <a:gd name="adj" fmla="val 450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27" name="Shape 20"/>
          <p:cNvSpPr/>
          <p:nvPr/>
        </p:nvSpPr>
        <p:spPr>
          <a:xfrm>
            <a:off x="4556760" y="3840480"/>
            <a:ext cx="502920" cy="502920"/>
          </a:xfrm>
          <a:prstGeom prst="ellipse">
            <a:avLst/>
          </a:prstGeom>
          <a:solidFill>
            <a:srgbClr val="0E7C86"/>
          </a:solidFill>
          <a:ln/>
        </p:spPr>
        <p:txBody>
          <a:bodyPr/>
          <a:lstStyle/>
          <a:p>
            <a:endParaRPr lang="en-US"/>
          </a:p>
        </p:txBody>
      </p:sp>
      <p:pic>
        <p:nvPicPr>
          <p:cNvPr id="28" name="Image 5" descr="/home/claude/hospital/icons/globe_white.png"/>
          <p:cNvPicPr>
            <a:picLocks noChangeAspect="1"/>
          </p:cNvPicPr>
          <p:nvPr/>
        </p:nvPicPr>
        <p:blipFill>
          <a:blip r:embed="rId8"/>
          <a:stretch>
            <a:fillRect/>
          </a:stretch>
        </p:blipFill>
        <p:spPr>
          <a:xfrm>
            <a:off x="4669917" y="3953637"/>
            <a:ext cx="276606" cy="276606"/>
          </a:xfrm>
          <a:prstGeom prst="rect">
            <a:avLst/>
          </a:prstGeom>
        </p:spPr>
      </p:pic>
      <p:sp>
        <p:nvSpPr>
          <p:cNvPr id="29" name="Text 21"/>
          <p:cNvSpPr/>
          <p:nvPr/>
        </p:nvSpPr>
        <p:spPr>
          <a:xfrm>
            <a:off x="4556760" y="4480560"/>
            <a:ext cx="3048000" cy="411480"/>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Improve Digital Presence</a:t>
            </a:r>
            <a:endParaRPr lang="en-US" sz="1250" dirty="0"/>
          </a:p>
        </p:txBody>
      </p:sp>
      <p:sp>
        <p:nvSpPr>
          <p:cNvPr id="30" name="Text 22"/>
          <p:cNvSpPr/>
          <p:nvPr/>
        </p:nvSpPr>
        <p:spPr>
          <a:xfrm>
            <a:off x="4556760" y="4873752"/>
            <a:ext cx="3048000" cy="502920"/>
          </a:xfrm>
          <a:prstGeom prst="rect">
            <a:avLst/>
          </a:prstGeom>
          <a:noFill/>
          <a:ln/>
        </p:spPr>
        <p:txBody>
          <a:bodyPr wrap="square" rtlCol="0" anchor="ctr"/>
          <a:lstStyle/>
          <a:p>
            <a:pPr marL="0" indent="0">
              <a:lnSpc>
                <a:spcPct val="110000"/>
              </a:lnSpc>
              <a:buNone/>
            </a:pPr>
            <a:r>
              <a:rPr lang="en-US" sz="980" dirty="0">
                <a:solidFill>
                  <a:srgbClr val="5B6B73"/>
                </a:solidFill>
                <a:latin typeface="Calibri" pitchFamily="34" charset="0"/>
                <a:ea typeface="Calibri" pitchFamily="34" charset="-122"/>
                <a:cs typeface="Calibri" pitchFamily="34" charset="-120"/>
              </a:rPr>
              <a:t>Rank higher, reach further, and remain the patient's first stop for healthcare information.</a:t>
            </a:r>
            <a:endParaRPr lang="en-US" sz="980" dirty="0"/>
          </a:p>
        </p:txBody>
      </p:sp>
      <p:sp>
        <p:nvSpPr>
          <p:cNvPr id="31" name="Shape 23"/>
          <p:cNvSpPr/>
          <p:nvPr/>
        </p:nvSpPr>
        <p:spPr>
          <a:xfrm>
            <a:off x="8107680" y="3611880"/>
            <a:ext cx="3505200" cy="1828800"/>
          </a:xfrm>
          <a:prstGeom prst="roundRect">
            <a:avLst>
              <a:gd name="adj" fmla="val 450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32" name="Shape 24"/>
          <p:cNvSpPr/>
          <p:nvPr/>
        </p:nvSpPr>
        <p:spPr>
          <a:xfrm>
            <a:off x="8336280" y="3840480"/>
            <a:ext cx="502920" cy="502920"/>
          </a:xfrm>
          <a:prstGeom prst="ellipse">
            <a:avLst/>
          </a:prstGeom>
          <a:solidFill>
            <a:srgbClr val="0E7C86"/>
          </a:solidFill>
          <a:ln/>
        </p:spPr>
        <p:txBody>
          <a:bodyPr/>
          <a:lstStyle/>
          <a:p>
            <a:endParaRPr lang="en-US"/>
          </a:p>
        </p:txBody>
      </p:sp>
      <p:pic>
        <p:nvPicPr>
          <p:cNvPr id="33" name="Image 6" descr="/home/claude/hospital/icons/chart_white.png"/>
          <p:cNvPicPr>
            <a:picLocks noChangeAspect="1"/>
          </p:cNvPicPr>
          <p:nvPr/>
        </p:nvPicPr>
        <p:blipFill>
          <a:blip r:embed="rId9"/>
          <a:stretch>
            <a:fillRect/>
          </a:stretch>
        </p:blipFill>
        <p:spPr>
          <a:xfrm>
            <a:off x="8449437" y="3953637"/>
            <a:ext cx="276606" cy="276606"/>
          </a:xfrm>
          <a:prstGeom prst="rect">
            <a:avLst/>
          </a:prstGeom>
        </p:spPr>
      </p:pic>
      <p:sp>
        <p:nvSpPr>
          <p:cNvPr id="34" name="Text 25"/>
          <p:cNvSpPr/>
          <p:nvPr/>
        </p:nvSpPr>
        <p:spPr>
          <a:xfrm>
            <a:off x="8336280" y="4480560"/>
            <a:ext cx="3048000" cy="411480"/>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Enable Data-Driven Growth</a:t>
            </a:r>
            <a:endParaRPr lang="en-US" sz="1250" dirty="0"/>
          </a:p>
        </p:txBody>
      </p:sp>
      <p:sp>
        <p:nvSpPr>
          <p:cNvPr id="35" name="Text 26"/>
          <p:cNvSpPr/>
          <p:nvPr/>
        </p:nvSpPr>
        <p:spPr>
          <a:xfrm>
            <a:off x="8336280" y="4873752"/>
            <a:ext cx="3048000" cy="502920"/>
          </a:xfrm>
          <a:prstGeom prst="rect">
            <a:avLst/>
          </a:prstGeom>
          <a:noFill/>
          <a:ln/>
        </p:spPr>
        <p:txBody>
          <a:bodyPr wrap="square" rtlCol="0" anchor="ctr"/>
          <a:lstStyle/>
          <a:p>
            <a:pPr marL="0" indent="0">
              <a:lnSpc>
                <a:spcPct val="110000"/>
              </a:lnSpc>
              <a:buNone/>
            </a:pPr>
            <a:r>
              <a:rPr lang="en-US" sz="980" dirty="0">
                <a:solidFill>
                  <a:srgbClr val="5B6B73"/>
                </a:solidFill>
                <a:latin typeface="Calibri" pitchFamily="34" charset="0"/>
                <a:ea typeface="Calibri" pitchFamily="34" charset="-122"/>
                <a:cs typeface="Calibri" pitchFamily="34" charset="-120"/>
              </a:rPr>
              <a:t>Capture engagement signals that inform future service and marketing decisions.</a:t>
            </a:r>
            <a:endParaRPr lang="en-US" sz="980" dirty="0"/>
          </a:p>
        </p:txBody>
      </p:sp>
      <p:pic>
        <p:nvPicPr>
          <p:cNvPr id="36" name="Image 7"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37" name="Text 27"/>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8" name="Text 28"/>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txBody>
          <a:bodyPr/>
          <a:lstStyle/>
          <a:p>
            <a:endParaRPr lang="en-US"/>
          </a:p>
        </p:txBody>
      </p:sp>
      <p:sp>
        <p:nvSpPr>
          <p:cNvPr id="3" name="Shape 1"/>
          <p:cNvSpPr/>
          <p:nvPr/>
        </p:nvSpPr>
        <p:spPr>
          <a:xfrm>
            <a:off x="10543032" y="4480560"/>
            <a:ext cx="2926080" cy="2926080"/>
          </a:xfrm>
          <a:prstGeom prst="ellipse">
            <a:avLst/>
          </a:prstGeom>
          <a:solidFill>
            <a:srgbClr val="2EC4B6">
              <a:alpha val="30000"/>
            </a:srgbClr>
          </a:solidFill>
          <a:ln/>
        </p:spPr>
        <p:txBody>
          <a:bodyPr/>
          <a:lstStyle/>
          <a:p>
            <a:endParaRPr lang="en-US"/>
          </a:p>
        </p:txBody>
      </p:sp>
      <p:sp>
        <p:nvSpPr>
          <p:cNvPr id="4" name="Text 2"/>
          <p:cNvSpPr/>
          <p:nvPr/>
        </p:nvSpPr>
        <p:spPr>
          <a:xfrm>
            <a:off x="548640" y="502920"/>
            <a:ext cx="4572000" cy="320040"/>
          </a:xfrm>
          <a:prstGeom prst="rect">
            <a:avLst/>
          </a:prstGeom>
          <a:noFill/>
          <a:ln/>
        </p:spPr>
        <p:txBody>
          <a:bodyPr wrap="square" rtlCol="0" anchor="ctr"/>
          <a:lstStyle/>
          <a:p>
            <a:pPr marL="0" indent="0" algn="l">
              <a:buNone/>
            </a:pPr>
            <a:r>
              <a:rPr lang="en-US" sz="1200" b="1" kern="0" spc="200" dirty="0">
                <a:solidFill>
                  <a:srgbClr val="2EC4B6"/>
                </a:solidFill>
                <a:latin typeface="Calibri" pitchFamily="34" charset="0"/>
                <a:ea typeface="Calibri" pitchFamily="34" charset="-122"/>
                <a:cs typeface="Calibri" pitchFamily="34" charset="-120"/>
              </a:rPr>
              <a:t>STRATEGIC FOUNDATION</a:t>
            </a:r>
            <a:endParaRPr lang="en-US" sz="1200" dirty="0"/>
          </a:p>
        </p:txBody>
      </p:sp>
      <p:sp>
        <p:nvSpPr>
          <p:cNvPr id="5" name="Text 3"/>
          <p:cNvSpPr/>
          <p:nvPr/>
        </p:nvSpPr>
        <p:spPr>
          <a:xfrm>
            <a:off x="548640" y="777240"/>
            <a:ext cx="8229600" cy="822960"/>
          </a:xfrm>
          <a:prstGeom prst="rect">
            <a:avLst/>
          </a:prstGeom>
          <a:noFill/>
          <a:ln/>
        </p:spPr>
        <p:txBody>
          <a:bodyPr wrap="square" rtlCol="0" anchor="t"/>
          <a:lstStyle/>
          <a:p>
            <a:pPr marL="0" indent="0" algn="l">
              <a:lnSpc>
                <a:spcPct val="102000"/>
              </a:lnSpc>
              <a:buNone/>
            </a:pPr>
            <a:r>
              <a:rPr lang="en-US" sz="3000" b="1" dirty="0">
                <a:solidFill>
                  <a:srgbClr val="FFFFFF"/>
                </a:solidFill>
                <a:latin typeface="Cambria" pitchFamily="34" charset="0"/>
                <a:ea typeface="Cambria" pitchFamily="34" charset="-122"/>
                <a:cs typeface="Cambria" pitchFamily="34" charset="-120"/>
              </a:rPr>
              <a:t>Who We're Designing For</a:t>
            </a:r>
            <a:endParaRPr lang="en-US" sz="3000" dirty="0"/>
          </a:p>
        </p:txBody>
      </p:sp>
      <p:sp>
        <p:nvSpPr>
          <p:cNvPr id="6" name="Shape 4"/>
          <p:cNvSpPr/>
          <p:nvPr/>
        </p:nvSpPr>
        <p:spPr>
          <a:xfrm>
            <a:off x="548640" y="1783080"/>
            <a:ext cx="3505200" cy="1828800"/>
          </a:xfrm>
          <a:prstGeom prst="roundRect">
            <a:avLst>
              <a:gd name="adj" fmla="val 4500"/>
            </a:avLst>
          </a:prstGeom>
          <a:solidFill>
            <a:srgbClr val="13315C"/>
          </a:solidFill>
          <a:ln w="12700">
            <a:solidFill>
              <a:srgbClr val="1F4C74"/>
            </a:solidFill>
            <a:prstDash val="solid"/>
          </a:ln>
        </p:spPr>
        <p:txBody>
          <a:bodyPr/>
          <a:lstStyle/>
          <a:p>
            <a:endParaRPr lang="en-US"/>
          </a:p>
        </p:txBody>
      </p:sp>
      <p:sp>
        <p:nvSpPr>
          <p:cNvPr id="7" name="Shape 5"/>
          <p:cNvSpPr/>
          <p:nvPr/>
        </p:nvSpPr>
        <p:spPr>
          <a:xfrm>
            <a:off x="777240" y="2011680"/>
            <a:ext cx="502920" cy="502920"/>
          </a:xfrm>
          <a:prstGeom prst="ellipse">
            <a:avLst/>
          </a:prstGeom>
          <a:solidFill>
            <a:srgbClr val="2EC4B6"/>
          </a:solidFill>
          <a:ln/>
        </p:spPr>
        <p:txBody>
          <a:bodyPr/>
          <a:lstStyle/>
          <a:p>
            <a:endParaRPr lang="en-US"/>
          </a:p>
        </p:txBody>
      </p:sp>
      <p:pic>
        <p:nvPicPr>
          <p:cNvPr id="8" name="Image 0" descr="/home/claude/hospital/icons/users_navy.png"/>
          <p:cNvPicPr>
            <a:picLocks noChangeAspect="1"/>
          </p:cNvPicPr>
          <p:nvPr/>
        </p:nvPicPr>
        <p:blipFill>
          <a:blip r:embed="rId3"/>
          <a:stretch>
            <a:fillRect/>
          </a:stretch>
        </p:blipFill>
        <p:spPr>
          <a:xfrm>
            <a:off x="890397" y="2124837"/>
            <a:ext cx="276606" cy="276606"/>
          </a:xfrm>
          <a:prstGeom prst="rect">
            <a:avLst/>
          </a:prstGeom>
        </p:spPr>
      </p:pic>
      <p:sp>
        <p:nvSpPr>
          <p:cNvPr id="9" name="Text 6"/>
          <p:cNvSpPr/>
          <p:nvPr/>
        </p:nvSpPr>
        <p:spPr>
          <a:xfrm>
            <a:off x="777240" y="2651760"/>
            <a:ext cx="3048000" cy="36576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Patients</a:t>
            </a:r>
            <a:endParaRPr lang="en-US" sz="1300" dirty="0"/>
          </a:p>
        </p:txBody>
      </p:sp>
      <p:sp>
        <p:nvSpPr>
          <p:cNvPr id="10" name="Text 7"/>
          <p:cNvSpPr/>
          <p:nvPr/>
        </p:nvSpPr>
        <p:spPr>
          <a:xfrm>
            <a:off x="777240" y="3026664"/>
            <a:ext cx="3048000" cy="502920"/>
          </a:xfrm>
          <a:prstGeom prst="rect">
            <a:avLst/>
          </a:prstGeom>
          <a:noFill/>
          <a:ln/>
        </p:spPr>
        <p:txBody>
          <a:bodyPr wrap="square" rtlCol="0" anchor="ctr"/>
          <a:lstStyle/>
          <a:p>
            <a:pPr marL="0" indent="0">
              <a:lnSpc>
                <a:spcPct val="110000"/>
              </a:lnSpc>
              <a:buNone/>
            </a:pPr>
            <a:r>
              <a:rPr lang="en-US" sz="960" dirty="0">
                <a:solidFill>
                  <a:srgbClr val="B9CBCB"/>
                </a:solidFill>
                <a:latin typeface="Calibri" pitchFamily="34" charset="0"/>
                <a:ea typeface="Calibri" pitchFamily="34" charset="-122"/>
                <a:cs typeface="Calibri" pitchFamily="34" charset="-120"/>
              </a:rPr>
              <a:t>Fast access to services, doctors, and appointment booking without friction.</a:t>
            </a:r>
            <a:endParaRPr lang="en-US" sz="960" dirty="0"/>
          </a:p>
        </p:txBody>
      </p:sp>
      <p:sp>
        <p:nvSpPr>
          <p:cNvPr id="11" name="Shape 8"/>
          <p:cNvSpPr/>
          <p:nvPr/>
        </p:nvSpPr>
        <p:spPr>
          <a:xfrm>
            <a:off x="4328160" y="1783080"/>
            <a:ext cx="3505200" cy="1828800"/>
          </a:xfrm>
          <a:prstGeom prst="roundRect">
            <a:avLst>
              <a:gd name="adj" fmla="val 4500"/>
            </a:avLst>
          </a:prstGeom>
          <a:solidFill>
            <a:srgbClr val="13315C"/>
          </a:solidFill>
          <a:ln w="12700">
            <a:solidFill>
              <a:srgbClr val="1F4C74"/>
            </a:solidFill>
            <a:prstDash val="solid"/>
          </a:ln>
        </p:spPr>
        <p:txBody>
          <a:bodyPr/>
          <a:lstStyle/>
          <a:p>
            <a:endParaRPr lang="en-US"/>
          </a:p>
        </p:txBody>
      </p:sp>
      <p:sp>
        <p:nvSpPr>
          <p:cNvPr id="12" name="Shape 9"/>
          <p:cNvSpPr/>
          <p:nvPr/>
        </p:nvSpPr>
        <p:spPr>
          <a:xfrm>
            <a:off x="4556760" y="2011680"/>
            <a:ext cx="502920" cy="502920"/>
          </a:xfrm>
          <a:prstGeom prst="ellipse">
            <a:avLst/>
          </a:prstGeom>
          <a:solidFill>
            <a:srgbClr val="2EC4B6"/>
          </a:solidFill>
          <a:ln/>
        </p:spPr>
        <p:txBody>
          <a:bodyPr/>
          <a:lstStyle/>
          <a:p>
            <a:endParaRPr lang="en-US"/>
          </a:p>
        </p:txBody>
      </p:sp>
      <p:pic>
        <p:nvPicPr>
          <p:cNvPr id="13" name="Image 1" descr="/home/claude/hospital/icons/family_navy.png"/>
          <p:cNvPicPr>
            <a:picLocks noChangeAspect="1"/>
          </p:cNvPicPr>
          <p:nvPr/>
        </p:nvPicPr>
        <p:blipFill>
          <a:blip r:embed="rId4"/>
          <a:stretch>
            <a:fillRect/>
          </a:stretch>
        </p:blipFill>
        <p:spPr>
          <a:xfrm>
            <a:off x="4669917" y="2124837"/>
            <a:ext cx="276606" cy="276606"/>
          </a:xfrm>
          <a:prstGeom prst="rect">
            <a:avLst/>
          </a:prstGeom>
        </p:spPr>
      </p:pic>
      <p:sp>
        <p:nvSpPr>
          <p:cNvPr id="14" name="Text 10"/>
          <p:cNvSpPr/>
          <p:nvPr/>
        </p:nvSpPr>
        <p:spPr>
          <a:xfrm>
            <a:off x="4556760" y="2651760"/>
            <a:ext cx="3048000" cy="36576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Families &amp; Parents</a:t>
            </a:r>
            <a:endParaRPr lang="en-US" sz="1300" dirty="0"/>
          </a:p>
        </p:txBody>
      </p:sp>
      <p:sp>
        <p:nvSpPr>
          <p:cNvPr id="15" name="Text 11"/>
          <p:cNvSpPr/>
          <p:nvPr/>
        </p:nvSpPr>
        <p:spPr>
          <a:xfrm>
            <a:off x="4556760" y="3026664"/>
            <a:ext cx="3048000" cy="502920"/>
          </a:xfrm>
          <a:prstGeom prst="rect">
            <a:avLst/>
          </a:prstGeom>
          <a:noFill/>
          <a:ln/>
        </p:spPr>
        <p:txBody>
          <a:bodyPr wrap="square" rtlCol="0" anchor="ctr"/>
          <a:lstStyle/>
          <a:p>
            <a:pPr marL="0" indent="0">
              <a:lnSpc>
                <a:spcPct val="110000"/>
              </a:lnSpc>
              <a:buNone/>
            </a:pPr>
            <a:r>
              <a:rPr lang="en-US" sz="960" dirty="0">
                <a:solidFill>
                  <a:srgbClr val="B9CBCB"/>
                </a:solidFill>
                <a:latin typeface="Calibri" pitchFamily="34" charset="0"/>
                <a:ea typeface="Calibri" pitchFamily="34" charset="-122"/>
                <a:cs typeface="Calibri" pitchFamily="34" charset="-120"/>
              </a:rPr>
              <a:t>Reassurance, clarity, and pediatric-friendly information for their loved ones.</a:t>
            </a:r>
            <a:endParaRPr lang="en-US" sz="960" dirty="0"/>
          </a:p>
        </p:txBody>
      </p:sp>
      <p:sp>
        <p:nvSpPr>
          <p:cNvPr id="16" name="Shape 12"/>
          <p:cNvSpPr/>
          <p:nvPr/>
        </p:nvSpPr>
        <p:spPr>
          <a:xfrm>
            <a:off x="8107680" y="1783080"/>
            <a:ext cx="3505200" cy="1828800"/>
          </a:xfrm>
          <a:prstGeom prst="roundRect">
            <a:avLst>
              <a:gd name="adj" fmla="val 4500"/>
            </a:avLst>
          </a:prstGeom>
          <a:solidFill>
            <a:srgbClr val="13315C"/>
          </a:solidFill>
          <a:ln w="12700">
            <a:solidFill>
              <a:srgbClr val="1F4C74"/>
            </a:solidFill>
            <a:prstDash val="solid"/>
          </a:ln>
        </p:spPr>
        <p:txBody>
          <a:bodyPr/>
          <a:lstStyle/>
          <a:p>
            <a:endParaRPr lang="en-US"/>
          </a:p>
        </p:txBody>
      </p:sp>
      <p:sp>
        <p:nvSpPr>
          <p:cNvPr id="17" name="Shape 13"/>
          <p:cNvSpPr/>
          <p:nvPr/>
        </p:nvSpPr>
        <p:spPr>
          <a:xfrm>
            <a:off x="8336280" y="2011680"/>
            <a:ext cx="502920" cy="502920"/>
          </a:xfrm>
          <a:prstGeom prst="ellipse">
            <a:avLst/>
          </a:prstGeom>
          <a:solidFill>
            <a:srgbClr val="2EC4B6"/>
          </a:solidFill>
          <a:ln/>
        </p:spPr>
        <p:txBody>
          <a:bodyPr/>
          <a:lstStyle/>
          <a:p>
            <a:endParaRPr lang="en-US"/>
          </a:p>
        </p:txBody>
      </p:sp>
      <p:pic>
        <p:nvPicPr>
          <p:cNvPr id="18" name="Image 2" descr="/home/claude/hospital/icons/senior_navy.png"/>
          <p:cNvPicPr>
            <a:picLocks noChangeAspect="1"/>
          </p:cNvPicPr>
          <p:nvPr/>
        </p:nvPicPr>
        <p:blipFill>
          <a:blip r:embed="rId5"/>
          <a:stretch>
            <a:fillRect/>
          </a:stretch>
        </p:blipFill>
        <p:spPr>
          <a:xfrm>
            <a:off x="8449437" y="2124837"/>
            <a:ext cx="276606" cy="276606"/>
          </a:xfrm>
          <a:prstGeom prst="rect">
            <a:avLst/>
          </a:prstGeom>
        </p:spPr>
      </p:pic>
      <p:sp>
        <p:nvSpPr>
          <p:cNvPr id="19" name="Text 14"/>
          <p:cNvSpPr/>
          <p:nvPr/>
        </p:nvSpPr>
        <p:spPr>
          <a:xfrm>
            <a:off x="8336280" y="2651760"/>
            <a:ext cx="3048000" cy="36576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Senior Citizens</a:t>
            </a:r>
            <a:endParaRPr lang="en-US" sz="1300" dirty="0"/>
          </a:p>
        </p:txBody>
      </p:sp>
      <p:sp>
        <p:nvSpPr>
          <p:cNvPr id="20" name="Text 15"/>
          <p:cNvSpPr/>
          <p:nvPr/>
        </p:nvSpPr>
        <p:spPr>
          <a:xfrm>
            <a:off x="8336280" y="3026664"/>
            <a:ext cx="3048000" cy="502920"/>
          </a:xfrm>
          <a:prstGeom prst="rect">
            <a:avLst/>
          </a:prstGeom>
          <a:noFill/>
          <a:ln/>
        </p:spPr>
        <p:txBody>
          <a:bodyPr wrap="square" rtlCol="0" anchor="ctr"/>
          <a:lstStyle/>
          <a:p>
            <a:pPr marL="0" indent="0">
              <a:lnSpc>
                <a:spcPct val="110000"/>
              </a:lnSpc>
              <a:buNone/>
            </a:pPr>
            <a:r>
              <a:rPr lang="en-US" sz="960" dirty="0">
                <a:solidFill>
                  <a:srgbClr val="B9CBCB"/>
                </a:solidFill>
                <a:latin typeface="Calibri" pitchFamily="34" charset="0"/>
                <a:ea typeface="Calibri" pitchFamily="34" charset="-122"/>
                <a:cs typeface="Calibri" pitchFamily="34" charset="-120"/>
              </a:rPr>
              <a:t>Large, legible text and simple navigation for accessibility-first design.</a:t>
            </a:r>
            <a:endParaRPr lang="en-US" sz="960" dirty="0"/>
          </a:p>
        </p:txBody>
      </p:sp>
      <p:sp>
        <p:nvSpPr>
          <p:cNvPr id="21" name="Shape 16"/>
          <p:cNvSpPr/>
          <p:nvPr/>
        </p:nvSpPr>
        <p:spPr>
          <a:xfrm>
            <a:off x="548640" y="3886200"/>
            <a:ext cx="3505200" cy="1828800"/>
          </a:xfrm>
          <a:prstGeom prst="roundRect">
            <a:avLst>
              <a:gd name="adj" fmla="val 4500"/>
            </a:avLst>
          </a:prstGeom>
          <a:solidFill>
            <a:srgbClr val="13315C"/>
          </a:solidFill>
          <a:ln w="12700">
            <a:solidFill>
              <a:srgbClr val="1F4C74"/>
            </a:solidFill>
            <a:prstDash val="solid"/>
          </a:ln>
        </p:spPr>
        <p:txBody>
          <a:bodyPr/>
          <a:lstStyle/>
          <a:p>
            <a:endParaRPr lang="en-US"/>
          </a:p>
        </p:txBody>
      </p:sp>
      <p:sp>
        <p:nvSpPr>
          <p:cNvPr id="22" name="Shape 17"/>
          <p:cNvSpPr/>
          <p:nvPr/>
        </p:nvSpPr>
        <p:spPr>
          <a:xfrm>
            <a:off x="777240" y="4114800"/>
            <a:ext cx="502920" cy="502920"/>
          </a:xfrm>
          <a:prstGeom prst="ellipse">
            <a:avLst/>
          </a:prstGeom>
          <a:solidFill>
            <a:srgbClr val="2EC4B6"/>
          </a:solidFill>
          <a:ln/>
        </p:spPr>
        <p:txBody>
          <a:bodyPr/>
          <a:lstStyle/>
          <a:p>
            <a:endParaRPr lang="en-US"/>
          </a:p>
        </p:txBody>
      </p:sp>
      <p:pic>
        <p:nvPicPr>
          <p:cNvPr id="23" name="Image 3" descr="/home/claude/hospital/icons/emergency_navy.png"/>
          <p:cNvPicPr>
            <a:picLocks noChangeAspect="1"/>
          </p:cNvPicPr>
          <p:nvPr/>
        </p:nvPicPr>
        <p:blipFill>
          <a:blip r:embed="rId6"/>
          <a:stretch>
            <a:fillRect/>
          </a:stretch>
        </p:blipFill>
        <p:spPr>
          <a:xfrm>
            <a:off x="890397" y="4227957"/>
            <a:ext cx="276606" cy="276606"/>
          </a:xfrm>
          <a:prstGeom prst="rect">
            <a:avLst/>
          </a:prstGeom>
        </p:spPr>
      </p:pic>
      <p:sp>
        <p:nvSpPr>
          <p:cNvPr id="24" name="Text 18"/>
          <p:cNvSpPr/>
          <p:nvPr/>
        </p:nvSpPr>
        <p:spPr>
          <a:xfrm>
            <a:off x="777240" y="4754880"/>
            <a:ext cx="3048000" cy="36576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Emergency Cases</a:t>
            </a:r>
            <a:endParaRPr lang="en-US" sz="1300" dirty="0"/>
          </a:p>
        </p:txBody>
      </p:sp>
      <p:sp>
        <p:nvSpPr>
          <p:cNvPr id="25" name="Text 19"/>
          <p:cNvSpPr/>
          <p:nvPr/>
        </p:nvSpPr>
        <p:spPr>
          <a:xfrm>
            <a:off x="777240" y="5129784"/>
            <a:ext cx="3048000" cy="502920"/>
          </a:xfrm>
          <a:prstGeom prst="rect">
            <a:avLst/>
          </a:prstGeom>
          <a:noFill/>
          <a:ln/>
        </p:spPr>
        <p:txBody>
          <a:bodyPr wrap="square" rtlCol="0" anchor="ctr"/>
          <a:lstStyle/>
          <a:p>
            <a:pPr marL="0" indent="0">
              <a:lnSpc>
                <a:spcPct val="110000"/>
              </a:lnSpc>
              <a:buNone/>
            </a:pPr>
            <a:r>
              <a:rPr lang="en-US" sz="960" dirty="0">
                <a:solidFill>
                  <a:srgbClr val="B9CBCB"/>
                </a:solidFill>
                <a:latin typeface="Calibri" pitchFamily="34" charset="0"/>
                <a:ea typeface="Calibri" pitchFamily="34" charset="-122"/>
                <a:cs typeface="Calibri" pitchFamily="34" charset="-120"/>
              </a:rPr>
              <a:t>Immediate, unmistakable access to urgent care information and contact.</a:t>
            </a:r>
            <a:endParaRPr lang="en-US" sz="960" dirty="0"/>
          </a:p>
        </p:txBody>
      </p:sp>
      <p:sp>
        <p:nvSpPr>
          <p:cNvPr id="26" name="Shape 20"/>
          <p:cNvSpPr/>
          <p:nvPr/>
        </p:nvSpPr>
        <p:spPr>
          <a:xfrm>
            <a:off x="4328160" y="3886200"/>
            <a:ext cx="3505200" cy="1828800"/>
          </a:xfrm>
          <a:prstGeom prst="roundRect">
            <a:avLst>
              <a:gd name="adj" fmla="val 4500"/>
            </a:avLst>
          </a:prstGeom>
          <a:solidFill>
            <a:srgbClr val="13315C"/>
          </a:solidFill>
          <a:ln w="12700">
            <a:solidFill>
              <a:srgbClr val="1F4C74"/>
            </a:solidFill>
            <a:prstDash val="solid"/>
          </a:ln>
        </p:spPr>
        <p:txBody>
          <a:bodyPr/>
          <a:lstStyle/>
          <a:p>
            <a:endParaRPr lang="en-US"/>
          </a:p>
        </p:txBody>
      </p:sp>
      <p:sp>
        <p:nvSpPr>
          <p:cNvPr id="27" name="Shape 21"/>
          <p:cNvSpPr/>
          <p:nvPr/>
        </p:nvSpPr>
        <p:spPr>
          <a:xfrm>
            <a:off x="4556760" y="4114800"/>
            <a:ext cx="502920" cy="502920"/>
          </a:xfrm>
          <a:prstGeom prst="ellipse">
            <a:avLst/>
          </a:prstGeom>
          <a:solidFill>
            <a:srgbClr val="2EC4B6"/>
          </a:solidFill>
          <a:ln/>
        </p:spPr>
        <p:txBody>
          <a:bodyPr/>
          <a:lstStyle/>
          <a:p>
            <a:endParaRPr lang="en-US"/>
          </a:p>
        </p:txBody>
      </p:sp>
      <p:pic>
        <p:nvPicPr>
          <p:cNvPr id="28" name="Image 4" descr="/home/claude/hospital/icons/doctor_navy.png"/>
          <p:cNvPicPr>
            <a:picLocks noChangeAspect="1"/>
          </p:cNvPicPr>
          <p:nvPr/>
        </p:nvPicPr>
        <p:blipFill>
          <a:blip r:embed="rId7"/>
          <a:stretch>
            <a:fillRect/>
          </a:stretch>
        </p:blipFill>
        <p:spPr>
          <a:xfrm>
            <a:off x="4669917" y="4227957"/>
            <a:ext cx="276606" cy="276606"/>
          </a:xfrm>
          <a:prstGeom prst="rect">
            <a:avLst/>
          </a:prstGeom>
        </p:spPr>
      </p:pic>
      <p:sp>
        <p:nvSpPr>
          <p:cNvPr id="29" name="Text 22"/>
          <p:cNvSpPr/>
          <p:nvPr/>
        </p:nvSpPr>
        <p:spPr>
          <a:xfrm>
            <a:off x="4556760" y="4754880"/>
            <a:ext cx="3048000" cy="36576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Healthcare Professionals</a:t>
            </a:r>
            <a:endParaRPr lang="en-US" sz="1300" dirty="0"/>
          </a:p>
        </p:txBody>
      </p:sp>
      <p:sp>
        <p:nvSpPr>
          <p:cNvPr id="30" name="Text 23"/>
          <p:cNvSpPr/>
          <p:nvPr/>
        </p:nvSpPr>
        <p:spPr>
          <a:xfrm>
            <a:off x="4556760" y="5129784"/>
            <a:ext cx="3048000" cy="502920"/>
          </a:xfrm>
          <a:prstGeom prst="rect">
            <a:avLst/>
          </a:prstGeom>
          <a:noFill/>
          <a:ln/>
        </p:spPr>
        <p:txBody>
          <a:bodyPr wrap="square" rtlCol="0" anchor="ctr"/>
          <a:lstStyle/>
          <a:p>
            <a:pPr marL="0" indent="0">
              <a:lnSpc>
                <a:spcPct val="110000"/>
              </a:lnSpc>
              <a:buNone/>
            </a:pPr>
            <a:r>
              <a:rPr lang="en-US" sz="960" dirty="0">
                <a:solidFill>
                  <a:srgbClr val="B9CBCB"/>
                </a:solidFill>
                <a:latin typeface="Calibri" pitchFamily="34" charset="0"/>
                <a:ea typeface="Calibri" pitchFamily="34" charset="-122"/>
                <a:cs typeface="Calibri" pitchFamily="34" charset="-120"/>
              </a:rPr>
              <a:t>A credible platform that reflects their expertise and builds referral trust.</a:t>
            </a:r>
            <a:endParaRPr lang="en-US" sz="960" dirty="0"/>
          </a:p>
        </p:txBody>
      </p:sp>
      <p:sp>
        <p:nvSpPr>
          <p:cNvPr id="31" name="Shape 24"/>
          <p:cNvSpPr/>
          <p:nvPr/>
        </p:nvSpPr>
        <p:spPr>
          <a:xfrm>
            <a:off x="8107680" y="3886200"/>
            <a:ext cx="3505200" cy="1828800"/>
          </a:xfrm>
          <a:prstGeom prst="roundRect">
            <a:avLst>
              <a:gd name="adj" fmla="val 4500"/>
            </a:avLst>
          </a:prstGeom>
          <a:solidFill>
            <a:srgbClr val="13315C"/>
          </a:solidFill>
          <a:ln w="12700">
            <a:solidFill>
              <a:srgbClr val="1F4C74"/>
            </a:solidFill>
            <a:prstDash val="solid"/>
          </a:ln>
        </p:spPr>
        <p:txBody>
          <a:bodyPr/>
          <a:lstStyle/>
          <a:p>
            <a:endParaRPr lang="en-US"/>
          </a:p>
        </p:txBody>
      </p:sp>
      <p:sp>
        <p:nvSpPr>
          <p:cNvPr id="32" name="Shape 25"/>
          <p:cNvSpPr/>
          <p:nvPr/>
        </p:nvSpPr>
        <p:spPr>
          <a:xfrm>
            <a:off x="8336280" y="4114800"/>
            <a:ext cx="502920" cy="502920"/>
          </a:xfrm>
          <a:prstGeom prst="ellipse">
            <a:avLst/>
          </a:prstGeom>
          <a:solidFill>
            <a:srgbClr val="2EC4B6"/>
          </a:solidFill>
          <a:ln/>
        </p:spPr>
        <p:txBody>
          <a:bodyPr/>
          <a:lstStyle/>
          <a:p>
            <a:endParaRPr lang="en-US"/>
          </a:p>
        </p:txBody>
      </p:sp>
      <p:pic>
        <p:nvPicPr>
          <p:cNvPr id="33" name="Image 5" descr="/home/claude/hospital/icons/briefcase_navy.png"/>
          <p:cNvPicPr>
            <a:picLocks noChangeAspect="1"/>
          </p:cNvPicPr>
          <p:nvPr/>
        </p:nvPicPr>
        <p:blipFill>
          <a:blip r:embed="rId8"/>
          <a:stretch>
            <a:fillRect/>
          </a:stretch>
        </p:blipFill>
        <p:spPr>
          <a:xfrm>
            <a:off x="8449437" y="4227957"/>
            <a:ext cx="276606" cy="276606"/>
          </a:xfrm>
          <a:prstGeom prst="rect">
            <a:avLst/>
          </a:prstGeom>
        </p:spPr>
      </p:pic>
      <p:sp>
        <p:nvSpPr>
          <p:cNvPr id="34" name="Text 26"/>
          <p:cNvSpPr/>
          <p:nvPr/>
        </p:nvSpPr>
        <p:spPr>
          <a:xfrm>
            <a:off x="8336280" y="4754880"/>
            <a:ext cx="3048000" cy="36576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Hospital Administration</a:t>
            </a:r>
            <a:endParaRPr lang="en-US" sz="1300" dirty="0"/>
          </a:p>
        </p:txBody>
      </p:sp>
      <p:sp>
        <p:nvSpPr>
          <p:cNvPr id="35" name="Text 27"/>
          <p:cNvSpPr/>
          <p:nvPr/>
        </p:nvSpPr>
        <p:spPr>
          <a:xfrm>
            <a:off x="8336280" y="5129784"/>
            <a:ext cx="3048000" cy="502920"/>
          </a:xfrm>
          <a:prstGeom prst="rect">
            <a:avLst/>
          </a:prstGeom>
          <a:noFill/>
          <a:ln/>
        </p:spPr>
        <p:txBody>
          <a:bodyPr wrap="square" rtlCol="0" anchor="ctr"/>
          <a:lstStyle/>
          <a:p>
            <a:pPr marL="0" indent="0">
              <a:lnSpc>
                <a:spcPct val="110000"/>
              </a:lnSpc>
              <a:buNone/>
            </a:pPr>
            <a:r>
              <a:rPr lang="en-US" sz="960" dirty="0">
                <a:solidFill>
                  <a:srgbClr val="B9CBCB"/>
                </a:solidFill>
                <a:latin typeface="Calibri" pitchFamily="34" charset="0"/>
                <a:ea typeface="Calibri" pitchFamily="34" charset="-122"/>
                <a:cs typeface="Calibri" pitchFamily="34" charset="-120"/>
              </a:rPr>
              <a:t>A tool that reduces manual coordination and strengthens institutional image.</a:t>
            </a:r>
            <a:endParaRPr lang="en-US" sz="960" dirty="0"/>
          </a:p>
        </p:txBody>
      </p:sp>
      <p:pic>
        <p:nvPicPr>
          <p:cNvPr id="36" name="Image 6" descr="/home/claude/hospital/icons/logo_cross_teal.png"/>
          <p:cNvPicPr>
            <a:picLocks noChangeAspect="1"/>
          </p:cNvPicPr>
          <p:nvPr/>
        </p:nvPicPr>
        <p:blipFill>
          <a:blip r:embed="rId9"/>
          <a:stretch>
            <a:fillRect/>
          </a:stretch>
        </p:blipFill>
        <p:spPr>
          <a:xfrm>
            <a:off x="457200" y="6473952"/>
            <a:ext cx="201168" cy="201168"/>
          </a:xfrm>
          <a:prstGeom prst="rect">
            <a:avLst/>
          </a:prstGeom>
        </p:spPr>
      </p:pic>
      <p:sp>
        <p:nvSpPr>
          <p:cNvPr id="37" name="Text 28"/>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8" name="Text 29"/>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STRATEGIC FOUNDATION</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Website Objectives</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marL="0" indent="0" algn="r">
              <a:buNone/>
            </a:pPr>
            <a:r>
              <a:rPr lang="en-US" sz="1000" b="1"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80160"/>
            <a:ext cx="10058400" cy="365760"/>
          </a:xfrm>
          <a:prstGeom prst="rect">
            <a:avLst/>
          </a:prstGeom>
          <a:noFill/>
          <a:ln/>
        </p:spPr>
        <p:txBody>
          <a:bodyPr wrap="square" rtlCol="0" anchor="ctr"/>
          <a:lstStyle/>
          <a:p>
            <a:pPr marL="0" indent="0">
              <a:buNone/>
            </a:pPr>
            <a:r>
              <a:rPr lang="en-US" sz="1250" i="1" dirty="0">
                <a:solidFill>
                  <a:srgbClr val="5B6B73"/>
                </a:solidFill>
                <a:latin typeface="Calibri" pitchFamily="34" charset="0"/>
                <a:ea typeface="Calibri" pitchFamily="34" charset="-122"/>
                <a:cs typeface="Calibri" pitchFamily="34" charset="-120"/>
              </a:rPr>
              <a:t>Beyond information — the site is engineered to move visitors toward action.</a:t>
            </a:r>
            <a:endParaRPr lang="en-US" sz="1250" dirty="0"/>
          </a:p>
        </p:txBody>
      </p:sp>
      <p:sp>
        <p:nvSpPr>
          <p:cNvPr id="7" name="Shape 4"/>
          <p:cNvSpPr/>
          <p:nvPr/>
        </p:nvSpPr>
        <p:spPr>
          <a:xfrm>
            <a:off x="548640" y="1874520"/>
            <a:ext cx="11064240" cy="960120"/>
          </a:xfrm>
          <a:prstGeom prst="roundRect">
            <a:avLst>
              <a:gd name="adj" fmla="val 8571"/>
            </a:avLst>
          </a:prstGeom>
          <a:solidFill>
            <a:srgbClr val="F2F7F7"/>
          </a:solidFill>
          <a:ln w="12700">
            <a:solidFill>
              <a:srgbClr val="DCE7E7"/>
            </a:solidFill>
            <a:prstDash val="solid"/>
          </a:ln>
        </p:spPr>
        <p:txBody>
          <a:bodyPr/>
          <a:lstStyle/>
          <a:p>
            <a:endParaRPr lang="en-US"/>
          </a:p>
        </p:txBody>
      </p:sp>
      <p:sp>
        <p:nvSpPr>
          <p:cNvPr id="8" name="Shape 5"/>
          <p:cNvSpPr/>
          <p:nvPr/>
        </p:nvSpPr>
        <p:spPr>
          <a:xfrm>
            <a:off x="777240" y="2071116"/>
            <a:ext cx="566928" cy="566928"/>
          </a:xfrm>
          <a:prstGeom prst="ellipse">
            <a:avLst/>
          </a:prstGeom>
          <a:solidFill>
            <a:srgbClr val="0E7C86"/>
          </a:solidFill>
          <a:ln/>
        </p:spPr>
        <p:txBody>
          <a:bodyPr/>
          <a:lstStyle/>
          <a:p>
            <a:endParaRPr lang="en-US"/>
          </a:p>
        </p:txBody>
      </p:sp>
      <p:pic>
        <p:nvPicPr>
          <p:cNvPr id="9" name="Image 1" descr="/home/claude/hospital/icons/route_white.png"/>
          <p:cNvPicPr>
            <a:picLocks noChangeAspect="1"/>
          </p:cNvPicPr>
          <p:nvPr/>
        </p:nvPicPr>
        <p:blipFill>
          <a:blip r:embed="rId4"/>
          <a:stretch>
            <a:fillRect/>
          </a:stretch>
        </p:blipFill>
        <p:spPr>
          <a:xfrm>
            <a:off x="904799" y="2198675"/>
            <a:ext cx="311810" cy="311810"/>
          </a:xfrm>
          <a:prstGeom prst="rect">
            <a:avLst/>
          </a:prstGeom>
        </p:spPr>
      </p:pic>
      <p:sp>
        <p:nvSpPr>
          <p:cNvPr id="10" name="Text 6"/>
          <p:cNvSpPr/>
          <p:nvPr/>
        </p:nvSpPr>
        <p:spPr>
          <a:xfrm>
            <a:off x="1600200" y="1984248"/>
            <a:ext cx="3291840" cy="740664"/>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Guide the Visitor Journey</a:t>
            </a:r>
            <a:endParaRPr lang="en-US" sz="1350" dirty="0"/>
          </a:p>
        </p:txBody>
      </p:sp>
      <p:sp>
        <p:nvSpPr>
          <p:cNvPr id="11" name="Text 7"/>
          <p:cNvSpPr/>
          <p:nvPr/>
        </p:nvSpPr>
        <p:spPr>
          <a:xfrm>
            <a:off x="5029200" y="1984248"/>
            <a:ext cx="6309360" cy="740664"/>
          </a:xfrm>
          <a:prstGeom prst="rect">
            <a:avLst/>
          </a:prstGeom>
          <a:noFill/>
          <a:ln/>
        </p:spPr>
        <p:txBody>
          <a:bodyPr wrap="square" rtlCol="0" anchor="ctr"/>
          <a:lstStyle/>
          <a:p>
            <a:pPr marL="0" indent="0">
              <a:lnSpc>
                <a:spcPct val="110000"/>
              </a:lnSpc>
              <a:buNone/>
            </a:pPr>
            <a:r>
              <a:rPr lang="en-US" sz="1150" dirty="0">
                <a:solidFill>
                  <a:srgbClr val="1B2B34"/>
                </a:solidFill>
                <a:latin typeface="Calibri" pitchFamily="34" charset="0"/>
                <a:ea typeface="Calibri" pitchFamily="34" charset="-122"/>
                <a:cs typeface="Calibri" pitchFamily="34" charset="-120"/>
              </a:rPr>
              <a:t>Lead users smoothly from discovery to a booked appointment with minimal effort.</a:t>
            </a:r>
            <a:endParaRPr lang="en-US" sz="1150" dirty="0"/>
          </a:p>
        </p:txBody>
      </p:sp>
      <p:sp>
        <p:nvSpPr>
          <p:cNvPr id="12" name="Shape 8"/>
          <p:cNvSpPr/>
          <p:nvPr/>
        </p:nvSpPr>
        <p:spPr>
          <a:xfrm>
            <a:off x="548640" y="3063240"/>
            <a:ext cx="11064240" cy="960120"/>
          </a:xfrm>
          <a:prstGeom prst="roundRect">
            <a:avLst>
              <a:gd name="adj" fmla="val 8571"/>
            </a:avLst>
          </a:prstGeom>
          <a:solidFill>
            <a:srgbClr val="FFFFFF"/>
          </a:solidFill>
          <a:ln w="12700">
            <a:solidFill>
              <a:srgbClr val="DCE7E7"/>
            </a:solidFill>
            <a:prstDash val="solid"/>
          </a:ln>
        </p:spPr>
        <p:txBody>
          <a:bodyPr/>
          <a:lstStyle/>
          <a:p>
            <a:endParaRPr lang="en-US"/>
          </a:p>
        </p:txBody>
      </p:sp>
      <p:sp>
        <p:nvSpPr>
          <p:cNvPr id="13" name="Shape 9"/>
          <p:cNvSpPr/>
          <p:nvPr/>
        </p:nvSpPr>
        <p:spPr>
          <a:xfrm>
            <a:off x="777240" y="3259836"/>
            <a:ext cx="566928" cy="566928"/>
          </a:xfrm>
          <a:prstGeom prst="ellipse">
            <a:avLst/>
          </a:prstGeom>
          <a:solidFill>
            <a:srgbClr val="0E7C86"/>
          </a:solidFill>
          <a:ln/>
        </p:spPr>
        <p:txBody>
          <a:bodyPr/>
          <a:lstStyle/>
          <a:p>
            <a:endParaRPr lang="en-US"/>
          </a:p>
        </p:txBody>
      </p:sp>
      <p:pic>
        <p:nvPicPr>
          <p:cNvPr id="14" name="Image 2" descr="/home/claude/hospital/icons/shield_white.png"/>
          <p:cNvPicPr>
            <a:picLocks noChangeAspect="1"/>
          </p:cNvPicPr>
          <p:nvPr/>
        </p:nvPicPr>
        <p:blipFill>
          <a:blip r:embed="rId5"/>
          <a:stretch>
            <a:fillRect/>
          </a:stretch>
        </p:blipFill>
        <p:spPr>
          <a:xfrm>
            <a:off x="904799" y="3387395"/>
            <a:ext cx="311810" cy="311810"/>
          </a:xfrm>
          <a:prstGeom prst="rect">
            <a:avLst/>
          </a:prstGeom>
        </p:spPr>
      </p:pic>
      <p:sp>
        <p:nvSpPr>
          <p:cNvPr id="15" name="Text 10"/>
          <p:cNvSpPr/>
          <p:nvPr/>
        </p:nvSpPr>
        <p:spPr>
          <a:xfrm>
            <a:off x="1600200" y="3172968"/>
            <a:ext cx="3291840" cy="740664"/>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Establish Immediate Trust</a:t>
            </a:r>
            <a:endParaRPr lang="en-US" sz="1350" dirty="0"/>
          </a:p>
        </p:txBody>
      </p:sp>
      <p:sp>
        <p:nvSpPr>
          <p:cNvPr id="16" name="Text 11"/>
          <p:cNvSpPr/>
          <p:nvPr/>
        </p:nvSpPr>
        <p:spPr>
          <a:xfrm>
            <a:off x="5029200" y="3172968"/>
            <a:ext cx="6309360" cy="740664"/>
          </a:xfrm>
          <a:prstGeom prst="rect">
            <a:avLst/>
          </a:prstGeom>
          <a:noFill/>
          <a:ln/>
        </p:spPr>
        <p:txBody>
          <a:bodyPr wrap="square" rtlCol="0" anchor="ctr"/>
          <a:lstStyle/>
          <a:p>
            <a:pPr marL="0" indent="0">
              <a:lnSpc>
                <a:spcPct val="110000"/>
              </a:lnSpc>
              <a:buNone/>
            </a:pPr>
            <a:r>
              <a:rPr lang="en-US" sz="1150" dirty="0">
                <a:solidFill>
                  <a:srgbClr val="1B2B34"/>
                </a:solidFill>
                <a:latin typeface="Calibri" pitchFamily="34" charset="0"/>
                <a:ea typeface="Calibri" pitchFamily="34" charset="-122"/>
                <a:cs typeface="Calibri" pitchFamily="34" charset="-120"/>
              </a:rPr>
              <a:t>Use credentials, testimonials, and professional design to reassure new visitors.</a:t>
            </a:r>
            <a:endParaRPr lang="en-US" sz="1150" dirty="0"/>
          </a:p>
        </p:txBody>
      </p:sp>
      <p:sp>
        <p:nvSpPr>
          <p:cNvPr id="17" name="Shape 12"/>
          <p:cNvSpPr/>
          <p:nvPr/>
        </p:nvSpPr>
        <p:spPr>
          <a:xfrm>
            <a:off x="548640" y="4251960"/>
            <a:ext cx="11064240" cy="960120"/>
          </a:xfrm>
          <a:prstGeom prst="roundRect">
            <a:avLst>
              <a:gd name="adj" fmla="val 8571"/>
            </a:avLst>
          </a:prstGeom>
          <a:solidFill>
            <a:srgbClr val="F2F7F7"/>
          </a:solidFill>
          <a:ln w="12700">
            <a:solidFill>
              <a:srgbClr val="DCE7E7"/>
            </a:solidFill>
            <a:prstDash val="solid"/>
          </a:ln>
        </p:spPr>
        <p:txBody>
          <a:bodyPr/>
          <a:lstStyle/>
          <a:p>
            <a:endParaRPr lang="en-US"/>
          </a:p>
        </p:txBody>
      </p:sp>
      <p:sp>
        <p:nvSpPr>
          <p:cNvPr id="18" name="Shape 13"/>
          <p:cNvSpPr/>
          <p:nvPr/>
        </p:nvSpPr>
        <p:spPr>
          <a:xfrm>
            <a:off x="777240" y="4448556"/>
            <a:ext cx="566928" cy="566928"/>
          </a:xfrm>
          <a:prstGeom prst="ellipse">
            <a:avLst/>
          </a:prstGeom>
          <a:solidFill>
            <a:srgbClr val="0E7C86"/>
          </a:solidFill>
          <a:ln/>
        </p:spPr>
        <p:txBody>
          <a:bodyPr/>
          <a:lstStyle/>
          <a:p>
            <a:endParaRPr lang="en-US"/>
          </a:p>
        </p:txBody>
      </p:sp>
      <p:pic>
        <p:nvPicPr>
          <p:cNvPr id="19" name="Image 3" descr="/home/claude/hospital/icons/search_white.png"/>
          <p:cNvPicPr>
            <a:picLocks noChangeAspect="1"/>
          </p:cNvPicPr>
          <p:nvPr/>
        </p:nvPicPr>
        <p:blipFill>
          <a:blip r:embed="rId6"/>
          <a:stretch>
            <a:fillRect/>
          </a:stretch>
        </p:blipFill>
        <p:spPr>
          <a:xfrm>
            <a:off x="904799" y="4576115"/>
            <a:ext cx="311810" cy="311810"/>
          </a:xfrm>
          <a:prstGeom prst="rect">
            <a:avLst/>
          </a:prstGeom>
        </p:spPr>
      </p:pic>
      <p:sp>
        <p:nvSpPr>
          <p:cNvPr id="20" name="Text 14"/>
          <p:cNvSpPr/>
          <p:nvPr/>
        </p:nvSpPr>
        <p:spPr>
          <a:xfrm>
            <a:off x="1600200" y="4361688"/>
            <a:ext cx="3291840" cy="740664"/>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Centralize Information</a:t>
            </a:r>
            <a:endParaRPr lang="en-US" sz="1350" dirty="0"/>
          </a:p>
        </p:txBody>
      </p:sp>
      <p:sp>
        <p:nvSpPr>
          <p:cNvPr id="21" name="Text 15"/>
          <p:cNvSpPr/>
          <p:nvPr/>
        </p:nvSpPr>
        <p:spPr>
          <a:xfrm>
            <a:off x="5029200" y="4361688"/>
            <a:ext cx="6309360" cy="740664"/>
          </a:xfrm>
          <a:prstGeom prst="rect">
            <a:avLst/>
          </a:prstGeom>
          <a:noFill/>
          <a:ln/>
        </p:spPr>
        <p:txBody>
          <a:bodyPr wrap="square" rtlCol="0" anchor="ctr"/>
          <a:lstStyle/>
          <a:p>
            <a:pPr marL="0" indent="0">
              <a:lnSpc>
                <a:spcPct val="110000"/>
              </a:lnSpc>
              <a:buNone/>
            </a:pPr>
            <a:r>
              <a:rPr lang="en-US" sz="1150" dirty="0">
                <a:solidFill>
                  <a:srgbClr val="1B2B34"/>
                </a:solidFill>
                <a:latin typeface="Calibri" pitchFamily="34" charset="0"/>
                <a:ea typeface="Calibri" pitchFamily="34" charset="-122"/>
                <a:cs typeface="Calibri" pitchFamily="34" charset="-120"/>
              </a:rPr>
              <a:t>Bring services, doctors, departments, and FAQs into one accessible hub.</a:t>
            </a:r>
            <a:endParaRPr lang="en-US" sz="1150" dirty="0"/>
          </a:p>
        </p:txBody>
      </p:sp>
      <p:sp>
        <p:nvSpPr>
          <p:cNvPr id="22" name="Shape 16"/>
          <p:cNvSpPr/>
          <p:nvPr/>
        </p:nvSpPr>
        <p:spPr>
          <a:xfrm>
            <a:off x="548640" y="5440680"/>
            <a:ext cx="11064240" cy="960120"/>
          </a:xfrm>
          <a:prstGeom prst="roundRect">
            <a:avLst>
              <a:gd name="adj" fmla="val 8571"/>
            </a:avLst>
          </a:prstGeom>
          <a:solidFill>
            <a:srgbClr val="FFFFFF"/>
          </a:solidFill>
          <a:ln w="12700">
            <a:solidFill>
              <a:srgbClr val="DCE7E7"/>
            </a:solidFill>
            <a:prstDash val="solid"/>
          </a:ln>
        </p:spPr>
        <p:txBody>
          <a:bodyPr/>
          <a:lstStyle/>
          <a:p>
            <a:endParaRPr lang="en-US"/>
          </a:p>
        </p:txBody>
      </p:sp>
      <p:sp>
        <p:nvSpPr>
          <p:cNvPr id="23" name="Shape 17"/>
          <p:cNvSpPr/>
          <p:nvPr/>
        </p:nvSpPr>
        <p:spPr>
          <a:xfrm>
            <a:off x="777240" y="5637276"/>
            <a:ext cx="566928" cy="566928"/>
          </a:xfrm>
          <a:prstGeom prst="ellipse">
            <a:avLst/>
          </a:prstGeom>
          <a:solidFill>
            <a:srgbClr val="0E7C86"/>
          </a:solidFill>
          <a:ln/>
        </p:spPr>
        <p:txBody>
          <a:bodyPr/>
          <a:lstStyle/>
          <a:p>
            <a:endParaRPr lang="en-US"/>
          </a:p>
        </p:txBody>
      </p:sp>
      <p:pic>
        <p:nvPicPr>
          <p:cNvPr id="24" name="Image 4" descr="/home/claude/hospital/icons/mobile_white.png"/>
          <p:cNvPicPr>
            <a:picLocks noChangeAspect="1"/>
          </p:cNvPicPr>
          <p:nvPr/>
        </p:nvPicPr>
        <p:blipFill>
          <a:blip r:embed="rId7"/>
          <a:stretch>
            <a:fillRect/>
          </a:stretch>
        </p:blipFill>
        <p:spPr>
          <a:xfrm>
            <a:off x="904799" y="5764835"/>
            <a:ext cx="311810" cy="311810"/>
          </a:xfrm>
          <a:prstGeom prst="rect">
            <a:avLst/>
          </a:prstGeom>
        </p:spPr>
      </p:pic>
      <p:sp>
        <p:nvSpPr>
          <p:cNvPr id="25" name="Text 18"/>
          <p:cNvSpPr/>
          <p:nvPr/>
        </p:nvSpPr>
        <p:spPr>
          <a:xfrm>
            <a:off x="1600200" y="5550408"/>
            <a:ext cx="3291840" cy="740664"/>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Deliver Across Devices</a:t>
            </a:r>
            <a:endParaRPr lang="en-US" sz="1350" dirty="0"/>
          </a:p>
        </p:txBody>
      </p:sp>
      <p:sp>
        <p:nvSpPr>
          <p:cNvPr id="26" name="Text 19"/>
          <p:cNvSpPr/>
          <p:nvPr/>
        </p:nvSpPr>
        <p:spPr>
          <a:xfrm>
            <a:off x="5029200" y="5550408"/>
            <a:ext cx="6309360" cy="740664"/>
          </a:xfrm>
          <a:prstGeom prst="rect">
            <a:avLst/>
          </a:prstGeom>
          <a:noFill/>
          <a:ln/>
        </p:spPr>
        <p:txBody>
          <a:bodyPr wrap="square" rtlCol="0" anchor="ctr"/>
          <a:lstStyle/>
          <a:p>
            <a:pPr marL="0" indent="0">
              <a:lnSpc>
                <a:spcPct val="110000"/>
              </a:lnSpc>
              <a:buNone/>
            </a:pPr>
            <a:r>
              <a:rPr lang="en-US" sz="1150" dirty="0">
                <a:solidFill>
                  <a:srgbClr val="1B2B34"/>
                </a:solidFill>
                <a:latin typeface="Calibri" pitchFamily="34" charset="0"/>
                <a:ea typeface="Calibri" pitchFamily="34" charset="-122"/>
                <a:cs typeface="Calibri" pitchFamily="34" charset="-120"/>
              </a:rPr>
              <a:t>Provide a consistent, responsive experience on desktop, tablet, and mobile.</a:t>
            </a:r>
            <a:endParaRPr lang="en-US" sz="1150" dirty="0"/>
          </a:p>
        </p:txBody>
      </p:sp>
      <p:pic>
        <p:nvPicPr>
          <p:cNvPr id="27"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8" name="Text 20"/>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29" name="Text 21"/>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STRATEGIC FOUNDATION</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Competitive Advantages</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marL="0" indent="0" algn="r">
              <a:buNone/>
            </a:pPr>
            <a:r>
              <a:rPr lang="en-US" sz="1000" b="1"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Shape 3"/>
          <p:cNvSpPr/>
          <p:nvPr/>
        </p:nvSpPr>
        <p:spPr>
          <a:xfrm>
            <a:off x="548640" y="1508760"/>
            <a:ext cx="5349240" cy="4572000"/>
          </a:xfrm>
          <a:prstGeom prst="roundRect">
            <a:avLst>
              <a:gd name="adj" fmla="val 180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7" name="Text 4"/>
          <p:cNvSpPr/>
          <p:nvPr/>
        </p:nvSpPr>
        <p:spPr>
          <a:xfrm>
            <a:off x="868680" y="1783080"/>
            <a:ext cx="475488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Experience Advantages</a:t>
            </a:r>
            <a:endParaRPr lang="en-US" sz="1500" dirty="0"/>
          </a:p>
        </p:txBody>
      </p:sp>
      <p:sp>
        <p:nvSpPr>
          <p:cNvPr id="8" name="Text 5"/>
          <p:cNvSpPr/>
          <p:nvPr/>
        </p:nvSpPr>
        <p:spPr>
          <a:xfrm>
            <a:off x="868680" y="2286000"/>
            <a:ext cx="4754880" cy="3566160"/>
          </a:xfrm>
          <a:prstGeom prst="rect">
            <a:avLst/>
          </a:prstGeom>
          <a:noFill/>
          <a:ln/>
        </p:spPr>
        <p:txBody>
          <a:bodyPr wrap="square" rtlCol="0" anchor="t"/>
          <a:lstStyle/>
          <a:p>
            <a:pPr marL="177800" indent="-177800">
              <a:lnSpc>
                <a:spcPct val="108000"/>
              </a:lnSpc>
              <a:spcAft>
                <a:spcPts val="1400"/>
              </a:spcAft>
              <a:buSzPct val="100000"/>
              <a:buChar char="▪"/>
            </a:pPr>
            <a:r>
              <a:rPr lang="en-US" sz="1250" dirty="0">
                <a:solidFill>
                  <a:srgbClr val="1B2B34"/>
                </a:solidFill>
                <a:latin typeface="Calibri" pitchFamily="34" charset="0"/>
                <a:ea typeface="Calibri" pitchFamily="34" charset="-122"/>
                <a:cs typeface="Calibri" pitchFamily="34" charset="-120"/>
              </a:rPr>
              <a:t>Unified experience — services, doctors, and booking in a single flow, unlike fragmented hospital portals.</a:t>
            </a:r>
            <a:endParaRPr lang="en-US" sz="1250" dirty="0"/>
          </a:p>
          <a:p>
            <a:pPr marL="177800" indent="-177800">
              <a:lnSpc>
                <a:spcPct val="108000"/>
              </a:lnSpc>
              <a:spcAft>
                <a:spcPts val="1400"/>
              </a:spcAft>
              <a:buSzPct val="100000"/>
              <a:buChar char="▪"/>
            </a:pPr>
            <a:r>
              <a:rPr lang="en-US" sz="1250" dirty="0">
                <a:solidFill>
                  <a:srgbClr val="1B2B34"/>
                </a:solidFill>
                <a:latin typeface="Calibri" pitchFamily="34" charset="0"/>
                <a:ea typeface="Calibri" pitchFamily="34" charset="-122"/>
                <a:cs typeface="Calibri" pitchFamily="34" charset="-120"/>
              </a:rPr>
              <a:t>Transparency-first doctor profiles build confidence before a patient ever calls.</a:t>
            </a:r>
            <a:endParaRPr lang="en-US" sz="1250" dirty="0"/>
          </a:p>
          <a:p>
            <a:pPr marL="177800" indent="-177800">
              <a:lnSpc>
                <a:spcPct val="108000"/>
              </a:lnSpc>
              <a:spcAft>
                <a:spcPts val="1400"/>
              </a:spcAft>
              <a:buSzPct val="100000"/>
              <a:buChar char="▪"/>
            </a:pPr>
            <a:r>
              <a:rPr lang="en-US" sz="1250" dirty="0">
                <a:solidFill>
                  <a:srgbClr val="1B2B34"/>
                </a:solidFill>
                <a:latin typeface="Calibri" pitchFamily="34" charset="0"/>
                <a:ea typeface="Calibri" pitchFamily="34" charset="-122"/>
                <a:cs typeface="Calibri" pitchFamily="34" charset="-120"/>
              </a:rPr>
              <a:t>Clean, modern visual identity signals clinical quality from the very first impression.</a:t>
            </a:r>
            <a:endParaRPr lang="en-US" sz="1250" dirty="0"/>
          </a:p>
        </p:txBody>
      </p:sp>
      <p:sp>
        <p:nvSpPr>
          <p:cNvPr id="9" name="Shape 6"/>
          <p:cNvSpPr/>
          <p:nvPr/>
        </p:nvSpPr>
        <p:spPr>
          <a:xfrm>
            <a:off x="6172200" y="1508760"/>
            <a:ext cx="5349240" cy="4572000"/>
          </a:xfrm>
          <a:prstGeom prst="roundRect">
            <a:avLst>
              <a:gd name="adj" fmla="val 1800"/>
            </a:avLst>
          </a:prstGeom>
          <a:solidFill>
            <a:srgbClr val="0B2545"/>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0" name="Text 7"/>
          <p:cNvSpPr/>
          <p:nvPr/>
        </p:nvSpPr>
        <p:spPr>
          <a:xfrm>
            <a:off x="6492240" y="1783080"/>
            <a:ext cx="4754880" cy="365760"/>
          </a:xfrm>
          <a:prstGeom prst="rect">
            <a:avLst/>
          </a:prstGeom>
          <a:noFill/>
          <a:ln/>
        </p:spPr>
        <p:txBody>
          <a:bodyPr wrap="square" rtlCol="0" anchor="ctr"/>
          <a:lstStyle/>
          <a:p>
            <a:pPr marL="0" indent="0">
              <a:buNone/>
            </a:pPr>
            <a:r>
              <a:rPr lang="en-US" sz="1500" b="1" dirty="0">
                <a:solidFill>
                  <a:srgbClr val="2EC4B6"/>
                </a:solidFill>
                <a:latin typeface="Cambria" pitchFamily="34" charset="0"/>
                <a:ea typeface="Cambria" pitchFamily="34" charset="-122"/>
                <a:cs typeface="Cambria" pitchFamily="34" charset="-120"/>
              </a:rPr>
              <a:t>Operational Advantages</a:t>
            </a:r>
            <a:endParaRPr lang="en-US" sz="1500" dirty="0"/>
          </a:p>
        </p:txBody>
      </p:sp>
      <p:sp>
        <p:nvSpPr>
          <p:cNvPr id="11" name="Text 8"/>
          <p:cNvSpPr/>
          <p:nvPr/>
        </p:nvSpPr>
        <p:spPr>
          <a:xfrm>
            <a:off x="6492240" y="2286000"/>
            <a:ext cx="4754880" cy="3566160"/>
          </a:xfrm>
          <a:prstGeom prst="rect">
            <a:avLst/>
          </a:prstGeom>
          <a:noFill/>
          <a:ln/>
        </p:spPr>
        <p:txBody>
          <a:bodyPr wrap="square" rtlCol="0" anchor="t"/>
          <a:lstStyle/>
          <a:p>
            <a:pPr marL="177800" indent="-177800">
              <a:lnSpc>
                <a:spcPct val="108000"/>
              </a:lnSpc>
              <a:spcAft>
                <a:spcPts val="1400"/>
              </a:spcAft>
              <a:buSzPct val="100000"/>
              <a:buChar char="▪"/>
            </a:pPr>
            <a:r>
              <a:rPr lang="en-US" sz="1250" dirty="0">
                <a:solidFill>
                  <a:srgbClr val="E5EFEF"/>
                </a:solidFill>
                <a:latin typeface="Calibri" pitchFamily="34" charset="0"/>
                <a:ea typeface="Calibri" pitchFamily="34" charset="-122"/>
                <a:cs typeface="Calibri" pitchFamily="34" charset="-120"/>
              </a:rPr>
              <a:t>Self-service appointment booking removes phone-call bottlenecks entirely.</a:t>
            </a:r>
            <a:endParaRPr lang="en-US" sz="1250" dirty="0"/>
          </a:p>
          <a:p>
            <a:pPr marL="177800" indent="-177800">
              <a:lnSpc>
                <a:spcPct val="108000"/>
              </a:lnSpc>
              <a:spcAft>
                <a:spcPts val="1400"/>
              </a:spcAft>
              <a:buSzPct val="100000"/>
              <a:buChar char="▪"/>
            </a:pPr>
            <a:r>
              <a:rPr lang="en-US" sz="1250" dirty="0">
                <a:solidFill>
                  <a:srgbClr val="E5EFEF"/>
                </a:solidFill>
                <a:latin typeface="Calibri" pitchFamily="34" charset="0"/>
                <a:ea typeface="Calibri" pitchFamily="34" charset="-122"/>
                <a:cs typeface="Calibri" pitchFamily="34" charset="-120"/>
              </a:rPr>
              <a:t>Content hub (Blog &amp; FAQ) positions the hospital as an authoritative health resource.</a:t>
            </a:r>
            <a:endParaRPr lang="en-US" sz="1250" dirty="0"/>
          </a:p>
          <a:p>
            <a:pPr marL="177800" indent="-177800">
              <a:lnSpc>
                <a:spcPct val="108000"/>
              </a:lnSpc>
              <a:spcAft>
                <a:spcPts val="1400"/>
              </a:spcAft>
              <a:buSzPct val="100000"/>
              <a:buChar char="▪"/>
            </a:pPr>
            <a:r>
              <a:rPr lang="en-US" sz="1250" dirty="0">
                <a:solidFill>
                  <a:srgbClr val="E5EFEF"/>
                </a:solidFill>
                <a:latin typeface="Calibri" pitchFamily="34" charset="0"/>
                <a:ea typeface="Calibri" pitchFamily="34" charset="-122"/>
                <a:cs typeface="Calibri" pitchFamily="34" charset="-120"/>
              </a:rPr>
              <a:t>Accessible, responsive design reaches patients of every age and device.</a:t>
            </a:r>
            <a:endParaRPr lang="en-US" sz="1250" dirty="0"/>
          </a:p>
        </p:txBody>
      </p:sp>
      <p:pic>
        <p:nvPicPr>
          <p:cNvPr id="12" name="Image 1"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13" name="Text 9"/>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14" name="Text 10"/>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DESIGN FRAMEWORK</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UX / UI Design Principles</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marL="0" indent="0" algn="r">
              <a:buNone/>
            </a:pPr>
            <a:r>
              <a:rPr lang="en-US" sz="1000" b="1"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Shape 3"/>
          <p:cNvSpPr/>
          <p:nvPr/>
        </p:nvSpPr>
        <p:spPr>
          <a:xfrm>
            <a:off x="548640" y="1508760"/>
            <a:ext cx="2574036" cy="2148840"/>
          </a:xfrm>
          <a:prstGeom prst="roundRect">
            <a:avLst>
              <a:gd name="adj" fmla="val 383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7" name="Shape 4"/>
          <p:cNvSpPr/>
          <p:nvPr/>
        </p:nvSpPr>
        <p:spPr>
          <a:xfrm>
            <a:off x="1584198" y="1737360"/>
            <a:ext cx="502920" cy="502920"/>
          </a:xfrm>
          <a:prstGeom prst="ellipse">
            <a:avLst/>
          </a:prstGeom>
          <a:solidFill>
            <a:srgbClr val="0E7C86"/>
          </a:solidFill>
          <a:ln/>
        </p:spPr>
        <p:txBody>
          <a:bodyPr/>
          <a:lstStyle/>
          <a:p>
            <a:endParaRPr lang="en-US"/>
          </a:p>
        </p:txBody>
      </p:sp>
      <p:pic>
        <p:nvPicPr>
          <p:cNvPr id="8" name="Image 1" descr="/home/claude/hospital/icons/layout_white.png"/>
          <p:cNvPicPr>
            <a:picLocks noChangeAspect="1"/>
          </p:cNvPicPr>
          <p:nvPr/>
        </p:nvPicPr>
        <p:blipFill>
          <a:blip r:embed="rId4"/>
          <a:stretch>
            <a:fillRect/>
          </a:stretch>
        </p:blipFill>
        <p:spPr>
          <a:xfrm>
            <a:off x="1697355" y="1850517"/>
            <a:ext cx="276606" cy="276606"/>
          </a:xfrm>
          <a:prstGeom prst="rect">
            <a:avLst/>
          </a:prstGeom>
        </p:spPr>
      </p:pic>
      <p:sp>
        <p:nvSpPr>
          <p:cNvPr id="9" name="Text 5"/>
          <p:cNvSpPr/>
          <p:nvPr/>
        </p:nvSpPr>
        <p:spPr>
          <a:xfrm>
            <a:off x="685800" y="2423160"/>
            <a:ext cx="2299716" cy="411480"/>
          </a:xfrm>
          <a:prstGeom prst="rect">
            <a:avLst/>
          </a:prstGeom>
          <a:noFill/>
          <a:ln/>
        </p:spPr>
        <p:txBody>
          <a:bodyPr wrap="square" rtlCol="0" anchor="ctr"/>
          <a:lstStyle/>
          <a:p>
            <a:pPr marL="0" indent="0" algn="ctr">
              <a:buNone/>
            </a:pPr>
            <a:r>
              <a:rPr lang="en-US" sz="1150" b="1" dirty="0">
                <a:solidFill>
                  <a:srgbClr val="0B2545"/>
                </a:solidFill>
                <a:latin typeface="Cambria" pitchFamily="34" charset="0"/>
                <a:ea typeface="Cambria" pitchFamily="34" charset="-122"/>
                <a:cs typeface="Cambria" pitchFamily="34" charset="-120"/>
              </a:rPr>
              <a:t>Visual Hierarchy</a:t>
            </a:r>
            <a:endParaRPr lang="en-US" sz="1150" dirty="0"/>
          </a:p>
        </p:txBody>
      </p:sp>
      <p:sp>
        <p:nvSpPr>
          <p:cNvPr id="10" name="Text 6"/>
          <p:cNvSpPr/>
          <p:nvPr/>
        </p:nvSpPr>
        <p:spPr>
          <a:xfrm>
            <a:off x="685800" y="2834640"/>
            <a:ext cx="2299716" cy="777240"/>
          </a:xfrm>
          <a:prstGeom prst="rect">
            <a:avLst/>
          </a:prstGeom>
          <a:noFill/>
          <a:ln/>
        </p:spPr>
        <p:txBody>
          <a:bodyPr wrap="square" rtlCol="0" anchor="ctr"/>
          <a:lstStyle/>
          <a:p>
            <a:pPr marL="0" indent="0" algn="ctr">
              <a:lnSpc>
                <a:spcPct val="110000"/>
              </a:lnSpc>
              <a:buNone/>
            </a:pPr>
            <a:r>
              <a:rPr lang="en-US" sz="900" dirty="0">
                <a:solidFill>
                  <a:srgbClr val="5B6B73"/>
                </a:solidFill>
                <a:latin typeface="Calibri" pitchFamily="34" charset="0"/>
                <a:ea typeface="Calibri" pitchFamily="34" charset="-122"/>
                <a:cs typeface="Calibri" pitchFamily="34" charset="-120"/>
              </a:rPr>
              <a:t>Size, color, and spacing direct attention to what matters most on each screen.</a:t>
            </a:r>
            <a:endParaRPr lang="en-US" sz="900" dirty="0"/>
          </a:p>
        </p:txBody>
      </p:sp>
      <p:sp>
        <p:nvSpPr>
          <p:cNvPr id="11" name="Shape 7"/>
          <p:cNvSpPr/>
          <p:nvPr/>
        </p:nvSpPr>
        <p:spPr>
          <a:xfrm>
            <a:off x="3378708" y="1508760"/>
            <a:ext cx="2574036" cy="2148840"/>
          </a:xfrm>
          <a:prstGeom prst="roundRect">
            <a:avLst>
              <a:gd name="adj" fmla="val 383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2" name="Shape 8"/>
          <p:cNvSpPr/>
          <p:nvPr/>
        </p:nvSpPr>
        <p:spPr>
          <a:xfrm>
            <a:off x="4414266" y="1737360"/>
            <a:ext cx="502920" cy="502920"/>
          </a:xfrm>
          <a:prstGeom prst="ellipse">
            <a:avLst/>
          </a:prstGeom>
          <a:solidFill>
            <a:srgbClr val="0E7C86"/>
          </a:solidFill>
          <a:ln/>
        </p:spPr>
        <p:txBody>
          <a:bodyPr/>
          <a:lstStyle/>
          <a:p>
            <a:endParaRPr lang="en-US"/>
          </a:p>
        </p:txBody>
      </p:sp>
      <p:pic>
        <p:nvPicPr>
          <p:cNvPr id="13" name="Image 2" descr="/home/claude/hospital/icons/compass_white.png"/>
          <p:cNvPicPr>
            <a:picLocks noChangeAspect="1"/>
          </p:cNvPicPr>
          <p:nvPr/>
        </p:nvPicPr>
        <p:blipFill>
          <a:blip r:embed="rId5"/>
          <a:stretch>
            <a:fillRect/>
          </a:stretch>
        </p:blipFill>
        <p:spPr>
          <a:xfrm>
            <a:off x="4527423" y="1850517"/>
            <a:ext cx="276606" cy="276606"/>
          </a:xfrm>
          <a:prstGeom prst="rect">
            <a:avLst/>
          </a:prstGeom>
        </p:spPr>
      </p:pic>
      <p:sp>
        <p:nvSpPr>
          <p:cNvPr id="14" name="Text 9"/>
          <p:cNvSpPr/>
          <p:nvPr/>
        </p:nvSpPr>
        <p:spPr>
          <a:xfrm>
            <a:off x="3515868" y="2423160"/>
            <a:ext cx="2299716" cy="411480"/>
          </a:xfrm>
          <a:prstGeom prst="rect">
            <a:avLst/>
          </a:prstGeom>
          <a:noFill/>
          <a:ln/>
        </p:spPr>
        <p:txBody>
          <a:bodyPr wrap="square" rtlCol="0" anchor="ctr"/>
          <a:lstStyle/>
          <a:p>
            <a:pPr marL="0" indent="0" algn="ctr">
              <a:buNone/>
            </a:pPr>
            <a:r>
              <a:rPr lang="en-US" sz="1150" b="1" dirty="0">
                <a:solidFill>
                  <a:srgbClr val="0B2545"/>
                </a:solidFill>
                <a:latin typeface="Cambria" pitchFamily="34" charset="0"/>
                <a:ea typeface="Cambria" pitchFamily="34" charset="-122"/>
                <a:cs typeface="Cambria" pitchFamily="34" charset="-120"/>
              </a:rPr>
              <a:t>Clear Navigation</a:t>
            </a:r>
            <a:endParaRPr lang="en-US" sz="1150" dirty="0"/>
          </a:p>
        </p:txBody>
      </p:sp>
      <p:sp>
        <p:nvSpPr>
          <p:cNvPr id="15" name="Text 10"/>
          <p:cNvSpPr/>
          <p:nvPr/>
        </p:nvSpPr>
        <p:spPr>
          <a:xfrm>
            <a:off x="3515868" y="2834640"/>
            <a:ext cx="2299716" cy="777240"/>
          </a:xfrm>
          <a:prstGeom prst="rect">
            <a:avLst/>
          </a:prstGeom>
          <a:noFill/>
          <a:ln/>
        </p:spPr>
        <p:txBody>
          <a:bodyPr wrap="square" rtlCol="0" anchor="ctr"/>
          <a:lstStyle/>
          <a:p>
            <a:pPr marL="0" indent="0" algn="ctr">
              <a:lnSpc>
                <a:spcPct val="110000"/>
              </a:lnSpc>
              <a:buNone/>
            </a:pPr>
            <a:r>
              <a:rPr lang="en-US" sz="900" dirty="0">
                <a:solidFill>
                  <a:srgbClr val="5B6B73"/>
                </a:solidFill>
                <a:latin typeface="Calibri" pitchFamily="34" charset="0"/>
                <a:ea typeface="Calibri" pitchFamily="34" charset="-122"/>
                <a:cs typeface="Calibri" pitchFamily="34" charset="-120"/>
              </a:rPr>
              <a:t>A persistent header keeps every destination one click away.</a:t>
            </a:r>
            <a:endParaRPr lang="en-US" sz="900" dirty="0"/>
          </a:p>
        </p:txBody>
      </p:sp>
      <p:sp>
        <p:nvSpPr>
          <p:cNvPr id="16" name="Shape 11"/>
          <p:cNvSpPr/>
          <p:nvPr/>
        </p:nvSpPr>
        <p:spPr>
          <a:xfrm>
            <a:off x="6208776" y="1508760"/>
            <a:ext cx="2574036" cy="2148840"/>
          </a:xfrm>
          <a:prstGeom prst="roundRect">
            <a:avLst>
              <a:gd name="adj" fmla="val 383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7" name="Shape 12"/>
          <p:cNvSpPr/>
          <p:nvPr/>
        </p:nvSpPr>
        <p:spPr>
          <a:xfrm>
            <a:off x="7244334" y="1737360"/>
            <a:ext cx="502920" cy="502920"/>
          </a:xfrm>
          <a:prstGeom prst="ellipse">
            <a:avLst/>
          </a:prstGeom>
          <a:solidFill>
            <a:srgbClr val="0E7C86"/>
          </a:solidFill>
          <a:ln/>
        </p:spPr>
        <p:txBody>
          <a:bodyPr/>
          <a:lstStyle/>
          <a:p>
            <a:endParaRPr lang="en-US"/>
          </a:p>
        </p:txBody>
      </p:sp>
      <p:pic>
        <p:nvPicPr>
          <p:cNvPr id="18" name="Image 3" descr="/home/claude/hospital/icons/wheelchair_white.png"/>
          <p:cNvPicPr>
            <a:picLocks noChangeAspect="1"/>
          </p:cNvPicPr>
          <p:nvPr/>
        </p:nvPicPr>
        <p:blipFill>
          <a:blip r:embed="rId6"/>
          <a:stretch>
            <a:fillRect/>
          </a:stretch>
        </p:blipFill>
        <p:spPr>
          <a:xfrm>
            <a:off x="7357491" y="1850517"/>
            <a:ext cx="276606" cy="276606"/>
          </a:xfrm>
          <a:prstGeom prst="rect">
            <a:avLst/>
          </a:prstGeom>
        </p:spPr>
      </p:pic>
      <p:sp>
        <p:nvSpPr>
          <p:cNvPr id="19" name="Text 13"/>
          <p:cNvSpPr/>
          <p:nvPr/>
        </p:nvSpPr>
        <p:spPr>
          <a:xfrm>
            <a:off x="6345936" y="2423160"/>
            <a:ext cx="2299716" cy="411480"/>
          </a:xfrm>
          <a:prstGeom prst="rect">
            <a:avLst/>
          </a:prstGeom>
          <a:noFill/>
          <a:ln/>
        </p:spPr>
        <p:txBody>
          <a:bodyPr wrap="square" rtlCol="0" anchor="ctr"/>
          <a:lstStyle/>
          <a:p>
            <a:pPr marL="0" indent="0" algn="ctr">
              <a:buNone/>
            </a:pPr>
            <a:r>
              <a:rPr lang="en-US" sz="1150" b="1" dirty="0">
                <a:solidFill>
                  <a:srgbClr val="0B2545"/>
                </a:solidFill>
                <a:latin typeface="Cambria" pitchFamily="34" charset="0"/>
                <a:ea typeface="Cambria" pitchFamily="34" charset="-122"/>
                <a:cs typeface="Cambria" pitchFamily="34" charset="-120"/>
              </a:rPr>
              <a:t>Accessibility</a:t>
            </a:r>
            <a:endParaRPr lang="en-US" sz="1150" dirty="0"/>
          </a:p>
        </p:txBody>
      </p:sp>
      <p:sp>
        <p:nvSpPr>
          <p:cNvPr id="20" name="Text 14"/>
          <p:cNvSpPr/>
          <p:nvPr/>
        </p:nvSpPr>
        <p:spPr>
          <a:xfrm>
            <a:off x="6345936" y="2834640"/>
            <a:ext cx="2299716" cy="777240"/>
          </a:xfrm>
          <a:prstGeom prst="rect">
            <a:avLst/>
          </a:prstGeom>
          <a:noFill/>
          <a:ln/>
        </p:spPr>
        <p:txBody>
          <a:bodyPr wrap="square" rtlCol="0" anchor="ctr"/>
          <a:lstStyle/>
          <a:p>
            <a:pPr marL="0" indent="0" algn="ctr">
              <a:lnSpc>
                <a:spcPct val="110000"/>
              </a:lnSpc>
              <a:buNone/>
            </a:pPr>
            <a:r>
              <a:rPr lang="en-US" sz="900" dirty="0">
                <a:solidFill>
                  <a:srgbClr val="5B6B73"/>
                </a:solidFill>
                <a:latin typeface="Calibri" pitchFamily="34" charset="0"/>
                <a:ea typeface="Calibri" pitchFamily="34" charset="-122"/>
                <a:cs typeface="Calibri" pitchFamily="34" charset="-120"/>
              </a:rPr>
              <a:t>Legible type, strong contrast, and simple language serve every age group.</a:t>
            </a:r>
            <a:endParaRPr lang="en-US" sz="900" dirty="0"/>
          </a:p>
        </p:txBody>
      </p:sp>
      <p:sp>
        <p:nvSpPr>
          <p:cNvPr id="21" name="Shape 15"/>
          <p:cNvSpPr/>
          <p:nvPr/>
        </p:nvSpPr>
        <p:spPr>
          <a:xfrm>
            <a:off x="9038844" y="1508760"/>
            <a:ext cx="2574036" cy="2148840"/>
          </a:xfrm>
          <a:prstGeom prst="roundRect">
            <a:avLst>
              <a:gd name="adj" fmla="val 383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22" name="Shape 16"/>
          <p:cNvSpPr/>
          <p:nvPr/>
        </p:nvSpPr>
        <p:spPr>
          <a:xfrm>
            <a:off x="10074402" y="1737360"/>
            <a:ext cx="502920" cy="502920"/>
          </a:xfrm>
          <a:prstGeom prst="ellipse">
            <a:avLst/>
          </a:prstGeom>
          <a:solidFill>
            <a:srgbClr val="0E7C86"/>
          </a:solidFill>
          <a:ln/>
        </p:spPr>
        <p:txBody>
          <a:bodyPr/>
          <a:lstStyle/>
          <a:p>
            <a:endParaRPr lang="en-US"/>
          </a:p>
        </p:txBody>
      </p:sp>
      <p:pic>
        <p:nvPicPr>
          <p:cNvPr id="23" name="Image 4" descr="/home/claude/hospital/icons/mobile_white.png"/>
          <p:cNvPicPr>
            <a:picLocks noChangeAspect="1"/>
          </p:cNvPicPr>
          <p:nvPr/>
        </p:nvPicPr>
        <p:blipFill>
          <a:blip r:embed="rId7"/>
          <a:stretch>
            <a:fillRect/>
          </a:stretch>
        </p:blipFill>
        <p:spPr>
          <a:xfrm>
            <a:off x="10187559" y="1850517"/>
            <a:ext cx="276606" cy="276606"/>
          </a:xfrm>
          <a:prstGeom prst="rect">
            <a:avLst/>
          </a:prstGeom>
        </p:spPr>
      </p:pic>
      <p:sp>
        <p:nvSpPr>
          <p:cNvPr id="24" name="Text 17"/>
          <p:cNvSpPr/>
          <p:nvPr/>
        </p:nvSpPr>
        <p:spPr>
          <a:xfrm>
            <a:off x="9176004" y="2423160"/>
            <a:ext cx="2299716" cy="411480"/>
          </a:xfrm>
          <a:prstGeom prst="rect">
            <a:avLst/>
          </a:prstGeom>
          <a:noFill/>
          <a:ln/>
        </p:spPr>
        <p:txBody>
          <a:bodyPr wrap="square" rtlCol="0" anchor="ctr"/>
          <a:lstStyle/>
          <a:p>
            <a:pPr marL="0" indent="0" algn="ctr">
              <a:buNone/>
            </a:pPr>
            <a:r>
              <a:rPr lang="en-US" sz="1150" b="1" dirty="0">
                <a:solidFill>
                  <a:srgbClr val="0B2545"/>
                </a:solidFill>
                <a:latin typeface="Cambria" pitchFamily="34" charset="0"/>
                <a:ea typeface="Cambria" pitchFamily="34" charset="-122"/>
                <a:cs typeface="Cambria" pitchFamily="34" charset="-120"/>
              </a:rPr>
              <a:t>Responsive Design</a:t>
            </a:r>
            <a:endParaRPr lang="en-US" sz="1150" dirty="0"/>
          </a:p>
        </p:txBody>
      </p:sp>
      <p:sp>
        <p:nvSpPr>
          <p:cNvPr id="25" name="Text 18"/>
          <p:cNvSpPr/>
          <p:nvPr/>
        </p:nvSpPr>
        <p:spPr>
          <a:xfrm>
            <a:off x="9176004" y="2834640"/>
            <a:ext cx="2299716" cy="777240"/>
          </a:xfrm>
          <a:prstGeom prst="rect">
            <a:avLst/>
          </a:prstGeom>
          <a:noFill/>
          <a:ln/>
        </p:spPr>
        <p:txBody>
          <a:bodyPr wrap="square" rtlCol="0" anchor="ctr"/>
          <a:lstStyle/>
          <a:p>
            <a:pPr marL="0" indent="0" algn="ctr">
              <a:lnSpc>
                <a:spcPct val="110000"/>
              </a:lnSpc>
              <a:buNone/>
            </a:pPr>
            <a:r>
              <a:rPr lang="en-US" sz="900" dirty="0">
                <a:solidFill>
                  <a:srgbClr val="5B6B73"/>
                </a:solidFill>
                <a:latin typeface="Calibri" pitchFamily="34" charset="0"/>
                <a:ea typeface="Calibri" pitchFamily="34" charset="-122"/>
                <a:cs typeface="Calibri" pitchFamily="34" charset="-120"/>
              </a:rPr>
              <a:t>Layouts adapt fluidly from desktop to mobile without losing clarity.</a:t>
            </a:r>
            <a:endParaRPr lang="en-US" sz="900" dirty="0"/>
          </a:p>
        </p:txBody>
      </p:sp>
      <p:sp>
        <p:nvSpPr>
          <p:cNvPr id="26" name="Shape 19"/>
          <p:cNvSpPr/>
          <p:nvPr/>
        </p:nvSpPr>
        <p:spPr>
          <a:xfrm>
            <a:off x="548640" y="3913632"/>
            <a:ext cx="2574036" cy="2148840"/>
          </a:xfrm>
          <a:prstGeom prst="roundRect">
            <a:avLst>
              <a:gd name="adj" fmla="val 383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27" name="Shape 20"/>
          <p:cNvSpPr/>
          <p:nvPr/>
        </p:nvSpPr>
        <p:spPr>
          <a:xfrm>
            <a:off x="1584198" y="4142232"/>
            <a:ext cx="502920" cy="502920"/>
          </a:xfrm>
          <a:prstGeom prst="ellipse">
            <a:avLst/>
          </a:prstGeom>
          <a:solidFill>
            <a:srgbClr val="0E7C86"/>
          </a:solidFill>
          <a:ln/>
        </p:spPr>
        <p:txBody>
          <a:bodyPr/>
          <a:lstStyle/>
          <a:p>
            <a:endParaRPr lang="en-US"/>
          </a:p>
        </p:txBody>
      </p:sp>
      <p:pic>
        <p:nvPicPr>
          <p:cNvPr id="28" name="Image 5" descr="/home/claude/hospital/icons/route_white.png"/>
          <p:cNvPicPr>
            <a:picLocks noChangeAspect="1"/>
          </p:cNvPicPr>
          <p:nvPr/>
        </p:nvPicPr>
        <p:blipFill>
          <a:blip r:embed="rId8"/>
          <a:stretch>
            <a:fillRect/>
          </a:stretch>
        </p:blipFill>
        <p:spPr>
          <a:xfrm>
            <a:off x="1697355" y="4255389"/>
            <a:ext cx="276606" cy="276606"/>
          </a:xfrm>
          <a:prstGeom prst="rect">
            <a:avLst/>
          </a:prstGeom>
        </p:spPr>
      </p:pic>
      <p:sp>
        <p:nvSpPr>
          <p:cNvPr id="29" name="Text 21"/>
          <p:cNvSpPr/>
          <p:nvPr/>
        </p:nvSpPr>
        <p:spPr>
          <a:xfrm>
            <a:off x="685800" y="4828032"/>
            <a:ext cx="2299716" cy="411480"/>
          </a:xfrm>
          <a:prstGeom prst="rect">
            <a:avLst/>
          </a:prstGeom>
          <a:noFill/>
          <a:ln/>
        </p:spPr>
        <p:txBody>
          <a:bodyPr wrap="square" rtlCol="0" anchor="ctr"/>
          <a:lstStyle/>
          <a:p>
            <a:pPr marL="0" indent="0" algn="ctr">
              <a:buNone/>
            </a:pPr>
            <a:r>
              <a:rPr lang="en-US" sz="1150" b="1" dirty="0">
                <a:solidFill>
                  <a:srgbClr val="0B2545"/>
                </a:solidFill>
                <a:latin typeface="Cambria" pitchFamily="34" charset="0"/>
                <a:ea typeface="Cambria" pitchFamily="34" charset="-122"/>
                <a:cs typeface="Cambria" pitchFamily="34" charset="-120"/>
              </a:rPr>
              <a:t>Guided User Journey</a:t>
            </a:r>
            <a:endParaRPr lang="en-US" sz="1150" dirty="0"/>
          </a:p>
        </p:txBody>
      </p:sp>
      <p:sp>
        <p:nvSpPr>
          <p:cNvPr id="30" name="Text 22"/>
          <p:cNvSpPr/>
          <p:nvPr/>
        </p:nvSpPr>
        <p:spPr>
          <a:xfrm>
            <a:off x="685800" y="5239512"/>
            <a:ext cx="2299716" cy="777240"/>
          </a:xfrm>
          <a:prstGeom prst="rect">
            <a:avLst/>
          </a:prstGeom>
          <a:noFill/>
          <a:ln/>
        </p:spPr>
        <p:txBody>
          <a:bodyPr wrap="square" rtlCol="0" anchor="ctr"/>
          <a:lstStyle/>
          <a:p>
            <a:pPr marL="0" indent="0" algn="ctr">
              <a:lnSpc>
                <a:spcPct val="110000"/>
              </a:lnSpc>
              <a:buNone/>
            </a:pPr>
            <a:r>
              <a:rPr lang="en-US" sz="900" dirty="0">
                <a:solidFill>
                  <a:srgbClr val="5B6B73"/>
                </a:solidFill>
                <a:latin typeface="Calibri" pitchFamily="34" charset="0"/>
                <a:ea typeface="Calibri" pitchFamily="34" charset="-122"/>
                <a:cs typeface="Calibri" pitchFamily="34" charset="-120"/>
              </a:rPr>
              <a:t>Each page nudges the visitor one logical step closer to booking.</a:t>
            </a:r>
            <a:endParaRPr lang="en-US" sz="900" dirty="0"/>
          </a:p>
        </p:txBody>
      </p:sp>
      <p:sp>
        <p:nvSpPr>
          <p:cNvPr id="31" name="Shape 23"/>
          <p:cNvSpPr/>
          <p:nvPr/>
        </p:nvSpPr>
        <p:spPr>
          <a:xfrm>
            <a:off x="3378708" y="3913632"/>
            <a:ext cx="2574036" cy="2148840"/>
          </a:xfrm>
          <a:prstGeom prst="roundRect">
            <a:avLst>
              <a:gd name="adj" fmla="val 383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32" name="Shape 24"/>
          <p:cNvSpPr/>
          <p:nvPr/>
        </p:nvSpPr>
        <p:spPr>
          <a:xfrm>
            <a:off x="4414266" y="4142232"/>
            <a:ext cx="502920" cy="502920"/>
          </a:xfrm>
          <a:prstGeom prst="ellipse">
            <a:avLst/>
          </a:prstGeom>
          <a:solidFill>
            <a:srgbClr val="0E7C86"/>
          </a:solidFill>
          <a:ln/>
        </p:spPr>
        <p:txBody>
          <a:bodyPr/>
          <a:lstStyle/>
          <a:p>
            <a:endParaRPr lang="en-US"/>
          </a:p>
        </p:txBody>
      </p:sp>
      <p:pic>
        <p:nvPicPr>
          <p:cNvPr id="33" name="Image 6" descr="/home/claude/hospital/icons/target_white.png"/>
          <p:cNvPicPr>
            <a:picLocks noChangeAspect="1"/>
          </p:cNvPicPr>
          <p:nvPr/>
        </p:nvPicPr>
        <p:blipFill>
          <a:blip r:embed="rId9"/>
          <a:stretch>
            <a:fillRect/>
          </a:stretch>
        </p:blipFill>
        <p:spPr>
          <a:xfrm>
            <a:off x="4527423" y="4255389"/>
            <a:ext cx="276606" cy="276606"/>
          </a:xfrm>
          <a:prstGeom prst="rect">
            <a:avLst/>
          </a:prstGeom>
        </p:spPr>
      </p:pic>
      <p:sp>
        <p:nvSpPr>
          <p:cNvPr id="34" name="Text 25"/>
          <p:cNvSpPr/>
          <p:nvPr/>
        </p:nvSpPr>
        <p:spPr>
          <a:xfrm>
            <a:off x="3515868" y="4828032"/>
            <a:ext cx="2299716" cy="411480"/>
          </a:xfrm>
          <a:prstGeom prst="rect">
            <a:avLst/>
          </a:prstGeom>
          <a:noFill/>
          <a:ln/>
        </p:spPr>
        <p:txBody>
          <a:bodyPr wrap="square" rtlCol="0" anchor="ctr"/>
          <a:lstStyle/>
          <a:p>
            <a:pPr marL="0" indent="0" algn="ctr">
              <a:buNone/>
            </a:pPr>
            <a:r>
              <a:rPr lang="en-US" sz="1150" b="1" dirty="0">
                <a:solidFill>
                  <a:srgbClr val="0B2545"/>
                </a:solidFill>
                <a:latin typeface="Cambria" pitchFamily="34" charset="0"/>
                <a:ea typeface="Cambria" pitchFamily="34" charset="-122"/>
                <a:cs typeface="Cambria" pitchFamily="34" charset="-120"/>
              </a:rPr>
              <a:t>Purposeful Calls-to-Action</a:t>
            </a:r>
            <a:endParaRPr lang="en-US" sz="1150" dirty="0"/>
          </a:p>
        </p:txBody>
      </p:sp>
      <p:sp>
        <p:nvSpPr>
          <p:cNvPr id="35" name="Text 26"/>
          <p:cNvSpPr/>
          <p:nvPr/>
        </p:nvSpPr>
        <p:spPr>
          <a:xfrm>
            <a:off x="3515868" y="5239512"/>
            <a:ext cx="2299716" cy="777240"/>
          </a:xfrm>
          <a:prstGeom prst="rect">
            <a:avLst/>
          </a:prstGeom>
          <a:noFill/>
          <a:ln/>
        </p:spPr>
        <p:txBody>
          <a:bodyPr wrap="square" rtlCol="0" anchor="ctr"/>
          <a:lstStyle/>
          <a:p>
            <a:pPr marL="0" indent="0" algn="ctr">
              <a:lnSpc>
                <a:spcPct val="110000"/>
              </a:lnSpc>
              <a:buNone/>
            </a:pPr>
            <a:r>
              <a:rPr lang="en-US" sz="900" dirty="0">
                <a:solidFill>
                  <a:srgbClr val="5B6B73"/>
                </a:solidFill>
                <a:latin typeface="Calibri" pitchFamily="34" charset="0"/>
                <a:ea typeface="Calibri" pitchFamily="34" charset="-122"/>
                <a:cs typeface="Calibri" pitchFamily="34" charset="-120"/>
              </a:rPr>
              <a:t>Every section ends with a clear next step, never a dead end.</a:t>
            </a:r>
            <a:endParaRPr lang="en-US" sz="900" dirty="0"/>
          </a:p>
        </p:txBody>
      </p:sp>
      <p:sp>
        <p:nvSpPr>
          <p:cNvPr id="36" name="Shape 27"/>
          <p:cNvSpPr/>
          <p:nvPr/>
        </p:nvSpPr>
        <p:spPr>
          <a:xfrm>
            <a:off x="6208776" y="3913632"/>
            <a:ext cx="2574036" cy="2148840"/>
          </a:xfrm>
          <a:prstGeom prst="roundRect">
            <a:avLst>
              <a:gd name="adj" fmla="val 383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37" name="Shape 28"/>
          <p:cNvSpPr/>
          <p:nvPr/>
        </p:nvSpPr>
        <p:spPr>
          <a:xfrm>
            <a:off x="7244334" y="4142232"/>
            <a:ext cx="502920" cy="502920"/>
          </a:xfrm>
          <a:prstGeom prst="ellipse">
            <a:avLst/>
          </a:prstGeom>
          <a:solidFill>
            <a:srgbClr val="0E7C86"/>
          </a:solidFill>
          <a:ln/>
        </p:spPr>
        <p:txBody>
          <a:bodyPr/>
          <a:lstStyle/>
          <a:p>
            <a:endParaRPr lang="en-US"/>
          </a:p>
        </p:txBody>
      </p:sp>
      <p:pic>
        <p:nvPicPr>
          <p:cNvPr id="38" name="Image 7" descr="/home/claude/hospital/icons/shield_white.png"/>
          <p:cNvPicPr>
            <a:picLocks noChangeAspect="1"/>
          </p:cNvPicPr>
          <p:nvPr/>
        </p:nvPicPr>
        <p:blipFill>
          <a:blip r:embed="rId10"/>
          <a:stretch>
            <a:fillRect/>
          </a:stretch>
        </p:blipFill>
        <p:spPr>
          <a:xfrm>
            <a:off x="7357491" y="4255389"/>
            <a:ext cx="276606" cy="276606"/>
          </a:xfrm>
          <a:prstGeom prst="rect">
            <a:avLst/>
          </a:prstGeom>
        </p:spPr>
      </p:pic>
      <p:sp>
        <p:nvSpPr>
          <p:cNvPr id="39" name="Text 29"/>
          <p:cNvSpPr/>
          <p:nvPr/>
        </p:nvSpPr>
        <p:spPr>
          <a:xfrm>
            <a:off x="6345936" y="4828032"/>
            <a:ext cx="2299716" cy="411480"/>
          </a:xfrm>
          <a:prstGeom prst="rect">
            <a:avLst/>
          </a:prstGeom>
          <a:noFill/>
          <a:ln/>
        </p:spPr>
        <p:txBody>
          <a:bodyPr wrap="square" rtlCol="0" anchor="ctr"/>
          <a:lstStyle/>
          <a:p>
            <a:pPr marL="0" indent="0" algn="ctr">
              <a:buNone/>
            </a:pPr>
            <a:r>
              <a:rPr lang="en-US" sz="1150" b="1" dirty="0">
                <a:solidFill>
                  <a:srgbClr val="0B2545"/>
                </a:solidFill>
                <a:latin typeface="Cambria" pitchFamily="34" charset="0"/>
                <a:ea typeface="Cambria" pitchFamily="34" charset="-122"/>
                <a:cs typeface="Cambria" pitchFamily="34" charset="-120"/>
              </a:rPr>
              <a:t>Trust Elements</a:t>
            </a:r>
            <a:endParaRPr lang="en-US" sz="1150" dirty="0"/>
          </a:p>
        </p:txBody>
      </p:sp>
      <p:sp>
        <p:nvSpPr>
          <p:cNvPr id="40" name="Text 30"/>
          <p:cNvSpPr/>
          <p:nvPr/>
        </p:nvSpPr>
        <p:spPr>
          <a:xfrm>
            <a:off x="6345936" y="5239512"/>
            <a:ext cx="2299716" cy="777240"/>
          </a:xfrm>
          <a:prstGeom prst="rect">
            <a:avLst/>
          </a:prstGeom>
          <a:noFill/>
          <a:ln/>
        </p:spPr>
        <p:txBody>
          <a:bodyPr wrap="square" rtlCol="0" anchor="ctr"/>
          <a:lstStyle/>
          <a:p>
            <a:pPr marL="0" indent="0" algn="ctr">
              <a:lnSpc>
                <a:spcPct val="110000"/>
              </a:lnSpc>
              <a:buNone/>
            </a:pPr>
            <a:r>
              <a:rPr lang="en-US" sz="900" dirty="0">
                <a:solidFill>
                  <a:srgbClr val="5B6B73"/>
                </a:solidFill>
                <a:latin typeface="Calibri" pitchFamily="34" charset="0"/>
                <a:ea typeface="Calibri" pitchFamily="34" charset="-122"/>
                <a:cs typeface="Calibri" pitchFamily="34" charset="-120"/>
              </a:rPr>
              <a:t>Testimonials, credentials, and clean design reduce patient anxiety.</a:t>
            </a:r>
            <a:endParaRPr lang="en-US" sz="900" dirty="0"/>
          </a:p>
        </p:txBody>
      </p:sp>
      <p:sp>
        <p:nvSpPr>
          <p:cNvPr id="41" name="Shape 31"/>
          <p:cNvSpPr/>
          <p:nvPr/>
        </p:nvSpPr>
        <p:spPr>
          <a:xfrm>
            <a:off x="9038844" y="3913632"/>
            <a:ext cx="2574036" cy="2148840"/>
          </a:xfrm>
          <a:prstGeom prst="roundRect">
            <a:avLst>
              <a:gd name="adj" fmla="val 3830"/>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42" name="Shape 32"/>
          <p:cNvSpPr/>
          <p:nvPr/>
        </p:nvSpPr>
        <p:spPr>
          <a:xfrm>
            <a:off x="10074402" y="4142232"/>
            <a:ext cx="502920" cy="502920"/>
          </a:xfrm>
          <a:prstGeom prst="ellipse">
            <a:avLst/>
          </a:prstGeom>
          <a:solidFill>
            <a:srgbClr val="0E7C86"/>
          </a:solidFill>
          <a:ln/>
        </p:spPr>
        <p:txBody>
          <a:bodyPr/>
          <a:lstStyle/>
          <a:p>
            <a:endParaRPr lang="en-US"/>
          </a:p>
        </p:txBody>
      </p:sp>
      <p:pic>
        <p:nvPicPr>
          <p:cNvPr id="43" name="Image 8" descr="/home/claude/hospital/icons/chart_white.png"/>
          <p:cNvPicPr>
            <a:picLocks noChangeAspect="1"/>
          </p:cNvPicPr>
          <p:nvPr/>
        </p:nvPicPr>
        <p:blipFill>
          <a:blip r:embed="rId11"/>
          <a:stretch>
            <a:fillRect/>
          </a:stretch>
        </p:blipFill>
        <p:spPr>
          <a:xfrm>
            <a:off x="10187559" y="4255389"/>
            <a:ext cx="276606" cy="276606"/>
          </a:xfrm>
          <a:prstGeom prst="rect">
            <a:avLst/>
          </a:prstGeom>
        </p:spPr>
      </p:pic>
      <p:sp>
        <p:nvSpPr>
          <p:cNvPr id="44" name="Text 33"/>
          <p:cNvSpPr/>
          <p:nvPr/>
        </p:nvSpPr>
        <p:spPr>
          <a:xfrm>
            <a:off x="9176004" y="4828032"/>
            <a:ext cx="2299716" cy="411480"/>
          </a:xfrm>
          <a:prstGeom prst="rect">
            <a:avLst/>
          </a:prstGeom>
          <a:noFill/>
          <a:ln/>
        </p:spPr>
        <p:txBody>
          <a:bodyPr wrap="square" rtlCol="0" anchor="ctr"/>
          <a:lstStyle/>
          <a:p>
            <a:pPr marL="0" indent="0" algn="ctr">
              <a:buNone/>
            </a:pPr>
            <a:r>
              <a:rPr lang="en-US" sz="1150" b="1" dirty="0">
                <a:solidFill>
                  <a:srgbClr val="0B2545"/>
                </a:solidFill>
                <a:latin typeface="Cambria" pitchFamily="34" charset="0"/>
                <a:ea typeface="Cambria" pitchFamily="34" charset="-122"/>
                <a:cs typeface="Cambria" pitchFamily="34" charset="-120"/>
              </a:rPr>
              <a:t>Conversion Optimization</a:t>
            </a:r>
            <a:endParaRPr lang="en-US" sz="1150" dirty="0"/>
          </a:p>
        </p:txBody>
      </p:sp>
      <p:sp>
        <p:nvSpPr>
          <p:cNvPr id="45" name="Text 34"/>
          <p:cNvSpPr/>
          <p:nvPr/>
        </p:nvSpPr>
        <p:spPr>
          <a:xfrm>
            <a:off x="9176004" y="5239512"/>
            <a:ext cx="2299716" cy="777240"/>
          </a:xfrm>
          <a:prstGeom prst="rect">
            <a:avLst/>
          </a:prstGeom>
          <a:noFill/>
          <a:ln/>
        </p:spPr>
        <p:txBody>
          <a:bodyPr wrap="square" rtlCol="0" anchor="ctr"/>
          <a:lstStyle/>
          <a:p>
            <a:pPr marL="0" indent="0" algn="ctr">
              <a:lnSpc>
                <a:spcPct val="110000"/>
              </a:lnSpc>
              <a:buNone/>
            </a:pPr>
            <a:r>
              <a:rPr lang="en-US" sz="900" dirty="0">
                <a:solidFill>
                  <a:srgbClr val="5B6B73"/>
                </a:solidFill>
                <a:latin typeface="Calibri" pitchFamily="34" charset="0"/>
                <a:ea typeface="Calibri" pitchFamily="34" charset="-122"/>
                <a:cs typeface="Calibri" pitchFamily="34" charset="-120"/>
              </a:rPr>
              <a:t>Layout and copy are structured to turn visits into appointments.</a:t>
            </a:r>
            <a:endParaRPr lang="en-US" sz="900" dirty="0"/>
          </a:p>
        </p:txBody>
      </p:sp>
      <p:pic>
        <p:nvPicPr>
          <p:cNvPr id="46" name="Image 9"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47" name="Text 35"/>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48" name="Text 36"/>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txBody>
          <a:bodyPr/>
          <a:lstStyle/>
          <a:p>
            <a:endParaRPr lang="en-US"/>
          </a:p>
        </p:txBody>
      </p:sp>
      <p:sp>
        <p:nvSpPr>
          <p:cNvPr id="3" name="Shape 1"/>
          <p:cNvSpPr/>
          <p:nvPr/>
        </p:nvSpPr>
        <p:spPr>
          <a:xfrm>
            <a:off x="10543032" y="4480560"/>
            <a:ext cx="2926080" cy="2926080"/>
          </a:xfrm>
          <a:prstGeom prst="ellipse">
            <a:avLst/>
          </a:prstGeom>
          <a:solidFill>
            <a:srgbClr val="2EC4B6">
              <a:alpha val="30000"/>
            </a:srgbClr>
          </a:solidFill>
          <a:ln/>
        </p:spPr>
        <p:txBody>
          <a:bodyPr/>
          <a:lstStyle/>
          <a:p>
            <a:endParaRPr lang="en-US"/>
          </a:p>
        </p:txBody>
      </p:sp>
      <p:sp>
        <p:nvSpPr>
          <p:cNvPr id="4" name="Text 2"/>
          <p:cNvSpPr/>
          <p:nvPr/>
        </p:nvSpPr>
        <p:spPr>
          <a:xfrm>
            <a:off x="640080" y="2743200"/>
            <a:ext cx="4572000" cy="320040"/>
          </a:xfrm>
          <a:prstGeom prst="rect">
            <a:avLst/>
          </a:prstGeom>
          <a:noFill/>
          <a:ln/>
        </p:spPr>
        <p:txBody>
          <a:bodyPr wrap="square" rtlCol="0" anchor="ctr"/>
          <a:lstStyle/>
          <a:p>
            <a:pPr marL="0" indent="0" algn="l">
              <a:buNone/>
            </a:pPr>
            <a:r>
              <a:rPr lang="en-US" sz="1200" b="1" kern="0" spc="200" dirty="0">
                <a:solidFill>
                  <a:srgbClr val="2EC4B6"/>
                </a:solidFill>
                <a:latin typeface="Calibri" pitchFamily="34" charset="0"/>
                <a:ea typeface="Calibri" pitchFamily="34" charset="-122"/>
                <a:cs typeface="Calibri" pitchFamily="34" charset="-120"/>
              </a:rPr>
              <a:t>PART TWO</a:t>
            </a:r>
            <a:endParaRPr lang="en-US" sz="1200" dirty="0"/>
          </a:p>
        </p:txBody>
      </p:sp>
      <p:sp>
        <p:nvSpPr>
          <p:cNvPr id="5" name="Text 3"/>
          <p:cNvSpPr/>
          <p:nvPr/>
        </p:nvSpPr>
        <p:spPr>
          <a:xfrm>
            <a:off x="640080" y="3063240"/>
            <a:ext cx="91440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Website Walkthrough</a:t>
            </a:r>
            <a:endParaRPr lang="en-US" sz="4000" dirty="0"/>
          </a:p>
        </p:txBody>
      </p:sp>
      <p:sp>
        <p:nvSpPr>
          <p:cNvPr id="6" name="Text 4"/>
          <p:cNvSpPr/>
          <p:nvPr/>
        </p:nvSpPr>
        <p:spPr>
          <a:xfrm>
            <a:off x="658368" y="3886200"/>
            <a:ext cx="8229600" cy="457200"/>
          </a:xfrm>
          <a:prstGeom prst="rect">
            <a:avLst/>
          </a:prstGeom>
          <a:noFill/>
          <a:ln/>
        </p:spPr>
        <p:txBody>
          <a:bodyPr wrap="square" rtlCol="0" anchor="ctr"/>
          <a:lstStyle/>
          <a:p>
            <a:pPr marL="0" indent="0">
              <a:buNone/>
            </a:pPr>
            <a:r>
              <a:rPr lang="en-US" sz="1400" i="1" dirty="0">
                <a:solidFill>
                  <a:srgbClr val="BFD4D4"/>
                </a:solidFill>
                <a:latin typeface="Calibri" pitchFamily="34" charset="0"/>
                <a:ea typeface="Calibri" pitchFamily="34" charset="-122"/>
                <a:cs typeface="Calibri" pitchFamily="34" charset="-120"/>
              </a:rPr>
              <a:t>A section-by-section review of experience, purpose, and business value.</a:t>
            </a:r>
            <a:endParaRPr lang="en-US" sz="1400" dirty="0"/>
          </a:p>
        </p:txBody>
      </p:sp>
      <p:pic>
        <p:nvPicPr>
          <p:cNvPr id="7" name="Image 0"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8" name="Text 5"/>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9" name="Text 6"/>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Header &amp; Navigation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marL="0" indent="0" algn="r">
              <a:buNone/>
            </a:pPr>
            <a:r>
              <a:rPr lang="en-US" sz="1000" b="1" kern="0" spc="100" dirty="0" err="1">
                <a:solidFill>
                  <a:srgbClr val="5B6B73"/>
                </a:solidFill>
                <a:latin typeface="Calibri" pitchFamily="34" charset="0"/>
                <a:ea typeface="Calibri" pitchFamily="34" charset="-122"/>
                <a:cs typeface="Calibri" pitchFamily="34" charset="-120"/>
              </a:rPr>
              <a:t>CaareConnect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The persistent access point that keeps every page one click away.</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compass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Hospital logo and identity mark</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Primary navigation: Home, About, Services, Doctors, Departments, Blog, Contact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Prominent "Book Appointment" button</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Remains visible while scrolling (sticky header)</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compass_white.png"/>
          <p:cNvPicPr>
            <a:picLocks noChangeAspect="1"/>
          </p:cNvPicPr>
          <p:nvPr/>
        </p:nvPicPr>
        <p:blipFill>
          <a:blip r:embed="rId4"/>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Let users reach any page instantly, without hunting through the site.</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chart_white.png"/>
          <p:cNvPicPr>
            <a:picLocks noChangeAspect="1"/>
          </p:cNvPicPr>
          <p:nvPr/>
        </p:nvPicPr>
        <p:blipFill>
          <a:blip r:embed="rId5"/>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Reduces bounce rate by keeping the booking action always in view.</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shield_white.png"/>
          <p:cNvPicPr>
            <a:picLocks noChangeAspect="1"/>
          </p:cNvPicPr>
          <p:nvPr/>
        </p:nvPicPr>
        <p:blipFill>
          <a:blip r:embed="rId6"/>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Trust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A consistent, professional header signals organizational credibility from second one.</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err="1">
                <a:solidFill>
                  <a:srgbClr val="5B6B73"/>
                </a:solidFill>
                <a:latin typeface="Calibri" pitchFamily="34" charset="0"/>
                <a:ea typeface="Calibri" pitchFamily="34" charset="-122"/>
                <a:cs typeface="Calibri" pitchFamily="34" charset="-120"/>
              </a:rPr>
              <a:t>CaareCConnect</a:t>
            </a:r>
            <a:r>
              <a:rPr lang="en-US" sz="850" kern="0" spc="100" dirty="0">
                <a:solidFill>
                  <a:srgbClr val="5B6B73"/>
                </a:solidFill>
                <a:latin typeface="Calibri" pitchFamily="34" charset="0"/>
                <a:ea typeface="Calibri" pitchFamily="34" charset="-122"/>
                <a:cs typeface="Calibri" pitchFamily="34" charset="-120"/>
              </a:rPr>
              <a: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Key Strengths &amp; Value Proposition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marL="0" indent="0" algn="r">
              <a:buNone/>
            </a:pPr>
            <a:r>
              <a:rPr lang="en-US" sz="1000" b="1"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Feature cards and trust signals that answer "why choose this hospital" in seconds.</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trophy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24/7 Emergency Support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Qualified, verified doctors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Modern medical equipment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Online appointment booking</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Affordable, transparent care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Fast diagnosis &amp; safe treatment</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check_white.png"/>
          <p:cNvPicPr>
            <a:picLocks noChangeAspect="1"/>
          </p:cNvPicPr>
          <p:nvPr/>
        </p:nvPicPr>
        <p:blipFill>
          <a:blip r:embed="rId5"/>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Replace long paragraphs with scannable proof points patients absorb in seconds.</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chart_white.png"/>
          <p:cNvPicPr>
            <a:picLocks noChangeAspect="1"/>
          </p:cNvPicPr>
          <p:nvPr/>
        </p:nvPicPr>
        <p:blipFill>
          <a:blip r:embed="rId6"/>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Directly addresses the objections that stop a visitor from booking.</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handshake_white.png"/>
          <p:cNvPicPr>
            <a:picLocks noChangeAspect="1"/>
          </p:cNvPicPr>
          <p:nvPr/>
        </p:nvPicPr>
        <p:blipFill>
          <a:blip r:embed="rId7"/>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Trust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Concrete strengths (equipment, staff, hours) build credibility faster than claims alone.</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About Us Section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marL="0" indent="0" algn="r">
              <a:buNone/>
            </a:pPr>
            <a:r>
              <a:rPr lang="en-US" sz="1000" b="1"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Establishing who the hospital is, and why patients should trust it.</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hospital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Company overview, mission, and vision</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Years of experience and achievements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Professional medical staff overview</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"Read More" link to full About page</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shield_white.png"/>
          <p:cNvPicPr>
            <a:picLocks noChangeAspect="1"/>
          </p:cNvPicPr>
          <p:nvPr/>
        </p:nvPicPr>
        <p:blipFill>
          <a:blip r:embed="rId5"/>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Trust Building</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Answers "who are you" before a patient commits to booking.</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users_white.png"/>
          <p:cNvPicPr>
            <a:picLocks noChangeAspect="1"/>
          </p:cNvPicPr>
          <p:nvPr/>
        </p:nvPicPr>
        <p:blipFill>
          <a:blip r:embed="rId6"/>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Helps patients feel informed and comfortable with their choice of care.</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star_white.png"/>
          <p:cNvPicPr>
            <a:picLocks noChangeAspect="1"/>
          </p:cNvPicPr>
          <p:nvPr/>
        </p:nvPicPr>
        <p:blipFill>
          <a:blip r:embed="rId7"/>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Differentiates the hospital from competitors through credibility, not price.</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Medical Services Section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Organizing every specialty so patients find the right care instantly.</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flask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Cardiology, Neurology, Orthopedics, Pediatrics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Dentistry, Eye Care, Laboratory, Emergency Care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Each service links to a detailed page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Icon-led cards for quick scanning</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search_white.png"/>
          <p:cNvPicPr>
            <a:picLocks noChangeAspect="1"/>
          </p:cNvPicPr>
          <p:nvPr/>
        </p:nvPicPr>
        <p:blipFill>
          <a:blip r:embed="rId5"/>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Let patients self-identify the right specialty without calling to ask.</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route_white.png"/>
          <p:cNvPicPr>
            <a:picLocks noChangeAspect="1"/>
          </p:cNvPicPr>
          <p:nvPr/>
        </p:nvPicPr>
        <p:blipFill>
          <a:blip r:embed="rId6"/>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Navigation Impact</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Routes users directly into the relevant booking flow.</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chart_white.png"/>
          <p:cNvPicPr>
            <a:picLocks noChangeAspect="1"/>
          </p:cNvPicPr>
          <p:nvPr/>
        </p:nvPicPr>
        <p:blipFill>
          <a:blip r:embed="rId7"/>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Conversion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Fewer clicks between "I have a need" and "I booked care".</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marL="0" indent="0" algn="l">
              <a:buNone/>
            </a:pPr>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Doctors Section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Putting a trusted face to every specialty.</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doctor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Professional photo and full name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Medical specialty and credentials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Social media / professional links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Profile button for full doctor page</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handshake_white.png"/>
          <p:cNvPicPr>
            <a:picLocks noChangeAspect="1"/>
          </p:cNvPicPr>
          <p:nvPr/>
        </p:nvPicPr>
        <p:blipFill>
          <a:blip r:embed="rId5"/>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Trust Impact</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Transparency about who will provide care reduces booking anxiety.</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users_white.png"/>
          <p:cNvPicPr>
            <a:picLocks noChangeAspect="1"/>
          </p:cNvPicPr>
          <p:nvPr/>
        </p:nvPicPr>
        <p:blipFill>
          <a:blip r:embed="rId6"/>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Patients can choose a doctor that fits their needs and comfort level.</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chart_white.png"/>
          <p:cNvPicPr>
            <a:picLocks noChangeAspect="1"/>
          </p:cNvPicPr>
          <p:nvPr/>
        </p:nvPicPr>
        <p:blipFill>
          <a:blip r:embed="rId7"/>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Well-presented doctor profiles support referral and reputation growth.</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Appointment Booking Section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The site's core conversion moment — where interest becomes action.</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calendar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Full name, email, and phone number</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Department and doctor selection</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Preferred appointment date and time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Optional message field for context</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clock_white.png"/>
          <p:cNvPicPr>
            <a:picLocks noChangeAspect="1"/>
          </p:cNvPicPr>
          <p:nvPr/>
        </p:nvPicPr>
        <p:blipFill>
          <a:blip r:embed="rId5"/>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Removes phone-call wait times with instant, self-service scheduling.</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gear_white.png"/>
          <p:cNvPicPr>
            <a:picLocks noChangeAspect="1"/>
          </p:cNvPicPr>
          <p:nvPr/>
        </p:nvPicPr>
        <p:blipFill>
          <a:blip r:embed="rId6"/>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Cuts administrative workload by digitizing intake.</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target_white.png"/>
          <p:cNvPicPr>
            <a:picLocks noChangeAspect="1"/>
          </p:cNvPicPr>
          <p:nvPr/>
        </p:nvPicPr>
        <p:blipFill>
          <a:blip r:embed="rId7"/>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Conversion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This is the single most important form on the entire website.</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Statistics &amp; Social Proof</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Numbers that turn credibility into confidence.</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chart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Number of doctors on staff</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Happy patients served</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Medical departments offered</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Successful surgeries &amp; years of experience</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chart_white.png"/>
          <p:cNvPicPr>
            <a:picLocks noChangeAspect="1"/>
          </p:cNvPicPr>
          <p:nvPr/>
        </p:nvPicPr>
        <p:blipFill>
          <a:blip r:embed="rId4"/>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Trust Building</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Quantifiable proof is more persuasive than descriptive claims alone.</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star_white.png"/>
          <p:cNvPicPr>
            <a:picLocks noChangeAspect="1"/>
          </p:cNvPicPr>
          <p:nvPr/>
        </p:nvPicPr>
        <p:blipFill>
          <a:blip r:embed="rId5"/>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Gives hesitant visitors the confidence to move forward with booking.</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trophy_white.png"/>
          <p:cNvPicPr>
            <a:picLocks noChangeAspect="1"/>
          </p:cNvPicPr>
          <p:nvPr/>
        </p:nvPicPr>
        <p:blipFill>
          <a:blip r:embed="rId6"/>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Reinforces scale and experience at a glance, reducing the need to "sell".</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Departments Section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Structuring care by department for faster, clearer navigation.</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building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Cardiology, Neurology, Dentistry, Pediatrics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Radiology, Laboratory, ICU, Surgery</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Each department links to services, doctors, hours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Consistent iconography for quick recognition</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route_white.png"/>
          <p:cNvPicPr>
            <a:picLocks noChangeAspect="1"/>
          </p:cNvPicPr>
          <p:nvPr/>
        </p:nvPicPr>
        <p:blipFill>
          <a:blip r:embed="rId5"/>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Navigation Impact</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Mirrors how patients think about care, not how the hospital is organized internally.</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search_white.png"/>
          <p:cNvPicPr>
            <a:picLocks noChangeAspect="1"/>
          </p:cNvPicPr>
          <p:nvPr/>
        </p:nvPicPr>
        <p:blipFill>
          <a:blip r:embed="rId6"/>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Helps patients self-navigate to the right department in seconds.</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gear_white.png"/>
          <p:cNvPicPr>
            <a:picLocks noChangeAspect="1"/>
          </p:cNvPicPr>
          <p:nvPr/>
        </p:nvPicPr>
        <p:blipFill>
          <a:blip r:embed="rId7"/>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Reduces misrouted inquiries to front-desk and call center staff.</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Patient Testimonials</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Real voices that do the convincing a hospital can't do for itself.</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quote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Patient photo, name, and star rating</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Written feedback describing their experience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Displayed inside a rotating slider</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Highlights outcomes across departments</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quote_white.png"/>
          <p:cNvPicPr>
            <a:picLocks noChangeAspect="1"/>
          </p:cNvPicPr>
          <p:nvPr/>
        </p:nvPicPr>
        <p:blipFill>
          <a:blip r:embed="rId4"/>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Trust Building</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Peer validation is one of the strongest psychological drivers of conversion.</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star_white.png"/>
          <p:cNvPicPr>
            <a:picLocks noChangeAspect="1"/>
          </p:cNvPicPr>
          <p:nvPr/>
        </p:nvPicPr>
        <p:blipFill>
          <a:blip r:embed="rId5"/>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Reduces uncertainty by showing real outcomes from real patients.</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chart_white.png"/>
          <p:cNvPicPr>
            <a:picLocks noChangeAspect="1"/>
          </p:cNvPicPr>
          <p:nvPr/>
        </p:nvPicPr>
        <p:blipFill>
          <a:blip r:embed="rId6"/>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Improves hospital reputation and encourages new patient bookings.</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Blog &amp; Content Strategy</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Positioning the hospital as a trusted source of health knowledge.</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book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Articles on healthy lifestyle &amp; prevention</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Medical technology and nutrition topics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Featured image, author, and publish date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"Read More" linking to full articles</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book_white.png"/>
          <p:cNvPicPr>
            <a:picLocks noChangeAspect="1"/>
          </p:cNvPicPr>
          <p:nvPr/>
        </p:nvPicPr>
        <p:blipFill>
          <a:blip r:embed="rId4"/>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Educates patients and answers questions before they even ask.</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globe_white.png"/>
          <p:cNvPicPr>
            <a:picLocks noChangeAspect="1"/>
          </p:cNvPicPr>
          <p:nvPr/>
        </p:nvPicPr>
        <p:blipFill>
          <a:blip r:embed="rId5"/>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Improves SEO performance and organic search visibility.</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chart_white.png"/>
          <p:cNvPicPr>
            <a:picLocks noChangeAspect="1"/>
          </p:cNvPicPr>
          <p:nvPr/>
        </p:nvPicPr>
        <p:blipFill>
          <a:blip r:embed="rId6"/>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Conversion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Drives repeat visits, keeping the hospital top-of-mind.</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FAQ Section</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Answering the questions that would otherwise become phone calls.</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message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"How can I book an appointment?"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"Do you provide emergency services?"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"What are your working hours?"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Accordion format for easy scanning</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message_white.png"/>
          <p:cNvPicPr>
            <a:picLocks noChangeAspect="1"/>
          </p:cNvPicPr>
          <p:nvPr/>
        </p:nvPicPr>
        <p:blipFill>
          <a:blip r:embed="rId4"/>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Resolves common concerns instantly, without leaving the page.</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gear_white.png"/>
          <p:cNvPicPr>
            <a:picLocks noChangeAspect="1"/>
          </p:cNvPicPr>
          <p:nvPr/>
        </p:nvPicPr>
        <p:blipFill>
          <a:blip r:embed="rId5"/>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Reduces repetitive inbound calls to administrative staff.</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star_white.png"/>
          <p:cNvPicPr>
            <a:picLocks noChangeAspect="1"/>
          </p:cNvPicPr>
          <p:nvPr/>
        </p:nvPicPr>
        <p:blipFill>
          <a:blip r:embed="rId6"/>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Improves satisfaction by respecting the patient's time.</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Contact &amp; Footer</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marL="0" indent="0">
              <a:buNone/>
            </a:pPr>
            <a:r>
              <a:rPr lang="en-US" sz="1250" i="1" dirty="0">
                <a:solidFill>
                  <a:srgbClr val="5B6B73"/>
                </a:solidFill>
                <a:latin typeface="Calibri" pitchFamily="34" charset="0"/>
                <a:ea typeface="Calibri" pitchFamily="34" charset="-122"/>
                <a:cs typeface="Calibri" pitchFamily="34" charset="-120"/>
              </a:rPr>
              <a:t>The safety net that closes every page with a way forward.</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868680" y="2194560"/>
            <a:ext cx="566928" cy="566928"/>
          </a:xfrm>
          <a:prstGeom prst="ellipse">
            <a:avLst/>
          </a:prstGeom>
          <a:solidFill>
            <a:srgbClr val="0E7C86"/>
          </a:solidFill>
          <a:ln/>
        </p:spPr>
        <p:txBody>
          <a:bodyPr/>
          <a:lstStyle/>
          <a:p>
            <a:endParaRPr lang="en-US"/>
          </a:p>
        </p:txBody>
      </p:sp>
      <p:pic>
        <p:nvPicPr>
          <p:cNvPr id="9" name="Image 1" descr="/home/claude/hospital/icons/mail_white.png"/>
          <p:cNvPicPr>
            <a:picLocks noChangeAspect="1"/>
          </p:cNvPicPr>
          <p:nvPr/>
        </p:nvPicPr>
        <p:blipFill>
          <a:blip r:embed="rId4"/>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Address, phone, email, and working hours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Embedded Google Map for directions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Contact form: name, email, subject, message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Footer: quick links, departments, newsletter, social</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4" name="Shape 10"/>
          <p:cNvSpPr/>
          <p:nvPr/>
        </p:nvSpPr>
        <p:spPr>
          <a:xfrm>
            <a:off x="5815584" y="2441448"/>
            <a:ext cx="548640" cy="548640"/>
          </a:xfrm>
          <a:prstGeom prst="ellipse">
            <a:avLst/>
          </a:prstGeom>
          <a:solidFill>
            <a:srgbClr val="0B2545"/>
          </a:solidFill>
          <a:ln/>
        </p:spPr>
        <p:txBody>
          <a:bodyPr/>
          <a:lstStyle/>
          <a:p>
            <a:endParaRPr lang="en-US"/>
          </a:p>
        </p:txBody>
      </p:sp>
      <p:pic>
        <p:nvPicPr>
          <p:cNvPr id="15" name="Image 2" descr="/home/claude/hospital/icons/phone_white.png"/>
          <p:cNvPicPr>
            <a:picLocks noChangeAspect="1"/>
          </p:cNvPicPr>
          <p:nvPr/>
        </p:nvPicPr>
        <p:blipFill>
          <a:blip r:embed="rId5"/>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Guarantees a way to reach the hospital directly, on any page.</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19" name="Shape 14"/>
          <p:cNvSpPr/>
          <p:nvPr/>
        </p:nvSpPr>
        <p:spPr>
          <a:xfrm>
            <a:off x="5815584" y="3337560"/>
            <a:ext cx="548640" cy="548640"/>
          </a:xfrm>
          <a:prstGeom prst="ellipse">
            <a:avLst/>
          </a:prstGeom>
          <a:solidFill>
            <a:srgbClr val="0B2545"/>
          </a:solidFill>
          <a:ln/>
        </p:spPr>
        <p:txBody>
          <a:bodyPr/>
          <a:lstStyle/>
          <a:p>
            <a:endParaRPr lang="en-US"/>
          </a:p>
        </p:txBody>
      </p:sp>
      <p:pic>
        <p:nvPicPr>
          <p:cNvPr id="20" name="Image 3" descr="/home/claude/hospital/icons/map_white.png"/>
          <p:cNvPicPr>
            <a:picLocks noChangeAspect="1"/>
          </p:cNvPicPr>
          <p:nvPr/>
        </p:nvPicPr>
        <p:blipFill>
          <a:blip r:embed="rId6"/>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Removes uncertainty about the hospital's physical location.</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txBody>
          <a:bodyPr/>
          <a:lstStyle/>
          <a:p>
            <a:endParaRPr lang="en-US"/>
          </a:p>
        </p:txBody>
      </p:sp>
      <p:sp>
        <p:nvSpPr>
          <p:cNvPr id="24" name="Shape 18"/>
          <p:cNvSpPr/>
          <p:nvPr/>
        </p:nvSpPr>
        <p:spPr>
          <a:xfrm>
            <a:off x="5815584" y="4233672"/>
            <a:ext cx="548640" cy="548640"/>
          </a:xfrm>
          <a:prstGeom prst="ellipse">
            <a:avLst/>
          </a:prstGeom>
          <a:solidFill>
            <a:srgbClr val="0B2545"/>
          </a:solidFill>
          <a:ln/>
        </p:spPr>
        <p:txBody>
          <a:bodyPr/>
          <a:lstStyle/>
          <a:p>
            <a:endParaRPr lang="en-US"/>
          </a:p>
        </p:txBody>
      </p:sp>
      <p:pic>
        <p:nvPicPr>
          <p:cNvPr id="25" name="Image 4" descr="/home/claude/hospital/icons/route_white.png"/>
          <p:cNvPicPr>
            <a:picLocks noChangeAspect="1"/>
          </p:cNvPicPr>
          <p:nvPr/>
        </p:nvPicPr>
        <p:blipFill>
          <a:blip r:embed="rId7"/>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marL="0" indent="0">
              <a:buNone/>
            </a:pPr>
            <a:r>
              <a:rPr lang="en-US" sz="1150" b="1" dirty="0">
                <a:solidFill>
                  <a:srgbClr val="0A5C63"/>
                </a:solidFill>
                <a:latin typeface="Calibri" pitchFamily="34" charset="0"/>
                <a:ea typeface="Calibri" pitchFamily="34" charset="-122"/>
                <a:cs typeface="Calibri" pitchFamily="34" charset="-120"/>
              </a:rPr>
              <a:t>Navigation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marL="0" indent="0">
              <a:lnSpc>
                <a:spcPct val="100000"/>
              </a:lnSpc>
              <a:buNone/>
            </a:pPr>
            <a:r>
              <a:rPr lang="en-US" sz="1080" dirty="0">
                <a:solidFill>
                  <a:srgbClr val="1B2B34"/>
                </a:solidFill>
                <a:latin typeface="Calibri" pitchFamily="34" charset="0"/>
                <a:ea typeface="Calibri" pitchFamily="34" charset="-122"/>
                <a:cs typeface="Calibri" pitchFamily="34" charset="-120"/>
              </a:rPr>
              <a:t>The footer offers a final safety net before a visitor leaves the site.</a:t>
            </a:r>
            <a:endParaRPr lang="en-US" sz="1080" dirty="0"/>
          </a:p>
        </p:txBody>
      </p:sp>
      <p:pic>
        <p:nvPicPr>
          <p:cNvPr id="28" name="Image 5"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PART THREE</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The Complete Patient Journey</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9144000" cy="365760"/>
          </a:xfrm>
          <a:prstGeom prst="rect">
            <a:avLst/>
          </a:prstGeom>
          <a:noFill/>
          <a:ln/>
        </p:spPr>
        <p:txBody>
          <a:bodyPr wrap="square" rtlCol="0" anchor="ctr"/>
          <a:lstStyle/>
          <a:p>
            <a:pPr marL="0" indent="0">
              <a:buNone/>
            </a:pPr>
            <a:r>
              <a:rPr lang="en-US" sz="1250" i="1" dirty="0">
                <a:solidFill>
                  <a:srgbClr val="5B6B73"/>
                </a:solidFill>
                <a:latin typeface="Calibri" pitchFamily="34" charset="0"/>
                <a:ea typeface="Calibri" pitchFamily="34" charset="-122"/>
                <a:cs typeface="Calibri" pitchFamily="34" charset="-120"/>
              </a:rPr>
              <a:t>Every touchpoint from first click to hospital visit.</a:t>
            </a:r>
            <a:endParaRPr lang="en-US" sz="1250" dirty="0"/>
          </a:p>
        </p:txBody>
      </p:sp>
      <p:sp>
        <p:nvSpPr>
          <p:cNvPr id="7" name="Shape 4"/>
          <p:cNvSpPr/>
          <p:nvPr/>
        </p:nvSpPr>
        <p:spPr>
          <a:xfrm>
            <a:off x="1051560" y="3703320"/>
            <a:ext cx="10058400" cy="0"/>
          </a:xfrm>
          <a:prstGeom prst="line">
            <a:avLst/>
          </a:prstGeom>
          <a:noFill/>
          <a:ln w="38100">
            <a:solidFill>
              <a:srgbClr val="DCE7E7"/>
            </a:solidFill>
            <a:prstDash val="solid"/>
          </a:ln>
        </p:spPr>
        <p:txBody>
          <a:bodyPr/>
          <a:lstStyle/>
          <a:p>
            <a:endParaRPr lang="en-US"/>
          </a:p>
        </p:txBody>
      </p:sp>
      <p:sp>
        <p:nvSpPr>
          <p:cNvPr id="8" name="Shape 5"/>
          <p:cNvSpPr/>
          <p:nvPr/>
        </p:nvSpPr>
        <p:spPr>
          <a:xfrm>
            <a:off x="973183" y="3337560"/>
            <a:ext cx="731520" cy="731520"/>
          </a:xfrm>
          <a:prstGeom prst="ellipse">
            <a:avLst/>
          </a:prstGeom>
          <a:solidFill>
            <a:srgbClr val="0E7C86"/>
          </a:solidFill>
          <a:ln/>
        </p:spPr>
        <p:txBody>
          <a:bodyPr/>
          <a:lstStyle/>
          <a:p>
            <a:endParaRPr lang="en-US"/>
          </a:p>
        </p:txBody>
      </p:sp>
      <p:pic>
        <p:nvPicPr>
          <p:cNvPr id="9" name="Image 1" descr="/home/claude/hospital/icons/compass_white.png"/>
          <p:cNvPicPr>
            <a:picLocks noChangeAspect="1"/>
          </p:cNvPicPr>
          <p:nvPr/>
        </p:nvPicPr>
        <p:blipFill>
          <a:blip r:embed="rId4"/>
          <a:stretch>
            <a:fillRect/>
          </a:stretch>
        </p:blipFill>
        <p:spPr>
          <a:xfrm>
            <a:off x="1156063" y="3520440"/>
            <a:ext cx="365760" cy="365760"/>
          </a:xfrm>
          <a:prstGeom prst="rect">
            <a:avLst/>
          </a:prstGeom>
        </p:spPr>
      </p:pic>
      <p:sp>
        <p:nvSpPr>
          <p:cNvPr id="10" name="Shape 6"/>
          <p:cNvSpPr/>
          <p:nvPr/>
        </p:nvSpPr>
        <p:spPr>
          <a:xfrm>
            <a:off x="918319" y="3282696"/>
            <a:ext cx="841248" cy="841248"/>
          </a:xfrm>
          <a:prstGeom prst="ellipse">
            <a:avLst/>
          </a:prstGeom>
          <a:ln w="38100">
            <a:solidFill>
              <a:srgbClr val="FFFFFF"/>
            </a:solidFill>
            <a:prstDash val="solid"/>
          </a:ln>
        </p:spPr>
        <p:txBody>
          <a:bodyPr/>
          <a:lstStyle/>
          <a:p>
            <a:endParaRPr lang="en-US"/>
          </a:p>
        </p:txBody>
      </p:sp>
      <p:sp>
        <p:nvSpPr>
          <p:cNvPr id="11" name="Text 7"/>
          <p:cNvSpPr/>
          <p:nvPr/>
        </p:nvSpPr>
        <p:spPr>
          <a:xfrm>
            <a:off x="836023" y="2807208"/>
            <a:ext cx="1005840" cy="274320"/>
          </a:xfrm>
          <a:prstGeom prst="rect">
            <a:avLst/>
          </a:prstGeom>
          <a:noFill/>
          <a:ln/>
        </p:spPr>
        <p:txBody>
          <a:bodyPr wrap="square" rtlCol="0" anchor="ctr"/>
          <a:lstStyle/>
          <a:p>
            <a:pPr marL="0" indent="0" algn="ctr">
              <a:buNone/>
            </a:pPr>
            <a:r>
              <a:rPr lang="en-US" sz="1000" b="1" dirty="0">
                <a:solidFill>
                  <a:srgbClr val="0A5C63"/>
                </a:solidFill>
                <a:latin typeface="Calibri" pitchFamily="34" charset="0"/>
                <a:ea typeface="Calibri" pitchFamily="34" charset="-122"/>
                <a:cs typeface="Calibri" pitchFamily="34" charset="-120"/>
              </a:rPr>
              <a:t>1</a:t>
            </a:r>
            <a:endParaRPr lang="en-US" sz="1000" dirty="0"/>
          </a:p>
        </p:txBody>
      </p:sp>
      <p:sp>
        <p:nvSpPr>
          <p:cNvPr id="12" name="Text 8"/>
          <p:cNvSpPr/>
          <p:nvPr/>
        </p:nvSpPr>
        <p:spPr>
          <a:xfrm>
            <a:off x="594360" y="4270248"/>
            <a:ext cx="1489166" cy="365760"/>
          </a:xfrm>
          <a:prstGeom prst="rect">
            <a:avLst/>
          </a:prstGeom>
          <a:noFill/>
          <a:ln/>
        </p:spPr>
        <p:txBody>
          <a:bodyPr wrap="square" rtlCol="0" anchor="ctr"/>
          <a:lstStyle/>
          <a:p>
            <a:pPr marL="0" indent="0" algn="ctr">
              <a:buNone/>
            </a:pPr>
            <a:r>
              <a:rPr lang="en-US" sz="1100" b="1" dirty="0">
                <a:solidFill>
                  <a:srgbClr val="0B2545"/>
                </a:solidFill>
                <a:latin typeface="Cambria" pitchFamily="34" charset="0"/>
                <a:ea typeface="Cambria" pitchFamily="34" charset="-122"/>
                <a:cs typeface="Cambria" pitchFamily="34" charset="-120"/>
              </a:rPr>
              <a:t>Landing Page</a:t>
            </a:r>
            <a:endParaRPr lang="en-US" sz="1100" dirty="0"/>
          </a:p>
        </p:txBody>
      </p:sp>
      <p:sp>
        <p:nvSpPr>
          <p:cNvPr id="13" name="Text 9"/>
          <p:cNvSpPr/>
          <p:nvPr/>
        </p:nvSpPr>
        <p:spPr>
          <a:xfrm>
            <a:off x="594360" y="4617720"/>
            <a:ext cx="1489166" cy="640080"/>
          </a:xfrm>
          <a:prstGeom prst="rect">
            <a:avLst/>
          </a:prstGeom>
          <a:noFill/>
          <a:ln/>
        </p:spPr>
        <p:txBody>
          <a:bodyPr wrap="square" rtlCol="0" anchor="ctr"/>
          <a:lstStyle/>
          <a:p>
            <a:pPr marL="0" indent="0" algn="ctr">
              <a:lnSpc>
                <a:spcPct val="105000"/>
              </a:lnSpc>
              <a:buNone/>
            </a:pPr>
            <a:r>
              <a:rPr lang="en-US" sz="850" dirty="0">
                <a:solidFill>
                  <a:srgbClr val="5B6B73"/>
                </a:solidFill>
                <a:latin typeface="Calibri" pitchFamily="34" charset="0"/>
                <a:ea typeface="Calibri" pitchFamily="34" charset="-122"/>
                <a:cs typeface="Calibri" pitchFamily="34" charset="-120"/>
              </a:rPr>
              <a:t>First impression &amp; orientation</a:t>
            </a:r>
            <a:endParaRPr lang="en-US" sz="850" dirty="0"/>
          </a:p>
        </p:txBody>
      </p:sp>
      <p:sp>
        <p:nvSpPr>
          <p:cNvPr id="14" name="Shape 10"/>
          <p:cNvSpPr/>
          <p:nvPr/>
        </p:nvSpPr>
        <p:spPr>
          <a:xfrm>
            <a:off x="2553789" y="3337560"/>
            <a:ext cx="731520" cy="731520"/>
          </a:xfrm>
          <a:prstGeom prst="ellipse">
            <a:avLst/>
          </a:prstGeom>
          <a:solidFill>
            <a:srgbClr val="0E7C86"/>
          </a:solidFill>
          <a:ln/>
        </p:spPr>
        <p:txBody>
          <a:bodyPr/>
          <a:lstStyle/>
          <a:p>
            <a:endParaRPr lang="en-US"/>
          </a:p>
        </p:txBody>
      </p:sp>
      <p:pic>
        <p:nvPicPr>
          <p:cNvPr id="15" name="Image 2" descr="/home/claude/hospital/icons/search_white.png"/>
          <p:cNvPicPr>
            <a:picLocks noChangeAspect="1"/>
          </p:cNvPicPr>
          <p:nvPr/>
        </p:nvPicPr>
        <p:blipFill>
          <a:blip r:embed="rId5"/>
          <a:stretch>
            <a:fillRect/>
          </a:stretch>
        </p:blipFill>
        <p:spPr>
          <a:xfrm>
            <a:off x="2736669" y="3520440"/>
            <a:ext cx="365760" cy="365760"/>
          </a:xfrm>
          <a:prstGeom prst="rect">
            <a:avLst/>
          </a:prstGeom>
        </p:spPr>
      </p:pic>
      <p:sp>
        <p:nvSpPr>
          <p:cNvPr id="16" name="Shape 11"/>
          <p:cNvSpPr/>
          <p:nvPr/>
        </p:nvSpPr>
        <p:spPr>
          <a:xfrm>
            <a:off x="2498925" y="3282696"/>
            <a:ext cx="841248" cy="841248"/>
          </a:xfrm>
          <a:prstGeom prst="ellipse">
            <a:avLst/>
          </a:prstGeom>
          <a:ln w="38100">
            <a:solidFill>
              <a:srgbClr val="FFFFFF"/>
            </a:solidFill>
            <a:prstDash val="solid"/>
          </a:ln>
        </p:spPr>
        <p:txBody>
          <a:bodyPr/>
          <a:lstStyle/>
          <a:p>
            <a:endParaRPr lang="en-US"/>
          </a:p>
        </p:txBody>
      </p:sp>
      <p:sp>
        <p:nvSpPr>
          <p:cNvPr id="17" name="Text 12"/>
          <p:cNvSpPr/>
          <p:nvPr/>
        </p:nvSpPr>
        <p:spPr>
          <a:xfrm>
            <a:off x="2416629" y="2807208"/>
            <a:ext cx="1005840" cy="274320"/>
          </a:xfrm>
          <a:prstGeom prst="rect">
            <a:avLst/>
          </a:prstGeom>
          <a:noFill/>
          <a:ln/>
        </p:spPr>
        <p:txBody>
          <a:bodyPr wrap="square" rtlCol="0" anchor="ctr"/>
          <a:lstStyle/>
          <a:p>
            <a:pPr marL="0" indent="0" algn="ctr">
              <a:buNone/>
            </a:pPr>
            <a:r>
              <a:rPr lang="en-US" sz="1000" b="1" dirty="0">
                <a:solidFill>
                  <a:srgbClr val="0A5C63"/>
                </a:solidFill>
                <a:latin typeface="Calibri" pitchFamily="34" charset="0"/>
                <a:ea typeface="Calibri" pitchFamily="34" charset="-122"/>
                <a:cs typeface="Calibri" pitchFamily="34" charset="-120"/>
              </a:rPr>
              <a:t>2</a:t>
            </a:r>
            <a:endParaRPr lang="en-US" sz="1000" dirty="0"/>
          </a:p>
        </p:txBody>
      </p:sp>
      <p:sp>
        <p:nvSpPr>
          <p:cNvPr id="18" name="Text 13"/>
          <p:cNvSpPr/>
          <p:nvPr/>
        </p:nvSpPr>
        <p:spPr>
          <a:xfrm>
            <a:off x="2174966" y="4270248"/>
            <a:ext cx="1489166" cy="365760"/>
          </a:xfrm>
          <a:prstGeom prst="rect">
            <a:avLst/>
          </a:prstGeom>
          <a:noFill/>
          <a:ln/>
        </p:spPr>
        <p:txBody>
          <a:bodyPr wrap="square" rtlCol="0" anchor="ctr"/>
          <a:lstStyle/>
          <a:p>
            <a:pPr marL="0" indent="0" algn="ctr">
              <a:buNone/>
            </a:pPr>
            <a:r>
              <a:rPr lang="en-US" sz="1100" b="1" dirty="0">
                <a:solidFill>
                  <a:srgbClr val="0B2545"/>
                </a:solidFill>
                <a:latin typeface="Cambria" pitchFamily="34" charset="0"/>
                <a:ea typeface="Cambria" pitchFamily="34" charset="-122"/>
                <a:cs typeface="Cambria" pitchFamily="34" charset="-120"/>
              </a:rPr>
              <a:t>Explore Services</a:t>
            </a:r>
            <a:endParaRPr lang="en-US" sz="1100" dirty="0"/>
          </a:p>
        </p:txBody>
      </p:sp>
      <p:sp>
        <p:nvSpPr>
          <p:cNvPr id="19" name="Text 14"/>
          <p:cNvSpPr/>
          <p:nvPr/>
        </p:nvSpPr>
        <p:spPr>
          <a:xfrm>
            <a:off x="2174966" y="4617720"/>
            <a:ext cx="1489166" cy="640080"/>
          </a:xfrm>
          <a:prstGeom prst="rect">
            <a:avLst/>
          </a:prstGeom>
          <a:noFill/>
          <a:ln/>
        </p:spPr>
        <p:txBody>
          <a:bodyPr wrap="square" rtlCol="0" anchor="ctr"/>
          <a:lstStyle/>
          <a:p>
            <a:pPr marL="0" indent="0" algn="ctr">
              <a:lnSpc>
                <a:spcPct val="105000"/>
              </a:lnSpc>
              <a:buNone/>
            </a:pPr>
            <a:r>
              <a:rPr lang="en-US" sz="850" dirty="0">
                <a:solidFill>
                  <a:srgbClr val="5B6B73"/>
                </a:solidFill>
                <a:latin typeface="Calibri" pitchFamily="34" charset="0"/>
                <a:ea typeface="Calibri" pitchFamily="34" charset="-122"/>
                <a:cs typeface="Calibri" pitchFamily="34" charset="-120"/>
              </a:rPr>
              <a:t>Discover available care</a:t>
            </a:r>
            <a:endParaRPr lang="en-US" sz="850" dirty="0"/>
          </a:p>
        </p:txBody>
      </p:sp>
      <p:sp>
        <p:nvSpPr>
          <p:cNvPr id="20" name="Shape 15"/>
          <p:cNvSpPr/>
          <p:nvPr/>
        </p:nvSpPr>
        <p:spPr>
          <a:xfrm>
            <a:off x="4134394" y="3337560"/>
            <a:ext cx="731520" cy="731520"/>
          </a:xfrm>
          <a:prstGeom prst="ellipse">
            <a:avLst/>
          </a:prstGeom>
          <a:solidFill>
            <a:srgbClr val="0E7C86"/>
          </a:solidFill>
          <a:ln/>
        </p:spPr>
        <p:txBody>
          <a:bodyPr/>
          <a:lstStyle/>
          <a:p>
            <a:endParaRPr lang="en-US"/>
          </a:p>
        </p:txBody>
      </p:sp>
      <p:pic>
        <p:nvPicPr>
          <p:cNvPr id="21" name="Image 3" descr="/home/claude/hospital/icons/building_white.png"/>
          <p:cNvPicPr>
            <a:picLocks noChangeAspect="1"/>
          </p:cNvPicPr>
          <p:nvPr/>
        </p:nvPicPr>
        <p:blipFill>
          <a:blip r:embed="rId6"/>
          <a:stretch>
            <a:fillRect/>
          </a:stretch>
        </p:blipFill>
        <p:spPr>
          <a:xfrm>
            <a:off x="4317274" y="3520440"/>
            <a:ext cx="365760" cy="365760"/>
          </a:xfrm>
          <a:prstGeom prst="rect">
            <a:avLst/>
          </a:prstGeom>
        </p:spPr>
      </p:pic>
      <p:sp>
        <p:nvSpPr>
          <p:cNvPr id="22" name="Shape 16"/>
          <p:cNvSpPr/>
          <p:nvPr/>
        </p:nvSpPr>
        <p:spPr>
          <a:xfrm>
            <a:off x="4079530" y="3282696"/>
            <a:ext cx="841248" cy="841248"/>
          </a:xfrm>
          <a:prstGeom prst="ellipse">
            <a:avLst/>
          </a:prstGeom>
          <a:ln w="38100">
            <a:solidFill>
              <a:srgbClr val="FFFFFF"/>
            </a:solidFill>
            <a:prstDash val="solid"/>
          </a:ln>
        </p:spPr>
        <p:txBody>
          <a:bodyPr/>
          <a:lstStyle/>
          <a:p>
            <a:endParaRPr lang="en-US"/>
          </a:p>
        </p:txBody>
      </p:sp>
      <p:sp>
        <p:nvSpPr>
          <p:cNvPr id="23" name="Text 17"/>
          <p:cNvSpPr/>
          <p:nvPr/>
        </p:nvSpPr>
        <p:spPr>
          <a:xfrm>
            <a:off x="3997234" y="2807208"/>
            <a:ext cx="1005840" cy="274320"/>
          </a:xfrm>
          <a:prstGeom prst="rect">
            <a:avLst/>
          </a:prstGeom>
          <a:noFill/>
          <a:ln/>
        </p:spPr>
        <p:txBody>
          <a:bodyPr wrap="square" rtlCol="0" anchor="ctr"/>
          <a:lstStyle/>
          <a:p>
            <a:pPr marL="0" indent="0" algn="ctr">
              <a:buNone/>
            </a:pPr>
            <a:r>
              <a:rPr lang="en-US" sz="1000" b="1" dirty="0">
                <a:solidFill>
                  <a:srgbClr val="0A5C63"/>
                </a:solidFill>
                <a:latin typeface="Calibri" pitchFamily="34" charset="0"/>
                <a:ea typeface="Calibri" pitchFamily="34" charset="-122"/>
                <a:cs typeface="Calibri" pitchFamily="34" charset="-120"/>
              </a:rPr>
              <a:t>3</a:t>
            </a:r>
            <a:endParaRPr lang="en-US" sz="1000" dirty="0"/>
          </a:p>
        </p:txBody>
      </p:sp>
      <p:sp>
        <p:nvSpPr>
          <p:cNvPr id="24" name="Text 18"/>
          <p:cNvSpPr/>
          <p:nvPr/>
        </p:nvSpPr>
        <p:spPr>
          <a:xfrm>
            <a:off x="3755571" y="4270248"/>
            <a:ext cx="1489166" cy="365760"/>
          </a:xfrm>
          <a:prstGeom prst="rect">
            <a:avLst/>
          </a:prstGeom>
          <a:noFill/>
          <a:ln/>
        </p:spPr>
        <p:txBody>
          <a:bodyPr wrap="square" rtlCol="0" anchor="ctr"/>
          <a:lstStyle/>
          <a:p>
            <a:pPr marL="0" indent="0" algn="ctr">
              <a:buNone/>
            </a:pPr>
            <a:r>
              <a:rPr lang="en-US" sz="1100" b="1" dirty="0">
                <a:solidFill>
                  <a:srgbClr val="0B2545"/>
                </a:solidFill>
                <a:latin typeface="Cambria" pitchFamily="34" charset="0"/>
                <a:ea typeface="Cambria" pitchFamily="34" charset="-122"/>
                <a:cs typeface="Cambria" pitchFamily="34" charset="-120"/>
              </a:rPr>
              <a:t>Choose Department</a:t>
            </a:r>
            <a:endParaRPr lang="en-US" sz="1100" dirty="0"/>
          </a:p>
        </p:txBody>
      </p:sp>
      <p:sp>
        <p:nvSpPr>
          <p:cNvPr id="25" name="Text 19"/>
          <p:cNvSpPr/>
          <p:nvPr/>
        </p:nvSpPr>
        <p:spPr>
          <a:xfrm>
            <a:off x="3755571" y="4617720"/>
            <a:ext cx="1489166" cy="640080"/>
          </a:xfrm>
          <a:prstGeom prst="rect">
            <a:avLst/>
          </a:prstGeom>
          <a:noFill/>
          <a:ln/>
        </p:spPr>
        <p:txBody>
          <a:bodyPr wrap="square" rtlCol="0" anchor="ctr"/>
          <a:lstStyle/>
          <a:p>
            <a:pPr marL="0" indent="0" algn="ctr">
              <a:lnSpc>
                <a:spcPct val="105000"/>
              </a:lnSpc>
              <a:buNone/>
            </a:pPr>
            <a:r>
              <a:rPr lang="en-US" sz="850" dirty="0">
                <a:solidFill>
                  <a:srgbClr val="5B6B73"/>
                </a:solidFill>
                <a:latin typeface="Calibri" pitchFamily="34" charset="0"/>
                <a:ea typeface="Calibri" pitchFamily="34" charset="-122"/>
                <a:cs typeface="Calibri" pitchFamily="34" charset="-120"/>
              </a:rPr>
              <a:t>Narrow down the specialty</a:t>
            </a:r>
            <a:endParaRPr lang="en-US" sz="850" dirty="0"/>
          </a:p>
        </p:txBody>
      </p:sp>
      <p:sp>
        <p:nvSpPr>
          <p:cNvPr id="26" name="Shape 20"/>
          <p:cNvSpPr/>
          <p:nvPr/>
        </p:nvSpPr>
        <p:spPr>
          <a:xfrm>
            <a:off x="5715000" y="3337560"/>
            <a:ext cx="731520" cy="731520"/>
          </a:xfrm>
          <a:prstGeom prst="ellipse">
            <a:avLst/>
          </a:prstGeom>
          <a:solidFill>
            <a:srgbClr val="0E7C86"/>
          </a:solidFill>
          <a:ln/>
        </p:spPr>
        <p:txBody>
          <a:bodyPr/>
          <a:lstStyle/>
          <a:p>
            <a:endParaRPr lang="en-US"/>
          </a:p>
        </p:txBody>
      </p:sp>
      <p:pic>
        <p:nvPicPr>
          <p:cNvPr id="27" name="Image 4" descr="/home/claude/hospital/icons/doctor_white.png"/>
          <p:cNvPicPr>
            <a:picLocks noChangeAspect="1"/>
          </p:cNvPicPr>
          <p:nvPr/>
        </p:nvPicPr>
        <p:blipFill>
          <a:blip r:embed="rId7"/>
          <a:stretch>
            <a:fillRect/>
          </a:stretch>
        </p:blipFill>
        <p:spPr>
          <a:xfrm>
            <a:off x="5897880" y="3520440"/>
            <a:ext cx="365760" cy="365760"/>
          </a:xfrm>
          <a:prstGeom prst="rect">
            <a:avLst/>
          </a:prstGeom>
        </p:spPr>
      </p:pic>
      <p:sp>
        <p:nvSpPr>
          <p:cNvPr id="28" name="Shape 21"/>
          <p:cNvSpPr/>
          <p:nvPr/>
        </p:nvSpPr>
        <p:spPr>
          <a:xfrm>
            <a:off x="5660136" y="3282696"/>
            <a:ext cx="841248" cy="841248"/>
          </a:xfrm>
          <a:prstGeom prst="ellipse">
            <a:avLst/>
          </a:prstGeom>
          <a:ln w="38100">
            <a:solidFill>
              <a:srgbClr val="FFFFFF"/>
            </a:solidFill>
            <a:prstDash val="solid"/>
          </a:ln>
        </p:spPr>
        <p:txBody>
          <a:bodyPr/>
          <a:lstStyle/>
          <a:p>
            <a:endParaRPr lang="en-US"/>
          </a:p>
        </p:txBody>
      </p:sp>
      <p:sp>
        <p:nvSpPr>
          <p:cNvPr id="29" name="Text 22"/>
          <p:cNvSpPr/>
          <p:nvPr/>
        </p:nvSpPr>
        <p:spPr>
          <a:xfrm>
            <a:off x="5577840" y="2807208"/>
            <a:ext cx="1005840" cy="274320"/>
          </a:xfrm>
          <a:prstGeom prst="rect">
            <a:avLst/>
          </a:prstGeom>
          <a:noFill/>
          <a:ln/>
        </p:spPr>
        <p:txBody>
          <a:bodyPr wrap="square" rtlCol="0" anchor="ctr"/>
          <a:lstStyle/>
          <a:p>
            <a:pPr marL="0" indent="0" algn="ctr">
              <a:buNone/>
            </a:pPr>
            <a:r>
              <a:rPr lang="en-US" sz="1000" b="1" dirty="0">
                <a:solidFill>
                  <a:srgbClr val="0A5C63"/>
                </a:solidFill>
                <a:latin typeface="Calibri" pitchFamily="34" charset="0"/>
                <a:ea typeface="Calibri" pitchFamily="34" charset="-122"/>
                <a:cs typeface="Calibri" pitchFamily="34" charset="-120"/>
              </a:rPr>
              <a:t>4</a:t>
            </a:r>
            <a:endParaRPr lang="en-US" sz="1000" dirty="0"/>
          </a:p>
        </p:txBody>
      </p:sp>
      <p:sp>
        <p:nvSpPr>
          <p:cNvPr id="30" name="Text 23"/>
          <p:cNvSpPr/>
          <p:nvPr/>
        </p:nvSpPr>
        <p:spPr>
          <a:xfrm>
            <a:off x="5336177" y="4270248"/>
            <a:ext cx="1489166" cy="365760"/>
          </a:xfrm>
          <a:prstGeom prst="rect">
            <a:avLst/>
          </a:prstGeom>
          <a:noFill/>
          <a:ln/>
        </p:spPr>
        <p:txBody>
          <a:bodyPr wrap="square" rtlCol="0" anchor="ctr"/>
          <a:lstStyle/>
          <a:p>
            <a:pPr marL="0" indent="0" algn="ctr">
              <a:buNone/>
            </a:pPr>
            <a:r>
              <a:rPr lang="en-US" sz="1100" b="1" dirty="0">
                <a:solidFill>
                  <a:srgbClr val="0B2545"/>
                </a:solidFill>
                <a:latin typeface="Cambria" pitchFamily="34" charset="0"/>
                <a:ea typeface="Cambria" pitchFamily="34" charset="-122"/>
                <a:cs typeface="Cambria" pitchFamily="34" charset="-120"/>
              </a:rPr>
              <a:t>Select Doctor</a:t>
            </a:r>
            <a:endParaRPr lang="en-US" sz="1100" dirty="0"/>
          </a:p>
        </p:txBody>
      </p:sp>
      <p:sp>
        <p:nvSpPr>
          <p:cNvPr id="31" name="Text 24"/>
          <p:cNvSpPr/>
          <p:nvPr/>
        </p:nvSpPr>
        <p:spPr>
          <a:xfrm>
            <a:off x="5336177" y="4617720"/>
            <a:ext cx="1489166" cy="640080"/>
          </a:xfrm>
          <a:prstGeom prst="rect">
            <a:avLst/>
          </a:prstGeom>
          <a:noFill/>
          <a:ln/>
        </p:spPr>
        <p:txBody>
          <a:bodyPr wrap="square" rtlCol="0" anchor="ctr"/>
          <a:lstStyle/>
          <a:p>
            <a:pPr marL="0" indent="0" algn="ctr">
              <a:lnSpc>
                <a:spcPct val="105000"/>
              </a:lnSpc>
              <a:buNone/>
            </a:pPr>
            <a:r>
              <a:rPr lang="en-US" sz="850" dirty="0">
                <a:solidFill>
                  <a:srgbClr val="5B6B73"/>
                </a:solidFill>
                <a:latin typeface="Calibri" pitchFamily="34" charset="0"/>
                <a:ea typeface="Calibri" pitchFamily="34" charset="-122"/>
                <a:cs typeface="Calibri" pitchFamily="34" charset="-120"/>
              </a:rPr>
              <a:t>Pick a trusted provider</a:t>
            </a:r>
            <a:endParaRPr lang="en-US" sz="850" dirty="0"/>
          </a:p>
        </p:txBody>
      </p:sp>
      <p:sp>
        <p:nvSpPr>
          <p:cNvPr id="32" name="Shape 25"/>
          <p:cNvSpPr/>
          <p:nvPr/>
        </p:nvSpPr>
        <p:spPr>
          <a:xfrm>
            <a:off x="7295606" y="3337560"/>
            <a:ext cx="731520" cy="731520"/>
          </a:xfrm>
          <a:prstGeom prst="ellipse">
            <a:avLst/>
          </a:prstGeom>
          <a:solidFill>
            <a:srgbClr val="0E7C86"/>
          </a:solidFill>
          <a:ln/>
        </p:spPr>
        <p:txBody>
          <a:bodyPr/>
          <a:lstStyle/>
          <a:p>
            <a:endParaRPr lang="en-US"/>
          </a:p>
        </p:txBody>
      </p:sp>
      <p:pic>
        <p:nvPicPr>
          <p:cNvPr id="33" name="Image 5" descr="/home/claude/hospital/icons/calendar_white.png"/>
          <p:cNvPicPr>
            <a:picLocks noChangeAspect="1"/>
          </p:cNvPicPr>
          <p:nvPr/>
        </p:nvPicPr>
        <p:blipFill>
          <a:blip r:embed="rId8"/>
          <a:stretch>
            <a:fillRect/>
          </a:stretch>
        </p:blipFill>
        <p:spPr>
          <a:xfrm>
            <a:off x="7478486" y="3520440"/>
            <a:ext cx="365760" cy="365760"/>
          </a:xfrm>
          <a:prstGeom prst="rect">
            <a:avLst/>
          </a:prstGeom>
        </p:spPr>
      </p:pic>
      <p:sp>
        <p:nvSpPr>
          <p:cNvPr id="34" name="Shape 26"/>
          <p:cNvSpPr/>
          <p:nvPr/>
        </p:nvSpPr>
        <p:spPr>
          <a:xfrm>
            <a:off x="7240742" y="3282696"/>
            <a:ext cx="841248" cy="841248"/>
          </a:xfrm>
          <a:prstGeom prst="ellipse">
            <a:avLst/>
          </a:prstGeom>
          <a:ln w="38100">
            <a:solidFill>
              <a:srgbClr val="FFFFFF"/>
            </a:solidFill>
            <a:prstDash val="solid"/>
          </a:ln>
        </p:spPr>
        <p:txBody>
          <a:bodyPr/>
          <a:lstStyle/>
          <a:p>
            <a:endParaRPr lang="en-US"/>
          </a:p>
        </p:txBody>
      </p:sp>
      <p:sp>
        <p:nvSpPr>
          <p:cNvPr id="35" name="Text 27"/>
          <p:cNvSpPr/>
          <p:nvPr/>
        </p:nvSpPr>
        <p:spPr>
          <a:xfrm>
            <a:off x="7158446" y="2807208"/>
            <a:ext cx="1005840" cy="274320"/>
          </a:xfrm>
          <a:prstGeom prst="rect">
            <a:avLst/>
          </a:prstGeom>
          <a:noFill/>
          <a:ln/>
        </p:spPr>
        <p:txBody>
          <a:bodyPr wrap="square" rtlCol="0" anchor="ctr"/>
          <a:lstStyle/>
          <a:p>
            <a:pPr marL="0" indent="0" algn="ctr">
              <a:buNone/>
            </a:pPr>
            <a:r>
              <a:rPr lang="en-US" sz="1000" b="1" dirty="0">
                <a:solidFill>
                  <a:srgbClr val="0A5C63"/>
                </a:solidFill>
                <a:latin typeface="Calibri" pitchFamily="34" charset="0"/>
                <a:ea typeface="Calibri" pitchFamily="34" charset="-122"/>
                <a:cs typeface="Calibri" pitchFamily="34" charset="-120"/>
              </a:rPr>
              <a:t>5</a:t>
            </a:r>
            <a:endParaRPr lang="en-US" sz="1000" dirty="0"/>
          </a:p>
        </p:txBody>
      </p:sp>
      <p:sp>
        <p:nvSpPr>
          <p:cNvPr id="36" name="Text 28"/>
          <p:cNvSpPr/>
          <p:nvPr/>
        </p:nvSpPr>
        <p:spPr>
          <a:xfrm>
            <a:off x="6916783" y="4270248"/>
            <a:ext cx="1489166" cy="365760"/>
          </a:xfrm>
          <a:prstGeom prst="rect">
            <a:avLst/>
          </a:prstGeom>
          <a:noFill/>
          <a:ln/>
        </p:spPr>
        <p:txBody>
          <a:bodyPr wrap="square" rtlCol="0" anchor="ctr"/>
          <a:lstStyle/>
          <a:p>
            <a:pPr marL="0" indent="0" algn="ctr">
              <a:buNone/>
            </a:pPr>
            <a:r>
              <a:rPr lang="en-US" sz="1100" b="1" dirty="0">
                <a:solidFill>
                  <a:srgbClr val="0B2545"/>
                </a:solidFill>
                <a:latin typeface="Cambria" pitchFamily="34" charset="0"/>
                <a:ea typeface="Cambria" pitchFamily="34" charset="-122"/>
                <a:cs typeface="Cambria" pitchFamily="34" charset="-120"/>
              </a:rPr>
              <a:t>Book Appointment</a:t>
            </a:r>
            <a:endParaRPr lang="en-US" sz="1100" dirty="0"/>
          </a:p>
        </p:txBody>
      </p:sp>
      <p:sp>
        <p:nvSpPr>
          <p:cNvPr id="37" name="Text 29"/>
          <p:cNvSpPr/>
          <p:nvPr/>
        </p:nvSpPr>
        <p:spPr>
          <a:xfrm>
            <a:off x="6916783" y="4617720"/>
            <a:ext cx="1489166" cy="640080"/>
          </a:xfrm>
          <a:prstGeom prst="rect">
            <a:avLst/>
          </a:prstGeom>
          <a:noFill/>
          <a:ln/>
        </p:spPr>
        <p:txBody>
          <a:bodyPr wrap="square" rtlCol="0" anchor="ctr"/>
          <a:lstStyle/>
          <a:p>
            <a:pPr marL="0" indent="0" algn="ctr">
              <a:lnSpc>
                <a:spcPct val="105000"/>
              </a:lnSpc>
              <a:buNone/>
            </a:pPr>
            <a:r>
              <a:rPr lang="en-US" sz="850" dirty="0">
                <a:solidFill>
                  <a:srgbClr val="5B6B73"/>
                </a:solidFill>
                <a:latin typeface="Calibri" pitchFamily="34" charset="0"/>
                <a:ea typeface="Calibri" pitchFamily="34" charset="-122"/>
                <a:cs typeface="Calibri" pitchFamily="34" charset="-120"/>
              </a:rPr>
              <a:t>Complete the booking form</a:t>
            </a:r>
            <a:endParaRPr lang="en-US" sz="850" dirty="0"/>
          </a:p>
        </p:txBody>
      </p:sp>
      <p:sp>
        <p:nvSpPr>
          <p:cNvPr id="38" name="Shape 30"/>
          <p:cNvSpPr/>
          <p:nvPr/>
        </p:nvSpPr>
        <p:spPr>
          <a:xfrm>
            <a:off x="8876211" y="3337560"/>
            <a:ext cx="731520" cy="731520"/>
          </a:xfrm>
          <a:prstGeom prst="ellipse">
            <a:avLst/>
          </a:prstGeom>
          <a:solidFill>
            <a:srgbClr val="0E7C86"/>
          </a:solidFill>
          <a:ln/>
        </p:spPr>
        <p:txBody>
          <a:bodyPr/>
          <a:lstStyle/>
          <a:p>
            <a:endParaRPr lang="en-US"/>
          </a:p>
        </p:txBody>
      </p:sp>
      <p:pic>
        <p:nvPicPr>
          <p:cNvPr id="39" name="Image 6" descr="/home/claude/hospital/icons/check_white.png"/>
          <p:cNvPicPr>
            <a:picLocks noChangeAspect="1"/>
          </p:cNvPicPr>
          <p:nvPr/>
        </p:nvPicPr>
        <p:blipFill>
          <a:blip r:embed="rId9"/>
          <a:stretch>
            <a:fillRect/>
          </a:stretch>
        </p:blipFill>
        <p:spPr>
          <a:xfrm>
            <a:off x="9059091" y="3520440"/>
            <a:ext cx="365760" cy="365760"/>
          </a:xfrm>
          <a:prstGeom prst="rect">
            <a:avLst/>
          </a:prstGeom>
        </p:spPr>
      </p:pic>
      <p:sp>
        <p:nvSpPr>
          <p:cNvPr id="40" name="Shape 31"/>
          <p:cNvSpPr/>
          <p:nvPr/>
        </p:nvSpPr>
        <p:spPr>
          <a:xfrm>
            <a:off x="8821347" y="3282696"/>
            <a:ext cx="841248" cy="841248"/>
          </a:xfrm>
          <a:prstGeom prst="ellipse">
            <a:avLst/>
          </a:prstGeom>
          <a:ln w="38100">
            <a:solidFill>
              <a:srgbClr val="FFFFFF"/>
            </a:solidFill>
            <a:prstDash val="solid"/>
          </a:ln>
        </p:spPr>
        <p:txBody>
          <a:bodyPr/>
          <a:lstStyle/>
          <a:p>
            <a:endParaRPr lang="en-US"/>
          </a:p>
        </p:txBody>
      </p:sp>
      <p:sp>
        <p:nvSpPr>
          <p:cNvPr id="41" name="Text 32"/>
          <p:cNvSpPr/>
          <p:nvPr/>
        </p:nvSpPr>
        <p:spPr>
          <a:xfrm>
            <a:off x="8739051" y="2807208"/>
            <a:ext cx="1005840" cy="274320"/>
          </a:xfrm>
          <a:prstGeom prst="rect">
            <a:avLst/>
          </a:prstGeom>
          <a:noFill/>
          <a:ln/>
        </p:spPr>
        <p:txBody>
          <a:bodyPr wrap="square" rtlCol="0" anchor="ctr"/>
          <a:lstStyle/>
          <a:p>
            <a:pPr marL="0" indent="0" algn="ctr">
              <a:buNone/>
            </a:pPr>
            <a:r>
              <a:rPr lang="en-US" sz="1000" b="1" dirty="0">
                <a:solidFill>
                  <a:srgbClr val="0A5C63"/>
                </a:solidFill>
                <a:latin typeface="Calibri" pitchFamily="34" charset="0"/>
                <a:ea typeface="Calibri" pitchFamily="34" charset="-122"/>
                <a:cs typeface="Calibri" pitchFamily="34" charset="-120"/>
              </a:rPr>
              <a:t>6</a:t>
            </a:r>
            <a:endParaRPr lang="en-US" sz="1000" dirty="0"/>
          </a:p>
        </p:txBody>
      </p:sp>
      <p:sp>
        <p:nvSpPr>
          <p:cNvPr id="42" name="Text 33"/>
          <p:cNvSpPr/>
          <p:nvPr/>
        </p:nvSpPr>
        <p:spPr>
          <a:xfrm>
            <a:off x="8497389" y="4270248"/>
            <a:ext cx="1489166" cy="365760"/>
          </a:xfrm>
          <a:prstGeom prst="rect">
            <a:avLst/>
          </a:prstGeom>
          <a:noFill/>
          <a:ln/>
        </p:spPr>
        <p:txBody>
          <a:bodyPr wrap="square" rtlCol="0" anchor="ctr"/>
          <a:lstStyle/>
          <a:p>
            <a:pPr marL="0" indent="0" algn="ctr">
              <a:buNone/>
            </a:pPr>
            <a:r>
              <a:rPr lang="en-US" sz="1100" b="1" dirty="0">
                <a:solidFill>
                  <a:srgbClr val="0B2545"/>
                </a:solidFill>
                <a:latin typeface="Cambria" pitchFamily="34" charset="0"/>
                <a:ea typeface="Cambria" pitchFamily="34" charset="-122"/>
                <a:cs typeface="Cambria" pitchFamily="34" charset="-120"/>
              </a:rPr>
              <a:t>Confirmation</a:t>
            </a:r>
            <a:endParaRPr lang="en-US" sz="1100" dirty="0"/>
          </a:p>
        </p:txBody>
      </p:sp>
      <p:sp>
        <p:nvSpPr>
          <p:cNvPr id="43" name="Text 34"/>
          <p:cNvSpPr/>
          <p:nvPr/>
        </p:nvSpPr>
        <p:spPr>
          <a:xfrm>
            <a:off x="8497389" y="4617720"/>
            <a:ext cx="1489166" cy="640080"/>
          </a:xfrm>
          <a:prstGeom prst="rect">
            <a:avLst/>
          </a:prstGeom>
          <a:noFill/>
          <a:ln/>
        </p:spPr>
        <p:txBody>
          <a:bodyPr wrap="square" rtlCol="0" anchor="ctr"/>
          <a:lstStyle/>
          <a:p>
            <a:pPr marL="0" indent="0" algn="ctr">
              <a:lnSpc>
                <a:spcPct val="105000"/>
              </a:lnSpc>
              <a:buNone/>
            </a:pPr>
            <a:r>
              <a:rPr lang="en-US" sz="850" dirty="0">
                <a:solidFill>
                  <a:srgbClr val="5B6B73"/>
                </a:solidFill>
                <a:latin typeface="Calibri" pitchFamily="34" charset="0"/>
                <a:ea typeface="Calibri" pitchFamily="34" charset="-122"/>
                <a:cs typeface="Calibri" pitchFamily="34" charset="-120"/>
              </a:rPr>
              <a:t>Receive booking confirmation</a:t>
            </a:r>
            <a:endParaRPr lang="en-US" sz="850" dirty="0"/>
          </a:p>
        </p:txBody>
      </p:sp>
      <p:sp>
        <p:nvSpPr>
          <p:cNvPr id="44" name="Shape 35"/>
          <p:cNvSpPr/>
          <p:nvPr/>
        </p:nvSpPr>
        <p:spPr>
          <a:xfrm>
            <a:off x="10456817" y="3337560"/>
            <a:ext cx="731520" cy="731520"/>
          </a:xfrm>
          <a:prstGeom prst="ellipse">
            <a:avLst/>
          </a:prstGeom>
          <a:solidFill>
            <a:srgbClr val="2EC4B6"/>
          </a:solidFill>
          <a:ln/>
        </p:spPr>
        <p:txBody>
          <a:bodyPr/>
          <a:lstStyle/>
          <a:p>
            <a:endParaRPr lang="en-US"/>
          </a:p>
        </p:txBody>
      </p:sp>
      <p:pic>
        <p:nvPicPr>
          <p:cNvPr id="45" name="Image 7" descr="/home/claude/hospital/icons/hospital_white.png"/>
          <p:cNvPicPr>
            <a:picLocks noChangeAspect="1"/>
          </p:cNvPicPr>
          <p:nvPr/>
        </p:nvPicPr>
        <p:blipFill>
          <a:blip r:embed="rId10"/>
          <a:stretch>
            <a:fillRect/>
          </a:stretch>
        </p:blipFill>
        <p:spPr>
          <a:xfrm>
            <a:off x="10639697" y="3520440"/>
            <a:ext cx="365760" cy="365760"/>
          </a:xfrm>
          <a:prstGeom prst="rect">
            <a:avLst/>
          </a:prstGeom>
        </p:spPr>
      </p:pic>
      <p:sp>
        <p:nvSpPr>
          <p:cNvPr id="46" name="Shape 36"/>
          <p:cNvSpPr/>
          <p:nvPr/>
        </p:nvSpPr>
        <p:spPr>
          <a:xfrm>
            <a:off x="10401953" y="3282696"/>
            <a:ext cx="841248" cy="841248"/>
          </a:xfrm>
          <a:prstGeom prst="ellipse">
            <a:avLst/>
          </a:prstGeom>
          <a:ln w="38100">
            <a:solidFill>
              <a:srgbClr val="FFFFFF"/>
            </a:solidFill>
            <a:prstDash val="solid"/>
          </a:ln>
        </p:spPr>
        <p:txBody>
          <a:bodyPr/>
          <a:lstStyle/>
          <a:p>
            <a:endParaRPr lang="en-US"/>
          </a:p>
        </p:txBody>
      </p:sp>
      <p:sp>
        <p:nvSpPr>
          <p:cNvPr id="47" name="Text 37"/>
          <p:cNvSpPr/>
          <p:nvPr/>
        </p:nvSpPr>
        <p:spPr>
          <a:xfrm>
            <a:off x="10319657" y="2807208"/>
            <a:ext cx="1005840" cy="274320"/>
          </a:xfrm>
          <a:prstGeom prst="rect">
            <a:avLst/>
          </a:prstGeom>
          <a:noFill/>
          <a:ln/>
        </p:spPr>
        <p:txBody>
          <a:bodyPr wrap="square" rtlCol="0" anchor="ctr"/>
          <a:lstStyle/>
          <a:p>
            <a:pPr marL="0" indent="0" algn="ctr">
              <a:buNone/>
            </a:pPr>
            <a:r>
              <a:rPr lang="en-US" sz="1000" b="1" dirty="0">
                <a:solidFill>
                  <a:srgbClr val="0A5C63"/>
                </a:solidFill>
                <a:latin typeface="Calibri" pitchFamily="34" charset="0"/>
                <a:ea typeface="Calibri" pitchFamily="34" charset="-122"/>
                <a:cs typeface="Calibri" pitchFamily="34" charset="-120"/>
              </a:rPr>
              <a:t>7</a:t>
            </a:r>
            <a:endParaRPr lang="en-US" sz="1000" dirty="0"/>
          </a:p>
        </p:txBody>
      </p:sp>
      <p:sp>
        <p:nvSpPr>
          <p:cNvPr id="48" name="Text 38"/>
          <p:cNvSpPr/>
          <p:nvPr/>
        </p:nvSpPr>
        <p:spPr>
          <a:xfrm>
            <a:off x="10077994" y="4270248"/>
            <a:ext cx="1489166" cy="365760"/>
          </a:xfrm>
          <a:prstGeom prst="rect">
            <a:avLst/>
          </a:prstGeom>
          <a:noFill/>
          <a:ln/>
        </p:spPr>
        <p:txBody>
          <a:bodyPr wrap="square" rtlCol="0" anchor="ctr"/>
          <a:lstStyle/>
          <a:p>
            <a:pPr marL="0" indent="0" algn="ctr">
              <a:buNone/>
            </a:pPr>
            <a:r>
              <a:rPr lang="en-US" sz="1100" b="1" dirty="0">
                <a:solidFill>
                  <a:srgbClr val="0B2545"/>
                </a:solidFill>
                <a:latin typeface="Cambria" pitchFamily="34" charset="0"/>
                <a:ea typeface="Cambria" pitchFamily="34" charset="-122"/>
                <a:cs typeface="Cambria" pitchFamily="34" charset="-120"/>
              </a:rPr>
              <a:t>Hospital Visit</a:t>
            </a:r>
            <a:endParaRPr lang="en-US" sz="1100" dirty="0"/>
          </a:p>
        </p:txBody>
      </p:sp>
      <p:sp>
        <p:nvSpPr>
          <p:cNvPr id="49" name="Text 39"/>
          <p:cNvSpPr/>
          <p:nvPr/>
        </p:nvSpPr>
        <p:spPr>
          <a:xfrm>
            <a:off x="10077994" y="4617720"/>
            <a:ext cx="1489166" cy="640080"/>
          </a:xfrm>
          <a:prstGeom prst="rect">
            <a:avLst/>
          </a:prstGeom>
          <a:noFill/>
          <a:ln/>
        </p:spPr>
        <p:txBody>
          <a:bodyPr wrap="square" rtlCol="0" anchor="ctr"/>
          <a:lstStyle/>
          <a:p>
            <a:pPr marL="0" indent="0" algn="ctr">
              <a:lnSpc>
                <a:spcPct val="105000"/>
              </a:lnSpc>
              <a:buNone/>
            </a:pPr>
            <a:r>
              <a:rPr lang="en-US" sz="850" dirty="0">
                <a:solidFill>
                  <a:srgbClr val="5B6B73"/>
                </a:solidFill>
                <a:latin typeface="Calibri" pitchFamily="34" charset="0"/>
                <a:ea typeface="Calibri" pitchFamily="34" charset="-122"/>
                <a:cs typeface="Calibri" pitchFamily="34" charset="-120"/>
              </a:rPr>
              <a:t>In-person care delivered</a:t>
            </a:r>
            <a:endParaRPr lang="en-US" sz="850" dirty="0"/>
          </a:p>
        </p:txBody>
      </p:sp>
      <p:sp>
        <p:nvSpPr>
          <p:cNvPr id="50" name="Shape 40"/>
          <p:cNvSpPr/>
          <p:nvPr/>
        </p:nvSpPr>
        <p:spPr>
          <a:xfrm>
            <a:off x="548640" y="5440680"/>
            <a:ext cx="11064240" cy="914400"/>
          </a:xfrm>
          <a:prstGeom prst="roundRect">
            <a:avLst>
              <a:gd name="adj" fmla="val 9000"/>
            </a:avLst>
          </a:prstGeom>
          <a:solidFill>
            <a:srgbClr val="F2F7F7"/>
          </a:solidFill>
          <a:ln w="12700">
            <a:solidFill>
              <a:srgbClr val="F2F7F7"/>
            </a:solidFill>
            <a:prstDash val="solid"/>
          </a:ln>
        </p:spPr>
        <p:txBody>
          <a:bodyPr/>
          <a:lstStyle/>
          <a:p>
            <a:endParaRPr lang="en-US"/>
          </a:p>
        </p:txBody>
      </p:sp>
      <p:sp>
        <p:nvSpPr>
          <p:cNvPr id="51" name="Text 41"/>
          <p:cNvSpPr/>
          <p:nvPr/>
        </p:nvSpPr>
        <p:spPr>
          <a:xfrm>
            <a:off x="868680" y="5440680"/>
            <a:ext cx="10424160" cy="914400"/>
          </a:xfrm>
          <a:prstGeom prst="rect">
            <a:avLst/>
          </a:prstGeom>
          <a:noFill/>
          <a:ln/>
        </p:spPr>
        <p:txBody>
          <a:bodyPr wrap="square" rtlCol="0" anchor="ctr"/>
          <a:lstStyle/>
          <a:p>
            <a:pPr marL="0" indent="0">
              <a:buNone/>
            </a:pPr>
            <a:r>
              <a:rPr lang="en-US" sz="1200" i="1" dirty="0">
                <a:solidFill>
                  <a:srgbClr val="0A5C63"/>
                </a:solidFill>
                <a:latin typeface="Calibri" pitchFamily="34" charset="0"/>
                <a:ea typeface="Calibri" pitchFamily="34" charset="-122"/>
                <a:cs typeface="Calibri" pitchFamily="34" charset="-120"/>
              </a:rPr>
              <a:t>Each step is designed to reduce friction and keep the visitor moving forward — every screen answers a question and opens the next one.</a:t>
            </a:r>
            <a:endParaRPr lang="en-US" sz="1200" dirty="0"/>
          </a:p>
        </p:txBody>
      </p:sp>
      <p:pic>
        <p:nvPicPr>
          <p:cNvPr id="52" name="Image 8"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53" name="Text 42"/>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54" name="Text 43"/>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PART THREE</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Key Features at a Glance</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Shape 3"/>
          <p:cNvSpPr/>
          <p:nvPr/>
        </p:nvSpPr>
        <p:spPr>
          <a:xfrm>
            <a:off x="548640" y="1600200"/>
            <a:ext cx="3505200" cy="1371600"/>
          </a:xfrm>
          <a:prstGeom prst="roundRect">
            <a:avLst>
              <a:gd name="adj" fmla="val 6000"/>
            </a:avLst>
          </a:prstGeom>
          <a:solidFill>
            <a:srgbClr val="F2F7F7"/>
          </a:solidFill>
          <a:ln w="12700">
            <a:solidFill>
              <a:srgbClr val="F2F7F7"/>
            </a:solidFill>
            <a:prstDash val="solid"/>
          </a:ln>
        </p:spPr>
        <p:txBody>
          <a:bodyPr/>
          <a:lstStyle/>
          <a:p>
            <a:endParaRPr lang="en-US"/>
          </a:p>
        </p:txBody>
      </p:sp>
      <p:sp>
        <p:nvSpPr>
          <p:cNvPr id="7" name="Shape 4"/>
          <p:cNvSpPr/>
          <p:nvPr/>
        </p:nvSpPr>
        <p:spPr>
          <a:xfrm>
            <a:off x="749808" y="1965960"/>
            <a:ext cx="640080" cy="640080"/>
          </a:xfrm>
          <a:prstGeom prst="ellipse">
            <a:avLst/>
          </a:prstGeom>
          <a:solidFill>
            <a:srgbClr val="0E7C86"/>
          </a:solidFill>
          <a:ln/>
        </p:spPr>
        <p:txBody>
          <a:bodyPr/>
          <a:lstStyle/>
          <a:p>
            <a:endParaRPr lang="en-US"/>
          </a:p>
        </p:txBody>
      </p:sp>
      <p:pic>
        <p:nvPicPr>
          <p:cNvPr id="8" name="Image 1" descr="/home/claude/hospital/icons/calendar_white.png"/>
          <p:cNvPicPr>
            <a:picLocks noChangeAspect="1"/>
          </p:cNvPicPr>
          <p:nvPr/>
        </p:nvPicPr>
        <p:blipFill>
          <a:blip r:embed="rId4"/>
          <a:stretch>
            <a:fillRect/>
          </a:stretch>
        </p:blipFill>
        <p:spPr>
          <a:xfrm>
            <a:off x="893826" y="2109978"/>
            <a:ext cx="352044" cy="352044"/>
          </a:xfrm>
          <a:prstGeom prst="rect">
            <a:avLst/>
          </a:prstGeom>
        </p:spPr>
      </p:pic>
      <p:sp>
        <p:nvSpPr>
          <p:cNvPr id="9" name="Text 5"/>
          <p:cNvSpPr/>
          <p:nvPr/>
        </p:nvSpPr>
        <p:spPr>
          <a:xfrm>
            <a:off x="1554480" y="1600200"/>
            <a:ext cx="2316480" cy="1371600"/>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Online Booking</a:t>
            </a:r>
            <a:endParaRPr lang="en-US" sz="1350" dirty="0"/>
          </a:p>
        </p:txBody>
      </p:sp>
      <p:sp>
        <p:nvSpPr>
          <p:cNvPr id="10" name="Shape 6"/>
          <p:cNvSpPr/>
          <p:nvPr/>
        </p:nvSpPr>
        <p:spPr>
          <a:xfrm>
            <a:off x="4328160" y="1600200"/>
            <a:ext cx="3505200" cy="1371600"/>
          </a:xfrm>
          <a:prstGeom prst="roundRect">
            <a:avLst>
              <a:gd name="adj" fmla="val 6000"/>
            </a:avLst>
          </a:prstGeom>
          <a:solidFill>
            <a:srgbClr val="F2F7F7"/>
          </a:solidFill>
          <a:ln w="12700">
            <a:solidFill>
              <a:srgbClr val="F2F7F7"/>
            </a:solidFill>
            <a:prstDash val="solid"/>
          </a:ln>
        </p:spPr>
        <p:txBody>
          <a:bodyPr/>
          <a:lstStyle/>
          <a:p>
            <a:endParaRPr lang="en-US"/>
          </a:p>
        </p:txBody>
      </p:sp>
      <p:sp>
        <p:nvSpPr>
          <p:cNvPr id="11" name="Shape 7"/>
          <p:cNvSpPr/>
          <p:nvPr/>
        </p:nvSpPr>
        <p:spPr>
          <a:xfrm>
            <a:off x="4529328" y="1965960"/>
            <a:ext cx="640080" cy="640080"/>
          </a:xfrm>
          <a:prstGeom prst="ellipse">
            <a:avLst/>
          </a:prstGeom>
          <a:solidFill>
            <a:srgbClr val="0E7C86"/>
          </a:solidFill>
          <a:ln/>
        </p:spPr>
        <p:txBody>
          <a:bodyPr/>
          <a:lstStyle/>
          <a:p>
            <a:endParaRPr lang="en-US"/>
          </a:p>
        </p:txBody>
      </p:sp>
      <p:pic>
        <p:nvPicPr>
          <p:cNvPr id="12" name="Image 2" descr="/home/claude/hospital/icons/doctor_white.png"/>
          <p:cNvPicPr>
            <a:picLocks noChangeAspect="1"/>
          </p:cNvPicPr>
          <p:nvPr/>
        </p:nvPicPr>
        <p:blipFill>
          <a:blip r:embed="rId5"/>
          <a:stretch>
            <a:fillRect/>
          </a:stretch>
        </p:blipFill>
        <p:spPr>
          <a:xfrm>
            <a:off x="4673346" y="2109978"/>
            <a:ext cx="352044" cy="352044"/>
          </a:xfrm>
          <a:prstGeom prst="rect">
            <a:avLst/>
          </a:prstGeom>
        </p:spPr>
      </p:pic>
      <p:sp>
        <p:nvSpPr>
          <p:cNvPr id="13" name="Text 8"/>
          <p:cNvSpPr/>
          <p:nvPr/>
        </p:nvSpPr>
        <p:spPr>
          <a:xfrm>
            <a:off x="5334000" y="1600200"/>
            <a:ext cx="2316480" cy="1371600"/>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Doctor Directory</a:t>
            </a:r>
            <a:endParaRPr lang="en-US" sz="1350" dirty="0"/>
          </a:p>
        </p:txBody>
      </p:sp>
      <p:sp>
        <p:nvSpPr>
          <p:cNvPr id="14" name="Shape 9"/>
          <p:cNvSpPr/>
          <p:nvPr/>
        </p:nvSpPr>
        <p:spPr>
          <a:xfrm>
            <a:off x="8107680" y="1600200"/>
            <a:ext cx="3505200" cy="1371600"/>
          </a:xfrm>
          <a:prstGeom prst="roundRect">
            <a:avLst>
              <a:gd name="adj" fmla="val 6000"/>
            </a:avLst>
          </a:prstGeom>
          <a:solidFill>
            <a:srgbClr val="F2F7F7"/>
          </a:solidFill>
          <a:ln w="12700">
            <a:solidFill>
              <a:srgbClr val="F2F7F7"/>
            </a:solidFill>
            <a:prstDash val="solid"/>
          </a:ln>
        </p:spPr>
        <p:txBody>
          <a:bodyPr/>
          <a:lstStyle/>
          <a:p>
            <a:endParaRPr lang="en-US"/>
          </a:p>
        </p:txBody>
      </p:sp>
      <p:sp>
        <p:nvSpPr>
          <p:cNvPr id="15" name="Shape 10"/>
          <p:cNvSpPr/>
          <p:nvPr/>
        </p:nvSpPr>
        <p:spPr>
          <a:xfrm>
            <a:off x="8308848" y="1965960"/>
            <a:ext cx="640080" cy="640080"/>
          </a:xfrm>
          <a:prstGeom prst="ellipse">
            <a:avLst/>
          </a:prstGeom>
          <a:solidFill>
            <a:srgbClr val="0E7C86"/>
          </a:solidFill>
          <a:ln/>
        </p:spPr>
        <p:txBody>
          <a:bodyPr/>
          <a:lstStyle/>
          <a:p>
            <a:endParaRPr lang="en-US"/>
          </a:p>
        </p:txBody>
      </p:sp>
      <p:pic>
        <p:nvPicPr>
          <p:cNvPr id="16" name="Image 3" descr="/home/claude/hospital/icons/building_white.png"/>
          <p:cNvPicPr>
            <a:picLocks noChangeAspect="1"/>
          </p:cNvPicPr>
          <p:nvPr/>
        </p:nvPicPr>
        <p:blipFill>
          <a:blip r:embed="rId6"/>
          <a:stretch>
            <a:fillRect/>
          </a:stretch>
        </p:blipFill>
        <p:spPr>
          <a:xfrm>
            <a:off x="8452866" y="2109978"/>
            <a:ext cx="352044" cy="352044"/>
          </a:xfrm>
          <a:prstGeom prst="rect">
            <a:avLst/>
          </a:prstGeom>
        </p:spPr>
      </p:pic>
      <p:sp>
        <p:nvSpPr>
          <p:cNvPr id="17" name="Text 11"/>
          <p:cNvSpPr/>
          <p:nvPr/>
        </p:nvSpPr>
        <p:spPr>
          <a:xfrm>
            <a:off x="9113520" y="1600200"/>
            <a:ext cx="2316480" cy="1371600"/>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Department Hub</a:t>
            </a:r>
            <a:endParaRPr lang="en-US" sz="1350" dirty="0"/>
          </a:p>
        </p:txBody>
      </p:sp>
      <p:sp>
        <p:nvSpPr>
          <p:cNvPr id="18" name="Shape 12"/>
          <p:cNvSpPr/>
          <p:nvPr/>
        </p:nvSpPr>
        <p:spPr>
          <a:xfrm>
            <a:off x="548640" y="3246120"/>
            <a:ext cx="3505200" cy="1371600"/>
          </a:xfrm>
          <a:prstGeom prst="roundRect">
            <a:avLst>
              <a:gd name="adj" fmla="val 6000"/>
            </a:avLst>
          </a:prstGeom>
          <a:solidFill>
            <a:srgbClr val="F2F7F7"/>
          </a:solidFill>
          <a:ln w="12700">
            <a:solidFill>
              <a:srgbClr val="F2F7F7"/>
            </a:solidFill>
            <a:prstDash val="solid"/>
          </a:ln>
        </p:spPr>
        <p:txBody>
          <a:bodyPr/>
          <a:lstStyle/>
          <a:p>
            <a:endParaRPr lang="en-US"/>
          </a:p>
        </p:txBody>
      </p:sp>
      <p:sp>
        <p:nvSpPr>
          <p:cNvPr id="19" name="Shape 13"/>
          <p:cNvSpPr/>
          <p:nvPr/>
        </p:nvSpPr>
        <p:spPr>
          <a:xfrm>
            <a:off x="749808" y="3611880"/>
            <a:ext cx="640080" cy="640080"/>
          </a:xfrm>
          <a:prstGeom prst="ellipse">
            <a:avLst/>
          </a:prstGeom>
          <a:solidFill>
            <a:srgbClr val="0E7C86"/>
          </a:solidFill>
          <a:ln/>
        </p:spPr>
        <p:txBody>
          <a:bodyPr/>
          <a:lstStyle/>
          <a:p>
            <a:endParaRPr lang="en-US"/>
          </a:p>
        </p:txBody>
      </p:sp>
      <p:pic>
        <p:nvPicPr>
          <p:cNvPr id="20" name="Image 4" descr="/home/claude/hospital/icons/quote_white.png"/>
          <p:cNvPicPr>
            <a:picLocks noChangeAspect="1"/>
          </p:cNvPicPr>
          <p:nvPr/>
        </p:nvPicPr>
        <p:blipFill>
          <a:blip r:embed="rId7"/>
          <a:stretch>
            <a:fillRect/>
          </a:stretch>
        </p:blipFill>
        <p:spPr>
          <a:xfrm>
            <a:off x="893826" y="3755898"/>
            <a:ext cx="352044" cy="352044"/>
          </a:xfrm>
          <a:prstGeom prst="rect">
            <a:avLst/>
          </a:prstGeom>
        </p:spPr>
      </p:pic>
      <p:sp>
        <p:nvSpPr>
          <p:cNvPr id="21" name="Text 14"/>
          <p:cNvSpPr/>
          <p:nvPr/>
        </p:nvSpPr>
        <p:spPr>
          <a:xfrm>
            <a:off x="1554480" y="3246120"/>
            <a:ext cx="2316480" cy="1371600"/>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Patient Testimonials</a:t>
            </a:r>
            <a:endParaRPr lang="en-US" sz="1350" dirty="0"/>
          </a:p>
        </p:txBody>
      </p:sp>
      <p:sp>
        <p:nvSpPr>
          <p:cNvPr id="22" name="Shape 15"/>
          <p:cNvSpPr/>
          <p:nvPr/>
        </p:nvSpPr>
        <p:spPr>
          <a:xfrm>
            <a:off x="4328160" y="3246120"/>
            <a:ext cx="3505200" cy="1371600"/>
          </a:xfrm>
          <a:prstGeom prst="roundRect">
            <a:avLst>
              <a:gd name="adj" fmla="val 6000"/>
            </a:avLst>
          </a:prstGeom>
          <a:solidFill>
            <a:srgbClr val="F2F7F7"/>
          </a:solidFill>
          <a:ln w="12700">
            <a:solidFill>
              <a:srgbClr val="F2F7F7"/>
            </a:solidFill>
            <a:prstDash val="solid"/>
          </a:ln>
        </p:spPr>
        <p:txBody>
          <a:bodyPr/>
          <a:lstStyle/>
          <a:p>
            <a:endParaRPr lang="en-US"/>
          </a:p>
        </p:txBody>
      </p:sp>
      <p:sp>
        <p:nvSpPr>
          <p:cNvPr id="23" name="Shape 16"/>
          <p:cNvSpPr/>
          <p:nvPr/>
        </p:nvSpPr>
        <p:spPr>
          <a:xfrm>
            <a:off x="4529328" y="3611880"/>
            <a:ext cx="640080" cy="640080"/>
          </a:xfrm>
          <a:prstGeom prst="ellipse">
            <a:avLst/>
          </a:prstGeom>
          <a:solidFill>
            <a:srgbClr val="0E7C86"/>
          </a:solidFill>
          <a:ln/>
        </p:spPr>
        <p:txBody>
          <a:bodyPr/>
          <a:lstStyle/>
          <a:p>
            <a:endParaRPr lang="en-US"/>
          </a:p>
        </p:txBody>
      </p:sp>
      <p:pic>
        <p:nvPicPr>
          <p:cNvPr id="24" name="Image 5" descr="/home/claude/hospital/icons/book_white.png"/>
          <p:cNvPicPr>
            <a:picLocks noChangeAspect="1"/>
          </p:cNvPicPr>
          <p:nvPr/>
        </p:nvPicPr>
        <p:blipFill>
          <a:blip r:embed="rId8"/>
          <a:stretch>
            <a:fillRect/>
          </a:stretch>
        </p:blipFill>
        <p:spPr>
          <a:xfrm>
            <a:off x="4673346" y="3755898"/>
            <a:ext cx="352044" cy="352044"/>
          </a:xfrm>
          <a:prstGeom prst="rect">
            <a:avLst/>
          </a:prstGeom>
        </p:spPr>
      </p:pic>
      <p:sp>
        <p:nvSpPr>
          <p:cNvPr id="25" name="Text 17"/>
          <p:cNvSpPr/>
          <p:nvPr/>
        </p:nvSpPr>
        <p:spPr>
          <a:xfrm>
            <a:off x="5334000" y="3246120"/>
            <a:ext cx="2316480" cy="1371600"/>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Health Blog</a:t>
            </a:r>
            <a:endParaRPr lang="en-US" sz="1350" dirty="0"/>
          </a:p>
        </p:txBody>
      </p:sp>
      <p:sp>
        <p:nvSpPr>
          <p:cNvPr id="26" name="Shape 18"/>
          <p:cNvSpPr/>
          <p:nvPr/>
        </p:nvSpPr>
        <p:spPr>
          <a:xfrm>
            <a:off x="8107680" y="3246120"/>
            <a:ext cx="3505200" cy="1371600"/>
          </a:xfrm>
          <a:prstGeom prst="roundRect">
            <a:avLst>
              <a:gd name="adj" fmla="val 6000"/>
            </a:avLst>
          </a:prstGeom>
          <a:solidFill>
            <a:srgbClr val="F2F7F7"/>
          </a:solidFill>
          <a:ln w="12700">
            <a:solidFill>
              <a:srgbClr val="F2F7F7"/>
            </a:solidFill>
            <a:prstDash val="solid"/>
          </a:ln>
        </p:spPr>
        <p:txBody>
          <a:bodyPr/>
          <a:lstStyle/>
          <a:p>
            <a:endParaRPr lang="en-US"/>
          </a:p>
        </p:txBody>
      </p:sp>
      <p:sp>
        <p:nvSpPr>
          <p:cNvPr id="27" name="Shape 19"/>
          <p:cNvSpPr/>
          <p:nvPr/>
        </p:nvSpPr>
        <p:spPr>
          <a:xfrm>
            <a:off x="8308848" y="3611880"/>
            <a:ext cx="640080" cy="640080"/>
          </a:xfrm>
          <a:prstGeom prst="ellipse">
            <a:avLst/>
          </a:prstGeom>
          <a:solidFill>
            <a:srgbClr val="0E7C86"/>
          </a:solidFill>
          <a:ln/>
        </p:spPr>
        <p:txBody>
          <a:bodyPr/>
          <a:lstStyle/>
          <a:p>
            <a:endParaRPr lang="en-US"/>
          </a:p>
        </p:txBody>
      </p:sp>
      <p:pic>
        <p:nvPicPr>
          <p:cNvPr id="28" name="Image 6" descr="/home/claude/hospital/icons/message_white.png"/>
          <p:cNvPicPr>
            <a:picLocks noChangeAspect="1"/>
          </p:cNvPicPr>
          <p:nvPr/>
        </p:nvPicPr>
        <p:blipFill>
          <a:blip r:embed="rId9"/>
          <a:stretch>
            <a:fillRect/>
          </a:stretch>
        </p:blipFill>
        <p:spPr>
          <a:xfrm>
            <a:off x="8452866" y="3755898"/>
            <a:ext cx="352044" cy="352044"/>
          </a:xfrm>
          <a:prstGeom prst="rect">
            <a:avLst/>
          </a:prstGeom>
        </p:spPr>
      </p:pic>
      <p:sp>
        <p:nvSpPr>
          <p:cNvPr id="29" name="Text 20"/>
          <p:cNvSpPr/>
          <p:nvPr/>
        </p:nvSpPr>
        <p:spPr>
          <a:xfrm>
            <a:off x="9113520" y="3246120"/>
            <a:ext cx="2316480" cy="1371600"/>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FAQ Accordion</a:t>
            </a:r>
            <a:endParaRPr lang="en-US" sz="1350" dirty="0"/>
          </a:p>
        </p:txBody>
      </p:sp>
      <p:sp>
        <p:nvSpPr>
          <p:cNvPr id="30" name="Shape 21"/>
          <p:cNvSpPr/>
          <p:nvPr/>
        </p:nvSpPr>
        <p:spPr>
          <a:xfrm>
            <a:off x="548640" y="4892040"/>
            <a:ext cx="3505200" cy="1371600"/>
          </a:xfrm>
          <a:prstGeom prst="roundRect">
            <a:avLst>
              <a:gd name="adj" fmla="val 6000"/>
            </a:avLst>
          </a:prstGeom>
          <a:solidFill>
            <a:srgbClr val="F2F7F7"/>
          </a:solidFill>
          <a:ln w="12700">
            <a:solidFill>
              <a:srgbClr val="F2F7F7"/>
            </a:solidFill>
            <a:prstDash val="solid"/>
          </a:ln>
        </p:spPr>
        <p:txBody>
          <a:bodyPr/>
          <a:lstStyle/>
          <a:p>
            <a:endParaRPr lang="en-US"/>
          </a:p>
        </p:txBody>
      </p:sp>
      <p:sp>
        <p:nvSpPr>
          <p:cNvPr id="31" name="Shape 22"/>
          <p:cNvSpPr/>
          <p:nvPr/>
        </p:nvSpPr>
        <p:spPr>
          <a:xfrm>
            <a:off x="749808" y="5257800"/>
            <a:ext cx="640080" cy="640080"/>
          </a:xfrm>
          <a:prstGeom prst="ellipse">
            <a:avLst/>
          </a:prstGeom>
          <a:solidFill>
            <a:srgbClr val="0E7C86"/>
          </a:solidFill>
          <a:ln/>
        </p:spPr>
        <p:txBody>
          <a:bodyPr/>
          <a:lstStyle/>
          <a:p>
            <a:endParaRPr lang="en-US"/>
          </a:p>
        </p:txBody>
      </p:sp>
      <p:pic>
        <p:nvPicPr>
          <p:cNvPr id="32" name="Image 7" descr="/home/claude/hospital/icons/map_white.png"/>
          <p:cNvPicPr>
            <a:picLocks noChangeAspect="1"/>
          </p:cNvPicPr>
          <p:nvPr/>
        </p:nvPicPr>
        <p:blipFill>
          <a:blip r:embed="rId10"/>
          <a:stretch>
            <a:fillRect/>
          </a:stretch>
        </p:blipFill>
        <p:spPr>
          <a:xfrm>
            <a:off x="893826" y="5401818"/>
            <a:ext cx="352044" cy="352044"/>
          </a:xfrm>
          <a:prstGeom prst="rect">
            <a:avLst/>
          </a:prstGeom>
        </p:spPr>
      </p:pic>
      <p:sp>
        <p:nvSpPr>
          <p:cNvPr id="33" name="Text 23"/>
          <p:cNvSpPr/>
          <p:nvPr/>
        </p:nvSpPr>
        <p:spPr>
          <a:xfrm>
            <a:off x="1554480" y="4892040"/>
            <a:ext cx="2316480" cy="1371600"/>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Location &amp; Map</a:t>
            </a:r>
            <a:endParaRPr lang="en-US" sz="1350" dirty="0"/>
          </a:p>
        </p:txBody>
      </p:sp>
      <p:sp>
        <p:nvSpPr>
          <p:cNvPr id="34" name="Shape 24"/>
          <p:cNvSpPr/>
          <p:nvPr/>
        </p:nvSpPr>
        <p:spPr>
          <a:xfrm>
            <a:off x="4328160" y="4892040"/>
            <a:ext cx="3505200" cy="1371600"/>
          </a:xfrm>
          <a:prstGeom prst="roundRect">
            <a:avLst>
              <a:gd name="adj" fmla="val 6000"/>
            </a:avLst>
          </a:prstGeom>
          <a:solidFill>
            <a:srgbClr val="F2F7F7"/>
          </a:solidFill>
          <a:ln w="12700">
            <a:solidFill>
              <a:srgbClr val="F2F7F7"/>
            </a:solidFill>
            <a:prstDash val="solid"/>
          </a:ln>
        </p:spPr>
        <p:txBody>
          <a:bodyPr/>
          <a:lstStyle/>
          <a:p>
            <a:endParaRPr lang="en-US"/>
          </a:p>
        </p:txBody>
      </p:sp>
      <p:sp>
        <p:nvSpPr>
          <p:cNvPr id="35" name="Shape 25"/>
          <p:cNvSpPr/>
          <p:nvPr/>
        </p:nvSpPr>
        <p:spPr>
          <a:xfrm>
            <a:off x="4529328" y="5257800"/>
            <a:ext cx="640080" cy="640080"/>
          </a:xfrm>
          <a:prstGeom prst="ellipse">
            <a:avLst/>
          </a:prstGeom>
          <a:solidFill>
            <a:srgbClr val="0E7C86"/>
          </a:solidFill>
          <a:ln/>
        </p:spPr>
        <p:txBody>
          <a:bodyPr/>
          <a:lstStyle/>
          <a:p>
            <a:endParaRPr lang="en-US"/>
          </a:p>
        </p:txBody>
      </p:sp>
      <p:pic>
        <p:nvPicPr>
          <p:cNvPr id="36" name="Image 8" descr="/home/claude/hospital/icons/mobile_white.png"/>
          <p:cNvPicPr>
            <a:picLocks noChangeAspect="1"/>
          </p:cNvPicPr>
          <p:nvPr/>
        </p:nvPicPr>
        <p:blipFill>
          <a:blip r:embed="rId11"/>
          <a:stretch>
            <a:fillRect/>
          </a:stretch>
        </p:blipFill>
        <p:spPr>
          <a:xfrm>
            <a:off x="4673346" y="5401818"/>
            <a:ext cx="352044" cy="352044"/>
          </a:xfrm>
          <a:prstGeom prst="rect">
            <a:avLst/>
          </a:prstGeom>
        </p:spPr>
      </p:pic>
      <p:sp>
        <p:nvSpPr>
          <p:cNvPr id="37" name="Text 26"/>
          <p:cNvSpPr/>
          <p:nvPr/>
        </p:nvSpPr>
        <p:spPr>
          <a:xfrm>
            <a:off x="5334000" y="4892040"/>
            <a:ext cx="2316480" cy="1371600"/>
          </a:xfrm>
          <a:prstGeom prst="rect">
            <a:avLst/>
          </a:prstGeom>
          <a:noFill/>
          <a:ln/>
        </p:spPr>
        <p:txBody>
          <a:bodyPr wrap="square" rtlCol="0" anchor="ctr"/>
          <a:lstStyle/>
          <a:p>
            <a:pPr marL="0" indent="0">
              <a:buNone/>
            </a:pPr>
            <a:r>
              <a:rPr lang="en-US" sz="1350" b="1" dirty="0">
                <a:solidFill>
                  <a:srgbClr val="0B2545"/>
                </a:solidFill>
                <a:latin typeface="Cambria" pitchFamily="34" charset="0"/>
                <a:ea typeface="Cambria" pitchFamily="34" charset="-122"/>
                <a:cs typeface="Cambria" pitchFamily="34" charset="-120"/>
              </a:rPr>
              <a:t>Responsive Design</a:t>
            </a:r>
            <a:endParaRPr lang="en-US" sz="1350" dirty="0"/>
          </a:p>
        </p:txBody>
      </p:sp>
      <p:sp>
        <p:nvSpPr>
          <p:cNvPr id="41" name="Text 29"/>
          <p:cNvSpPr/>
          <p:nvPr/>
        </p:nvSpPr>
        <p:spPr>
          <a:xfrm>
            <a:off x="9113520" y="4892040"/>
            <a:ext cx="2316480" cy="1371600"/>
          </a:xfrm>
          <a:prstGeom prst="rect">
            <a:avLst/>
          </a:prstGeom>
          <a:noFill/>
          <a:ln/>
        </p:spPr>
        <p:txBody>
          <a:bodyPr wrap="square" rtlCol="0" anchor="ctr"/>
          <a:lstStyle/>
          <a:p>
            <a:pPr marL="0" indent="0">
              <a:buNone/>
            </a:pPr>
            <a:endParaRPr lang="en-US" sz="1350" dirty="0"/>
          </a:p>
        </p:txBody>
      </p:sp>
      <p:pic>
        <p:nvPicPr>
          <p:cNvPr id="42" name="Image 10"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43" name="Text 30"/>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44" name="Text 31"/>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txBody>
          <a:bodyPr/>
          <a:lstStyle/>
          <a:p>
            <a:endParaRPr lang="en-US"/>
          </a:p>
        </p:txBody>
      </p:sp>
      <p:sp>
        <p:nvSpPr>
          <p:cNvPr id="3" name="Shape 1"/>
          <p:cNvSpPr/>
          <p:nvPr/>
        </p:nvSpPr>
        <p:spPr>
          <a:xfrm>
            <a:off x="10543032" y="4480560"/>
            <a:ext cx="2926080" cy="2926080"/>
          </a:xfrm>
          <a:prstGeom prst="ellipse">
            <a:avLst/>
          </a:prstGeom>
          <a:solidFill>
            <a:srgbClr val="2EC4B6">
              <a:alpha val="30000"/>
            </a:srgbClr>
          </a:solidFill>
          <a:ln/>
        </p:spPr>
        <p:txBody>
          <a:bodyPr/>
          <a:lstStyle/>
          <a:p>
            <a:endParaRPr lang="en-US"/>
          </a:p>
        </p:txBody>
      </p:sp>
      <p:sp>
        <p:nvSpPr>
          <p:cNvPr id="4" name="Text 2"/>
          <p:cNvSpPr/>
          <p:nvPr/>
        </p:nvSpPr>
        <p:spPr>
          <a:xfrm>
            <a:off x="548640" y="457200"/>
            <a:ext cx="5486400" cy="320040"/>
          </a:xfrm>
          <a:prstGeom prst="rect">
            <a:avLst/>
          </a:prstGeom>
          <a:noFill/>
          <a:ln/>
        </p:spPr>
        <p:txBody>
          <a:bodyPr wrap="square" rtlCol="0" anchor="ctr"/>
          <a:lstStyle/>
          <a:p>
            <a:pPr marL="0" indent="0" algn="l">
              <a:buNone/>
            </a:pPr>
            <a:r>
              <a:rPr lang="en-US" sz="1200" b="1" kern="0" spc="200" dirty="0">
                <a:solidFill>
                  <a:srgbClr val="2EC4B6"/>
                </a:solidFill>
                <a:latin typeface="Calibri" pitchFamily="34" charset="0"/>
                <a:ea typeface="Calibri" pitchFamily="34" charset="-122"/>
                <a:cs typeface="Calibri" pitchFamily="34" charset="-120"/>
              </a:rPr>
              <a:t>BUSINESS IMPACT</a:t>
            </a:r>
            <a:endParaRPr lang="en-US" sz="1200" dirty="0"/>
          </a:p>
        </p:txBody>
      </p:sp>
      <p:sp>
        <p:nvSpPr>
          <p:cNvPr id="5" name="Text 3"/>
          <p:cNvSpPr/>
          <p:nvPr/>
        </p:nvSpPr>
        <p:spPr>
          <a:xfrm>
            <a:off x="548640" y="731520"/>
            <a:ext cx="9144000" cy="822960"/>
          </a:xfrm>
          <a:prstGeom prst="rect">
            <a:avLst/>
          </a:prstGeom>
          <a:noFill/>
          <a:ln/>
        </p:spPr>
        <p:txBody>
          <a:bodyPr wrap="square" rtlCol="0" anchor="t"/>
          <a:lstStyle/>
          <a:p>
            <a:pPr marL="0" indent="0" algn="l">
              <a:lnSpc>
                <a:spcPct val="102000"/>
              </a:lnSpc>
              <a:buNone/>
            </a:pPr>
            <a:r>
              <a:rPr lang="en-US" sz="3000" b="1" dirty="0">
                <a:solidFill>
                  <a:srgbClr val="FFFFFF"/>
                </a:solidFill>
                <a:latin typeface="Cambria" pitchFamily="34" charset="0"/>
                <a:ea typeface="Cambria" pitchFamily="34" charset="-122"/>
                <a:cs typeface="Cambria" pitchFamily="34" charset="-120"/>
              </a:rPr>
              <a:t>Benefits Across Every Stakeholder</a:t>
            </a:r>
            <a:endParaRPr lang="en-US" sz="3000" dirty="0"/>
          </a:p>
        </p:txBody>
      </p:sp>
      <p:sp>
        <p:nvSpPr>
          <p:cNvPr id="6" name="Shape 4"/>
          <p:cNvSpPr/>
          <p:nvPr/>
        </p:nvSpPr>
        <p:spPr>
          <a:xfrm>
            <a:off x="548640" y="1965960"/>
            <a:ext cx="2029968" cy="4023360"/>
          </a:xfrm>
          <a:prstGeom prst="roundRect">
            <a:avLst>
              <a:gd name="adj" fmla="val 3604"/>
            </a:avLst>
          </a:prstGeom>
          <a:solidFill>
            <a:srgbClr val="13315C"/>
          </a:solidFill>
          <a:ln w="12700">
            <a:solidFill>
              <a:srgbClr val="1F4C74"/>
            </a:solidFill>
            <a:prstDash val="solid"/>
          </a:ln>
        </p:spPr>
        <p:txBody>
          <a:bodyPr/>
          <a:lstStyle/>
          <a:p>
            <a:endParaRPr lang="en-US"/>
          </a:p>
        </p:txBody>
      </p:sp>
      <p:sp>
        <p:nvSpPr>
          <p:cNvPr id="7" name="Shape 5"/>
          <p:cNvSpPr/>
          <p:nvPr/>
        </p:nvSpPr>
        <p:spPr>
          <a:xfrm>
            <a:off x="1289304" y="2240280"/>
            <a:ext cx="548640" cy="548640"/>
          </a:xfrm>
          <a:prstGeom prst="ellipse">
            <a:avLst/>
          </a:prstGeom>
          <a:solidFill>
            <a:srgbClr val="2EC4B6"/>
          </a:solidFill>
          <a:ln/>
        </p:spPr>
        <p:txBody>
          <a:bodyPr/>
          <a:lstStyle/>
          <a:p>
            <a:endParaRPr lang="en-US"/>
          </a:p>
        </p:txBody>
      </p:sp>
      <p:pic>
        <p:nvPicPr>
          <p:cNvPr id="8" name="Image 0" descr="/home/claude/hospital/icons/users_navy.png"/>
          <p:cNvPicPr>
            <a:picLocks noChangeAspect="1"/>
          </p:cNvPicPr>
          <p:nvPr/>
        </p:nvPicPr>
        <p:blipFill>
          <a:blip r:embed="rId3"/>
          <a:stretch>
            <a:fillRect/>
          </a:stretch>
        </p:blipFill>
        <p:spPr>
          <a:xfrm>
            <a:off x="1412748" y="2363724"/>
            <a:ext cx="301752" cy="301752"/>
          </a:xfrm>
          <a:prstGeom prst="rect">
            <a:avLst/>
          </a:prstGeom>
        </p:spPr>
      </p:pic>
      <p:sp>
        <p:nvSpPr>
          <p:cNvPr id="9" name="Text 6"/>
          <p:cNvSpPr/>
          <p:nvPr/>
        </p:nvSpPr>
        <p:spPr>
          <a:xfrm>
            <a:off x="685800" y="2971800"/>
            <a:ext cx="1755648" cy="502920"/>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Patients</a:t>
            </a:r>
            <a:endParaRPr lang="en-US" sz="1250" dirty="0"/>
          </a:p>
        </p:txBody>
      </p:sp>
      <p:sp>
        <p:nvSpPr>
          <p:cNvPr id="10" name="Text 7"/>
          <p:cNvSpPr/>
          <p:nvPr/>
        </p:nvSpPr>
        <p:spPr>
          <a:xfrm>
            <a:off x="713232" y="3520440"/>
            <a:ext cx="1700784" cy="2286000"/>
          </a:xfrm>
          <a:prstGeom prst="rect">
            <a:avLst/>
          </a:prstGeom>
          <a:noFill/>
          <a:ln/>
        </p:spPr>
        <p:txBody>
          <a:bodyPr wrap="square" rtlCol="0" anchor="ctr"/>
          <a:lstStyle/>
          <a:p>
            <a:pPr marL="0" indent="0" algn="ctr">
              <a:lnSpc>
                <a:spcPct val="115000"/>
              </a:lnSpc>
              <a:buNone/>
            </a:pPr>
            <a:r>
              <a:rPr lang="en-US" sz="960" dirty="0">
                <a:solidFill>
                  <a:srgbClr val="C3D6D6"/>
                </a:solidFill>
                <a:latin typeface="Calibri" pitchFamily="34" charset="0"/>
                <a:ea typeface="Calibri" pitchFamily="34" charset="-122"/>
                <a:cs typeface="Calibri" pitchFamily="34" charset="-120"/>
              </a:rPr>
              <a:t>Faster access to care, transparent doctor info, and self-service booking.</a:t>
            </a:r>
            <a:endParaRPr lang="en-US" sz="960" dirty="0"/>
          </a:p>
        </p:txBody>
      </p:sp>
      <p:sp>
        <p:nvSpPr>
          <p:cNvPr id="11" name="Shape 8"/>
          <p:cNvSpPr/>
          <p:nvPr/>
        </p:nvSpPr>
        <p:spPr>
          <a:xfrm>
            <a:off x="2807208" y="1965960"/>
            <a:ext cx="2029968" cy="4023360"/>
          </a:xfrm>
          <a:prstGeom prst="roundRect">
            <a:avLst>
              <a:gd name="adj" fmla="val 3604"/>
            </a:avLst>
          </a:prstGeom>
          <a:solidFill>
            <a:srgbClr val="13315C"/>
          </a:solidFill>
          <a:ln w="12700">
            <a:solidFill>
              <a:srgbClr val="1F4C74"/>
            </a:solidFill>
            <a:prstDash val="solid"/>
          </a:ln>
        </p:spPr>
        <p:txBody>
          <a:bodyPr/>
          <a:lstStyle/>
          <a:p>
            <a:endParaRPr lang="en-US"/>
          </a:p>
        </p:txBody>
      </p:sp>
      <p:sp>
        <p:nvSpPr>
          <p:cNvPr id="12" name="Shape 9"/>
          <p:cNvSpPr/>
          <p:nvPr/>
        </p:nvSpPr>
        <p:spPr>
          <a:xfrm>
            <a:off x="3547872" y="2240280"/>
            <a:ext cx="548640" cy="548640"/>
          </a:xfrm>
          <a:prstGeom prst="ellipse">
            <a:avLst/>
          </a:prstGeom>
          <a:solidFill>
            <a:srgbClr val="2EC4B6"/>
          </a:solidFill>
          <a:ln/>
        </p:spPr>
        <p:txBody>
          <a:bodyPr/>
          <a:lstStyle/>
          <a:p>
            <a:endParaRPr lang="en-US"/>
          </a:p>
        </p:txBody>
      </p:sp>
      <p:pic>
        <p:nvPicPr>
          <p:cNvPr id="13" name="Image 1" descr="/home/claude/hospital/icons/doctor_navy.png"/>
          <p:cNvPicPr>
            <a:picLocks noChangeAspect="1"/>
          </p:cNvPicPr>
          <p:nvPr/>
        </p:nvPicPr>
        <p:blipFill>
          <a:blip r:embed="rId4"/>
          <a:stretch>
            <a:fillRect/>
          </a:stretch>
        </p:blipFill>
        <p:spPr>
          <a:xfrm>
            <a:off x="3671316" y="2363724"/>
            <a:ext cx="301752" cy="301752"/>
          </a:xfrm>
          <a:prstGeom prst="rect">
            <a:avLst/>
          </a:prstGeom>
        </p:spPr>
      </p:pic>
      <p:sp>
        <p:nvSpPr>
          <p:cNvPr id="14" name="Text 10"/>
          <p:cNvSpPr/>
          <p:nvPr/>
        </p:nvSpPr>
        <p:spPr>
          <a:xfrm>
            <a:off x="2944368" y="2971800"/>
            <a:ext cx="1755648" cy="502920"/>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Doctors</a:t>
            </a:r>
            <a:endParaRPr lang="en-US" sz="1250" dirty="0"/>
          </a:p>
        </p:txBody>
      </p:sp>
      <p:sp>
        <p:nvSpPr>
          <p:cNvPr id="15" name="Text 11"/>
          <p:cNvSpPr/>
          <p:nvPr/>
        </p:nvSpPr>
        <p:spPr>
          <a:xfrm>
            <a:off x="2971800" y="3520440"/>
            <a:ext cx="1700784" cy="2286000"/>
          </a:xfrm>
          <a:prstGeom prst="rect">
            <a:avLst/>
          </a:prstGeom>
          <a:noFill/>
          <a:ln/>
        </p:spPr>
        <p:txBody>
          <a:bodyPr wrap="square" rtlCol="0" anchor="ctr"/>
          <a:lstStyle/>
          <a:p>
            <a:pPr marL="0" indent="0" algn="ctr">
              <a:lnSpc>
                <a:spcPct val="115000"/>
              </a:lnSpc>
              <a:buNone/>
            </a:pPr>
            <a:r>
              <a:rPr lang="en-US" sz="960" dirty="0">
                <a:solidFill>
                  <a:srgbClr val="C3D6D6"/>
                </a:solidFill>
                <a:latin typeface="Calibri" pitchFamily="34" charset="0"/>
                <a:ea typeface="Calibri" pitchFamily="34" charset="-122"/>
                <a:cs typeface="Calibri" pitchFamily="34" charset="-120"/>
              </a:rPr>
              <a:t>Stronger personal branding and reduced scheduling back-and-forth.</a:t>
            </a:r>
            <a:endParaRPr lang="en-US" sz="960" dirty="0"/>
          </a:p>
        </p:txBody>
      </p:sp>
      <p:sp>
        <p:nvSpPr>
          <p:cNvPr id="16" name="Shape 12"/>
          <p:cNvSpPr/>
          <p:nvPr/>
        </p:nvSpPr>
        <p:spPr>
          <a:xfrm>
            <a:off x="5065776" y="1965960"/>
            <a:ext cx="2029968" cy="4023360"/>
          </a:xfrm>
          <a:prstGeom prst="roundRect">
            <a:avLst>
              <a:gd name="adj" fmla="val 3604"/>
            </a:avLst>
          </a:prstGeom>
          <a:solidFill>
            <a:srgbClr val="13315C"/>
          </a:solidFill>
          <a:ln w="12700">
            <a:solidFill>
              <a:srgbClr val="1F4C74"/>
            </a:solidFill>
            <a:prstDash val="solid"/>
          </a:ln>
        </p:spPr>
        <p:txBody>
          <a:bodyPr/>
          <a:lstStyle/>
          <a:p>
            <a:endParaRPr lang="en-US"/>
          </a:p>
        </p:txBody>
      </p:sp>
      <p:sp>
        <p:nvSpPr>
          <p:cNvPr id="17" name="Shape 13"/>
          <p:cNvSpPr/>
          <p:nvPr/>
        </p:nvSpPr>
        <p:spPr>
          <a:xfrm>
            <a:off x="5806440" y="2240280"/>
            <a:ext cx="548640" cy="548640"/>
          </a:xfrm>
          <a:prstGeom prst="ellipse">
            <a:avLst/>
          </a:prstGeom>
          <a:solidFill>
            <a:srgbClr val="2EC4B6"/>
          </a:solidFill>
          <a:ln/>
        </p:spPr>
        <p:txBody>
          <a:bodyPr/>
          <a:lstStyle/>
          <a:p>
            <a:endParaRPr lang="en-US"/>
          </a:p>
        </p:txBody>
      </p:sp>
      <p:pic>
        <p:nvPicPr>
          <p:cNvPr id="18" name="Image 2" descr="/home/claude/hospital/icons/briefcase_navy.png"/>
          <p:cNvPicPr>
            <a:picLocks noChangeAspect="1"/>
          </p:cNvPicPr>
          <p:nvPr/>
        </p:nvPicPr>
        <p:blipFill>
          <a:blip r:embed="rId5"/>
          <a:stretch>
            <a:fillRect/>
          </a:stretch>
        </p:blipFill>
        <p:spPr>
          <a:xfrm>
            <a:off x="5929884" y="2363724"/>
            <a:ext cx="301752" cy="301752"/>
          </a:xfrm>
          <a:prstGeom prst="rect">
            <a:avLst/>
          </a:prstGeom>
        </p:spPr>
      </p:pic>
      <p:sp>
        <p:nvSpPr>
          <p:cNvPr id="19" name="Text 14"/>
          <p:cNvSpPr/>
          <p:nvPr/>
        </p:nvSpPr>
        <p:spPr>
          <a:xfrm>
            <a:off x="5202936" y="2971800"/>
            <a:ext cx="1755648" cy="502920"/>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Hospital Management</a:t>
            </a:r>
            <a:endParaRPr lang="en-US" sz="1250" dirty="0"/>
          </a:p>
        </p:txBody>
      </p:sp>
      <p:sp>
        <p:nvSpPr>
          <p:cNvPr id="20" name="Text 15"/>
          <p:cNvSpPr/>
          <p:nvPr/>
        </p:nvSpPr>
        <p:spPr>
          <a:xfrm>
            <a:off x="5230368" y="3520440"/>
            <a:ext cx="1700784" cy="2286000"/>
          </a:xfrm>
          <a:prstGeom prst="rect">
            <a:avLst/>
          </a:prstGeom>
          <a:noFill/>
          <a:ln/>
        </p:spPr>
        <p:txBody>
          <a:bodyPr wrap="square" rtlCol="0" anchor="ctr"/>
          <a:lstStyle/>
          <a:p>
            <a:pPr marL="0" indent="0" algn="ctr">
              <a:lnSpc>
                <a:spcPct val="115000"/>
              </a:lnSpc>
              <a:buNone/>
            </a:pPr>
            <a:r>
              <a:rPr lang="en-US" sz="960" dirty="0">
                <a:solidFill>
                  <a:srgbClr val="C3D6D6"/>
                </a:solidFill>
                <a:latin typeface="Calibri" pitchFamily="34" charset="0"/>
                <a:ea typeface="Calibri" pitchFamily="34" charset="-122"/>
                <a:cs typeface="Calibri" pitchFamily="34" charset="-120"/>
              </a:rPr>
              <a:t>Better brand perception and measurable digital performance.</a:t>
            </a:r>
            <a:endParaRPr lang="en-US" sz="960" dirty="0"/>
          </a:p>
        </p:txBody>
      </p:sp>
      <p:sp>
        <p:nvSpPr>
          <p:cNvPr id="21" name="Shape 16"/>
          <p:cNvSpPr/>
          <p:nvPr/>
        </p:nvSpPr>
        <p:spPr>
          <a:xfrm>
            <a:off x="7324344" y="1965960"/>
            <a:ext cx="2029968" cy="4023360"/>
          </a:xfrm>
          <a:prstGeom prst="roundRect">
            <a:avLst>
              <a:gd name="adj" fmla="val 3604"/>
            </a:avLst>
          </a:prstGeom>
          <a:solidFill>
            <a:srgbClr val="13315C"/>
          </a:solidFill>
          <a:ln w="12700">
            <a:solidFill>
              <a:srgbClr val="1F4C74"/>
            </a:solidFill>
            <a:prstDash val="solid"/>
          </a:ln>
        </p:spPr>
        <p:txBody>
          <a:bodyPr/>
          <a:lstStyle/>
          <a:p>
            <a:endParaRPr lang="en-US"/>
          </a:p>
        </p:txBody>
      </p:sp>
      <p:sp>
        <p:nvSpPr>
          <p:cNvPr id="22" name="Shape 17"/>
          <p:cNvSpPr/>
          <p:nvPr/>
        </p:nvSpPr>
        <p:spPr>
          <a:xfrm>
            <a:off x="8065008" y="2240280"/>
            <a:ext cx="548640" cy="548640"/>
          </a:xfrm>
          <a:prstGeom prst="ellipse">
            <a:avLst/>
          </a:prstGeom>
          <a:solidFill>
            <a:srgbClr val="2EC4B6"/>
          </a:solidFill>
          <a:ln/>
        </p:spPr>
        <p:txBody>
          <a:bodyPr/>
          <a:lstStyle/>
          <a:p>
            <a:endParaRPr lang="en-US"/>
          </a:p>
        </p:txBody>
      </p:sp>
      <p:pic>
        <p:nvPicPr>
          <p:cNvPr id="23" name="Image 3" descr="/home/claude/hospital/icons/chart_navy.png"/>
          <p:cNvPicPr>
            <a:picLocks noChangeAspect="1"/>
          </p:cNvPicPr>
          <p:nvPr/>
        </p:nvPicPr>
        <p:blipFill>
          <a:blip r:embed="rId6"/>
          <a:stretch>
            <a:fillRect/>
          </a:stretch>
        </p:blipFill>
        <p:spPr>
          <a:xfrm>
            <a:off x="8188452" y="2363724"/>
            <a:ext cx="301752" cy="301752"/>
          </a:xfrm>
          <a:prstGeom prst="rect">
            <a:avLst/>
          </a:prstGeom>
        </p:spPr>
      </p:pic>
      <p:sp>
        <p:nvSpPr>
          <p:cNvPr id="24" name="Text 18"/>
          <p:cNvSpPr/>
          <p:nvPr/>
        </p:nvSpPr>
        <p:spPr>
          <a:xfrm>
            <a:off x="7461504" y="2971800"/>
            <a:ext cx="1755648" cy="502920"/>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Marketing Team</a:t>
            </a:r>
            <a:endParaRPr lang="en-US" sz="1250" dirty="0"/>
          </a:p>
        </p:txBody>
      </p:sp>
      <p:sp>
        <p:nvSpPr>
          <p:cNvPr id="25" name="Text 19"/>
          <p:cNvSpPr/>
          <p:nvPr/>
        </p:nvSpPr>
        <p:spPr>
          <a:xfrm>
            <a:off x="7488936" y="3520440"/>
            <a:ext cx="1700784" cy="2286000"/>
          </a:xfrm>
          <a:prstGeom prst="rect">
            <a:avLst/>
          </a:prstGeom>
          <a:noFill/>
          <a:ln/>
        </p:spPr>
        <p:txBody>
          <a:bodyPr wrap="square" rtlCol="0" anchor="ctr"/>
          <a:lstStyle/>
          <a:p>
            <a:pPr marL="0" indent="0" algn="ctr">
              <a:lnSpc>
                <a:spcPct val="115000"/>
              </a:lnSpc>
              <a:buNone/>
            </a:pPr>
            <a:r>
              <a:rPr lang="en-US" sz="960" dirty="0">
                <a:solidFill>
                  <a:srgbClr val="C3D6D6"/>
                </a:solidFill>
                <a:latin typeface="Calibri" pitchFamily="34" charset="0"/>
                <a:ea typeface="Calibri" pitchFamily="34" charset="-122"/>
                <a:cs typeface="Calibri" pitchFamily="34" charset="-120"/>
              </a:rPr>
              <a:t>SEO-friendly content hub and testimonials that support campaigns.</a:t>
            </a:r>
            <a:endParaRPr lang="en-US" sz="960" dirty="0"/>
          </a:p>
        </p:txBody>
      </p:sp>
      <p:sp>
        <p:nvSpPr>
          <p:cNvPr id="26" name="Shape 20"/>
          <p:cNvSpPr/>
          <p:nvPr/>
        </p:nvSpPr>
        <p:spPr>
          <a:xfrm>
            <a:off x="9582912" y="1965960"/>
            <a:ext cx="2029968" cy="4023360"/>
          </a:xfrm>
          <a:prstGeom prst="roundRect">
            <a:avLst>
              <a:gd name="adj" fmla="val 3604"/>
            </a:avLst>
          </a:prstGeom>
          <a:solidFill>
            <a:srgbClr val="13315C"/>
          </a:solidFill>
          <a:ln w="12700">
            <a:solidFill>
              <a:srgbClr val="1F4C74"/>
            </a:solidFill>
            <a:prstDash val="solid"/>
          </a:ln>
        </p:spPr>
        <p:txBody>
          <a:bodyPr/>
          <a:lstStyle/>
          <a:p>
            <a:endParaRPr lang="en-US"/>
          </a:p>
        </p:txBody>
      </p:sp>
      <p:sp>
        <p:nvSpPr>
          <p:cNvPr id="27" name="Shape 21"/>
          <p:cNvSpPr/>
          <p:nvPr/>
        </p:nvSpPr>
        <p:spPr>
          <a:xfrm>
            <a:off x="10323576" y="2240280"/>
            <a:ext cx="548640" cy="548640"/>
          </a:xfrm>
          <a:prstGeom prst="ellipse">
            <a:avLst/>
          </a:prstGeom>
          <a:solidFill>
            <a:srgbClr val="2EC4B6"/>
          </a:solidFill>
          <a:ln/>
        </p:spPr>
        <p:txBody>
          <a:bodyPr/>
          <a:lstStyle/>
          <a:p>
            <a:endParaRPr lang="en-US"/>
          </a:p>
        </p:txBody>
      </p:sp>
      <p:pic>
        <p:nvPicPr>
          <p:cNvPr id="28" name="Image 4" descr="/home/claude/hospital/icons/gear_navy.png"/>
          <p:cNvPicPr>
            <a:picLocks noChangeAspect="1"/>
          </p:cNvPicPr>
          <p:nvPr/>
        </p:nvPicPr>
        <p:blipFill>
          <a:blip r:embed="rId7"/>
          <a:stretch>
            <a:fillRect/>
          </a:stretch>
        </p:blipFill>
        <p:spPr>
          <a:xfrm>
            <a:off x="10447020" y="2363724"/>
            <a:ext cx="301752" cy="301752"/>
          </a:xfrm>
          <a:prstGeom prst="rect">
            <a:avLst/>
          </a:prstGeom>
        </p:spPr>
      </p:pic>
      <p:sp>
        <p:nvSpPr>
          <p:cNvPr id="29" name="Text 22"/>
          <p:cNvSpPr/>
          <p:nvPr/>
        </p:nvSpPr>
        <p:spPr>
          <a:xfrm>
            <a:off x="9720072" y="2971800"/>
            <a:ext cx="1755648" cy="502920"/>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Administration</a:t>
            </a:r>
            <a:endParaRPr lang="en-US" sz="1250" dirty="0"/>
          </a:p>
        </p:txBody>
      </p:sp>
      <p:sp>
        <p:nvSpPr>
          <p:cNvPr id="30" name="Text 23"/>
          <p:cNvSpPr/>
          <p:nvPr/>
        </p:nvSpPr>
        <p:spPr>
          <a:xfrm>
            <a:off x="9747504" y="3520440"/>
            <a:ext cx="1700784" cy="2286000"/>
          </a:xfrm>
          <a:prstGeom prst="rect">
            <a:avLst/>
          </a:prstGeom>
          <a:noFill/>
          <a:ln/>
        </p:spPr>
        <p:txBody>
          <a:bodyPr wrap="square" rtlCol="0" anchor="ctr"/>
          <a:lstStyle/>
          <a:p>
            <a:pPr marL="0" indent="0" algn="ctr">
              <a:lnSpc>
                <a:spcPct val="115000"/>
              </a:lnSpc>
              <a:buNone/>
            </a:pPr>
            <a:r>
              <a:rPr lang="en-US" sz="960" dirty="0">
                <a:solidFill>
                  <a:srgbClr val="C3D6D6"/>
                </a:solidFill>
                <a:latin typeface="Calibri" pitchFamily="34" charset="0"/>
                <a:ea typeface="Calibri" pitchFamily="34" charset="-122"/>
                <a:cs typeface="Calibri" pitchFamily="34" charset="-120"/>
              </a:rPr>
              <a:t>Fewer manual calls, streamlined intake, lower operational load.</a:t>
            </a:r>
            <a:endParaRPr lang="en-US" sz="960" dirty="0"/>
          </a:p>
        </p:txBody>
      </p:sp>
      <p:pic>
        <p:nvPicPr>
          <p:cNvPr id="31" name="Image 5" descr="/home/claude/hospital/icons/logo_cross_teal.png"/>
          <p:cNvPicPr>
            <a:picLocks noChangeAspect="1"/>
          </p:cNvPicPr>
          <p:nvPr/>
        </p:nvPicPr>
        <p:blipFill>
          <a:blip r:embed="rId8"/>
          <a:stretch>
            <a:fillRect/>
          </a:stretch>
        </p:blipFill>
        <p:spPr>
          <a:xfrm>
            <a:off x="457200" y="6473952"/>
            <a:ext cx="201168" cy="201168"/>
          </a:xfrm>
          <a:prstGeom prst="rect">
            <a:avLst/>
          </a:prstGeom>
        </p:spPr>
      </p:pic>
      <p:sp>
        <p:nvSpPr>
          <p:cNvPr id="32" name="Text 24"/>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3" name="Text 25"/>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Technical Overview</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9144000" cy="365760"/>
          </a:xfrm>
          <a:prstGeom prst="rect">
            <a:avLst/>
          </a:prstGeom>
          <a:noFill/>
          <a:ln/>
        </p:spPr>
        <p:txBody>
          <a:bodyPr wrap="square" rtlCol="0" anchor="ctr"/>
          <a:lstStyle/>
          <a:p>
            <a:pPr marL="0" indent="0">
              <a:buNone/>
            </a:pPr>
            <a:r>
              <a:rPr lang="en-US" sz="1250" i="1" dirty="0">
                <a:solidFill>
                  <a:srgbClr val="5B6B73"/>
                </a:solidFill>
                <a:latin typeface="Calibri" pitchFamily="34" charset="0"/>
                <a:ea typeface="Calibri" pitchFamily="34" charset="-122"/>
                <a:cs typeface="Calibri" pitchFamily="34" charset="-120"/>
              </a:rPr>
              <a:t>Built on a lightweight, standards-based front-end stack.</a:t>
            </a:r>
            <a:endParaRPr lang="en-US" sz="1250" dirty="0"/>
          </a:p>
        </p:txBody>
      </p:sp>
      <p:sp>
        <p:nvSpPr>
          <p:cNvPr id="7" name="Shape 4"/>
          <p:cNvSpPr/>
          <p:nvPr/>
        </p:nvSpPr>
        <p:spPr>
          <a:xfrm>
            <a:off x="548640" y="1874520"/>
            <a:ext cx="3505200" cy="1600200"/>
          </a:xfrm>
          <a:prstGeom prst="roundRect">
            <a:avLst>
              <a:gd name="adj" fmla="val 5143"/>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777240" y="2377440"/>
            <a:ext cx="594360" cy="594360"/>
          </a:xfrm>
          <a:prstGeom prst="ellipse">
            <a:avLst/>
          </a:prstGeom>
          <a:solidFill>
            <a:srgbClr val="0E7C86"/>
          </a:solidFill>
          <a:ln/>
        </p:spPr>
        <p:txBody>
          <a:bodyPr/>
          <a:lstStyle/>
          <a:p>
            <a:endParaRPr lang="en-US"/>
          </a:p>
        </p:txBody>
      </p:sp>
      <p:pic>
        <p:nvPicPr>
          <p:cNvPr id="9" name="Image 1" descr="/home/claude/hospital/icons/html_white.png"/>
          <p:cNvPicPr>
            <a:picLocks noChangeAspect="1"/>
          </p:cNvPicPr>
          <p:nvPr/>
        </p:nvPicPr>
        <p:blipFill>
          <a:blip r:embed="rId4"/>
          <a:stretch>
            <a:fillRect/>
          </a:stretch>
        </p:blipFill>
        <p:spPr>
          <a:xfrm>
            <a:off x="910971" y="2511171"/>
            <a:ext cx="326898" cy="326898"/>
          </a:xfrm>
          <a:prstGeom prst="rect">
            <a:avLst/>
          </a:prstGeom>
        </p:spPr>
      </p:pic>
      <p:sp>
        <p:nvSpPr>
          <p:cNvPr id="10" name="Text 6"/>
          <p:cNvSpPr/>
          <p:nvPr/>
        </p:nvSpPr>
        <p:spPr>
          <a:xfrm>
            <a:off x="1554480" y="2130552"/>
            <a:ext cx="2316480" cy="365760"/>
          </a:xfrm>
          <a:prstGeom prst="rect">
            <a:avLst/>
          </a:prstGeom>
          <a:noFill/>
          <a:ln/>
        </p:spPr>
        <p:txBody>
          <a:bodyPr wrap="square" rtlCol="0" anchor="ctr"/>
          <a:lstStyle/>
          <a:p>
            <a:pPr marL="0" indent="0">
              <a:buNone/>
            </a:pPr>
            <a:r>
              <a:rPr lang="en-US" sz="1300" b="1" dirty="0">
                <a:solidFill>
                  <a:srgbClr val="0B2545"/>
                </a:solidFill>
                <a:latin typeface="Cambria" pitchFamily="34" charset="0"/>
                <a:ea typeface="Cambria" pitchFamily="34" charset="-122"/>
                <a:cs typeface="Cambria" pitchFamily="34" charset="-120"/>
              </a:rPr>
              <a:t>HTML5</a:t>
            </a:r>
            <a:endParaRPr lang="en-US" sz="1300" dirty="0"/>
          </a:p>
        </p:txBody>
      </p:sp>
      <p:sp>
        <p:nvSpPr>
          <p:cNvPr id="11" name="Text 7"/>
          <p:cNvSpPr/>
          <p:nvPr/>
        </p:nvSpPr>
        <p:spPr>
          <a:xfrm>
            <a:off x="1554480" y="2496312"/>
            <a:ext cx="2316480" cy="685800"/>
          </a:xfrm>
          <a:prstGeom prst="rect">
            <a:avLst/>
          </a:prstGeom>
          <a:noFill/>
          <a:ln/>
        </p:spPr>
        <p:txBody>
          <a:bodyPr wrap="square" rtlCol="0" anchor="ctr"/>
          <a:lstStyle/>
          <a:p>
            <a:pPr marL="0" indent="0">
              <a:lnSpc>
                <a:spcPct val="110000"/>
              </a:lnSpc>
              <a:buNone/>
            </a:pPr>
            <a:r>
              <a:rPr lang="en-US" sz="930" dirty="0">
                <a:solidFill>
                  <a:srgbClr val="5B6B73"/>
                </a:solidFill>
                <a:latin typeface="Calibri" pitchFamily="34" charset="0"/>
                <a:ea typeface="Calibri" pitchFamily="34" charset="-122"/>
                <a:cs typeface="Calibri" pitchFamily="34" charset="-120"/>
              </a:rPr>
              <a:t>Semantic structure &amp; accessibility</a:t>
            </a:r>
            <a:endParaRPr lang="en-US" sz="930" dirty="0"/>
          </a:p>
        </p:txBody>
      </p:sp>
      <p:sp>
        <p:nvSpPr>
          <p:cNvPr id="12" name="Shape 8"/>
          <p:cNvSpPr/>
          <p:nvPr/>
        </p:nvSpPr>
        <p:spPr>
          <a:xfrm>
            <a:off x="4328160" y="1874520"/>
            <a:ext cx="3505200" cy="1600200"/>
          </a:xfrm>
          <a:prstGeom prst="roundRect">
            <a:avLst>
              <a:gd name="adj" fmla="val 5143"/>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3" name="Shape 9"/>
          <p:cNvSpPr/>
          <p:nvPr/>
        </p:nvSpPr>
        <p:spPr>
          <a:xfrm>
            <a:off x="4556760" y="2377440"/>
            <a:ext cx="594360" cy="594360"/>
          </a:xfrm>
          <a:prstGeom prst="ellipse">
            <a:avLst/>
          </a:prstGeom>
          <a:solidFill>
            <a:srgbClr val="0E7C86"/>
          </a:solidFill>
          <a:ln/>
        </p:spPr>
        <p:txBody>
          <a:bodyPr/>
          <a:lstStyle/>
          <a:p>
            <a:endParaRPr lang="en-US"/>
          </a:p>
        </p:txBody>
      </p:sp>
      <p:pic>
        <p:nvPicPr>
          <p:cNvPr id="14" name="Image 2" descr="/home/claude/hospital/icons/css_white.png"/>
          <p:cNvPicPr>
            <a:picLocks noChangeAspect="1"/>
          </p:cNvPicPr>
          <p:nvPr/>
        </p:nvPicPr>
        <p:blipFill>
          <a:blip r:embed="rId5"/>
          <a:stretch>
            <a:fillRect/>
          </a:stretch>
        </p:blipFill>
        <p:spPr>
          <a:xfrm>
            <a:off x="4690491" y="2511171"/>
            <a:ext cx="326898" cy="326898"/>
          </a:xfrm>
          <a:prstGeom prst="rect">
            <a:avLst/>
          </a:prstGeom>
        </p:spPr>
      </p:pic>
      <p:sp>
        <p:nvSpPr>
          <p:cNvPr id="15" name="Text 10"/>
          <p:cNvSpPr/>
          <p:nvPr/>
        </p:nvSpPr>
        <p:spPr>
          <a:xfrm>
            <a:off x="5334000" y="2130552"/>
            <a:ext cx="2316480" cy="365760"/>
          </a:xfrm>
          <a:prstGeom prst="rect">
            <a:avLst/>
          </a:prstGeom>
          <a:noFill/>
          <a:ln/>
        </p:spPr>
        <p:txBody>
          <a:bodyPr wrap="square" rtlCol="0" anchor="ctr"/>
          <a:lstStyle/>
          <a:p>
            <a:pPr marL="0" indent="0">
              <a:buNone/>
            </a:pPr>
            <a:r>
              <a:rPr lang="en-US" sz="1300" b="1" dirty="0">
                <a:solidFill>
                  <a:srgbClr val="0B2545"/>
                </a:solidFill>
                <a:latin typeface="Cambria" pitchFamily="34" charset="0"/>
                <a:ea typeface="Cambria" pitchFamily="34" charset="-122"/>
                <a:cs typeface="Cambria" pitchFamily="34" charset="-120"/>
              </a:rPr>
              <a:t>CSS3</a:t>
            </a:r>
            <a:endParaRPr lang="en-US" sz="1300" dirty="0"/>
          </a:p>
        </p:txBody>
      </p:sp>
      <p:sp>
        <p:nvSpPr>
          <p:cNvPr id="16" name="Text 11"/>
          <p:cNvSpPr/>
          <p:nvPr/>
        </p:nvSpPr>
        <p:spPr>
          <a:xfrm>
            <a:off x="5334000" y="2496312"/>
            <a:ext cx="2316480" cy="685800"/>
          </a:xfrm>
          <a:prstGeom prst="rect">
            <a:avLst/>
          </a:prstGeom>
          <a:noFill/>
          <a:ln/>
        </p:spPr>
        <p:txBody>
          <a:bodyPr wrap="square" rtlCol="0" anchor="ctr"/>
          <a:lstStyle/>
          <a:p>
            <a:pPr marL="0" indent="0">
              <a:lnSpc>
                <a:spcPct val="110000"/>
              </a:lnSpc>
              <a:buNone/>
            </a:pPr>
            <a:r>
              <a:rPr lang="en-US" sz="930" dirty="0">
                <a:solidFill>
                  <a:srgbClr val="5B6B73"/>
                </a:solidFill>
                <a:latin typeface="Calibri" pitchFamily="34" charset="0"/>
                <a:ea typeface="Calibri" pitchFamily="34" charset="-122"/>
                <a:cs typeface="Calibri" pitchFamily="34" charset="-120"/>
              </a:rPr>
              <a:t>Styling, layout, and visual polish</a:t>
            </a:r>
            <a:endParaRPr lang="en-US" sz="930" dirty="0"/>
          </a:p>
        </p:txBody>
      </p:sp>
      <p:sp>
        <p:nvSpPr>
          <p:cNvPr id="17" name="Shape 12"/>
          <p:cNvSpPr/>
          <p:nvPr/>
        </p:nvSpPr>
        <p:spPr>
          <a:xfrm>
            <a:off x="8107680" y="1874520"/>
            <a:ext cx="3505200" cy="1600200"/>
          </a:xfrm>
          <a:prstGeom prst="roundRect">
            <a:avLst>
              <a:gd name="adj" fmla="val 5143"/>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18" name="Shape 13"/>
          <p:cNvSpPr/>
          <p:nvPr/>
        </p:nvSpPr>
        <p:spPr>
          <a:xfrm>
            <a:off x="8336280" y="2377440"/>
            <a:ext cx="594360" cy="594360"/>
          </a:xfrm>
          <a:prstGeom prst="ellipse">
            <a:avLst/>
          </a:prstGeom>
          <a:solidFill>
            <a:srgbClr val="0E7C86"/>
          </a:solidFill>
          <a:ln/>
        </p:spPr>
        <p:txBody>
          <a:bodyPr/>
          <a:lstStyle/>
          <a:p>
            <a:endParaRPr lang="en-US"/>
          </a:p>
        </p:txBody>
      </p:sp>
      <p:pic>
        <p:nvPicPr>
          <p:cNvPr id="19" name="Image 3" descr="/home/claude/hospital/icons/js_white.png"/>
          <p:cNvPicPr>
            <a:picLocks noChangeAspect="1"/>
          </p:cNvPicPr>
          <p:nvPr/>
        </p:nvPicPr>
        <p:blipFill>
          <a:blip r:embed="rId6"/>
          <a:stretch>
            <a:fillRect/>
          </a:stretch>
        </p:blipFill>
        <p:spPr>
          <a:xfrm>
            <a:off x="8470011" y="2511171"/>
            <a:ext cx="326898" cy="326898"/>
          </a:xfrm>
          <a:prstGeom prst="rect">
            <a:avLst/>
          </a:prstGeom>
        </p:spPr>
      </p:pic>
      <p:sp>
        <p:nvSpPr>
          <p:cNvPr id="20" name="Text 14"/>
          <p:cNvSpPr/>
          <p:nvPr/>
        </p:nvSpPr>
        <p:spPr>
          <a:xfrm>
            <a:off x="9113520" y="2130552"/>
            <a:ext cx="2316480" cy="365760"/>
          </a:xfrm>
          <a:prstGeom prst="rect">
            <a:avLst/>
          </a:prstGeom>
          <a:noFill/>
          <a:ln/>
        </p:spPr>
        <p:txBody>
          <a:bodyPr wrap="square" rtlCol="0" anchor="ctr"/>
          <a:lstStyle/>
          <a:p>
            <a:pPr marL="0" indent="0">
              <a:buNone/>
            </a:pPr>
            <a:r>
              <a:rPr lang="en-US" sz="1300" b="1" dirty="0">
                <a:solidFill>
                  <a:srgbClr val="0B2545"/>
                </a:solidFill>
                <a:latin typeface="Cambria" pitchFamily="34" charset="0"/>
                <a:ea typeface="Cambria" pitchFamily="34" charset="-122"/>
                <a:cs typeface="Cambria" pitchFamily="34" charset="-120"/>
              </a:rPr>
              <a:t>JavaScript</a:t>
            </a:r>
            <a:endParaRPr lang="en-US" sz="1300" dirty="0"/>
          </a:p>
        </p:txBody>
      </p:sp>
      <p:sp>
        <p:nvSpPr>
          <p:cNvPr id="21" name="Text 15"/>
          <p:cNvSpPr/>
          <p:nvPr/>
        </p:nvSpPr>
        <p:spPr>
          <a:xfrm>
            <a:off x="9113520" y="2496312"/>
            <a:ext cx="2316480" cy="685800"/>
          </a:xfrm>
          <a:prstGeom prst="rect">
            <a:avLst/>
          </a:prstGeom>
          <a:noFill/>
          <a:ln/>
        </p:spPr>
        <p:txBody>
          <a:bodyPr wrap="square" rtlCol="0" anchor="ctr"/>
          <a:lstStyle/>
          <a:p>
            <a:pPr marL="0" indent="0">
              <a:lnSpc>
                <a:spcPct val="110000"/>
              </a:lnSpc>
              <a:buNone/>
            </a:pPr>
            <a:r>
              <a:rPr lang="en-US" sz="930" dirty="0">
                <a:solidFill>
                  <a:srgbClr val="5B6B73"/>
                </a:solidFill>
                <a:latin typeface="Calibri" pitchFamily="34" charset="0"/>
                <a:ea typeface="Calibri" pitchFamily="34" charset="-122"/>
                <a:cs typeface="Calibri" pitchFamily="34" charset="-120"/>
              </a:rPr>
              <a:t>Interactivity &amp; dynamic behavior</a:t>
            </a:r>
            <a:endParaRPr lang="en-US" sz="930" dirty="0"/>
          </a:p>
        </p:txBody>
      </p:sp>
      <p:sp>
        <p:nvSpPr>
          <p:cNvPr id="22" name="Shape 16"/>
          <p:cNvSpPr/>
          <p:nvPr/>
        </p:nvSpPr>
        <p:spPr>
          <a:xfrm>
            <a:off x="548640" y="3749040"/>
            <a:ext cx="3505200" cy="1600200"/>
          </a:xfrm>
          <a:prstGeom prst="roundRect">
            <a:avLst>
              <a:gd name="adj" fmla="val 5143"/>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23" name="Shape 17"/>
          <p:cNvSpPr/>
          <p:nvPr/>
        </p:nvSpPr>
        <p:spPr>
          <a:xfrm>
            <a:off x="777240" y="4251960"/>
            <a:ext cx="594360" cy="594360"/>
          </a:xfrm>
          <a:prstGeom prst="ellipse">
            <a:avLst/>
          </a:prstGeom>
          <a:solidFill>
            <a:srgbClr val="0E7C86"/>
          </a:solidFill>
          <a:ln/>
        </p:spPr>
        <p:txBody>
          <a:bodyPr/>
          <a:lstStyle/>
          <a:p>
            <a:endParaRPr lang="en-US"/>
          </a:p>
        </p:txBody>
      </p:sp>
      <p:pic>
        <p:nvPicPr>
          <p:cNvPr id="24" name="Image 4" descr="/home/claude/hospital/icons/bootstrap_white.png"/>
          <p:cNvPicPr>
            <a:picLocks noChangeAspect="1"/>
          </p:cNvPicPr>
          <p:nvPr/>
        </p:nvPicPr>
        <p:blipFill>
          <a:blip r:embed="rId7"/>
          <a:stretch>
            <a:fillRect/>
          </a:stretch>
        </p:blipFill>
        <p:spPr>
          <a:xfrm>
            <a:off x="910971" y="4385691"/>
            <a:ext cx="326898" cy="326898"/>
          </a:xfrm>
          <a:prstGeom prst="rect">
            <a:avLst/>
          </a:prstGeom>
        </p:spPr>
      </p:pic>
      <p:sp>
        <p:nvSpPr>
          <p:cNvPr id="25" name="Text 18"/>
          <p:cNvSpPr/>
          <p:nvPr/>
        </p:nvSpPr>
        <p:spPr>
          <a:xfrm>
            <a:off x="1554480" y="4005072"/>
            <a:ext cx="2316480" cy="365760"/>
          </a:xfrm>
          <a:prstGeom prst="rect">
            <a:avLst/>
          </a:prstGeom>
          <a:noFill/>
          <a:ln/>
        </p:spPr>
        <p:txBody>
          <a:bodyPr wrap="square" rtlCol="0" anchor="ctr"/>
          <a:lstStyle/>
          <a:p>
            <a:pPr marL="0" indent="0">
              <a:buNone/>
            </a:pPr>
            <a:r>
              <a:rPr lang="en-US" sz="1300" b="1" dirty="0">
                <a:solidFill>
                  <a:srgbClr val="0B2545"/>
                </a:solidFill>
                <a:latin typeface="Cambria" pitchFamily="34" charset="0"/>
                <a:ea typeface="Cambria" pitchFamily="34" charset="-122"/>
                <a:cs typeface="Cambria" pitchFamily="34" charset="-120"/>
              </a:rPr>
              <a:t>Bootstrap</a:t>
            </a:r>
            <a:endParaRPr lang="en-US" sz="1300" dirty="0"/>
          </a:p>
        </p:txBody>
      </p:sp>
      <p:sp>
        <p:nvSpPr>
          <p:cNvPr id="26" name="Text 19"/>
          <p:cNvSpPr/>
          <p:nvPr/>
        </p:nvSpPr>
        <p:spPr>
          <a:xfrm>
            <a:off x="1554480" y="4370832"/>
            <a:ext cx="2316480" cy="685800"/>
          </a:xfrm>
          <a:prstGeom prst="rect">
            <a:avLst/>
          </a:prstGeom>
          <a:noFill/>
          <a:ln/>
        </p:spPr>
        <p:txBody>
          <a:bodyPr wrap="square" rtlCol="0" anchor="ctr"/>
          <a:lstStyle/>
          <a:p>
            <a:pPr marL="0" indent="0">
              <a:lnSpc>
                <a:spcPct val="110000"/>
              </a:lnSpc>
              <a:buNone/>
            </a:pPr>
            <a:r>
              <a:rPr lang="en-US" sz="930" dirty="0">
                <a:solidFill>
                  <a:srgbClr val="5B6B73"/>
                </a:solidFill>
                <a:latin typeface="Calibri" pitchFamily="34" charset="0"/>
                <a:ea typeface="Calibri" pitchFamily="34" charset="-122"/>
                <a:cs typeface="Calibri" pitchFamily="34" charset="-120"/>
              </a:rPr>
              <a:t>Responsive grid framework</a:t>
            </a:r>
            <a:endParaRPr lang="en-US" sz="930" dirty="0"/>
          </a:p>
        </p:txBody>
      </p:sp>
      <p:sp>
        <p:nvSpPr>
          <p:cNvPr id="27" name="Shape 20"/>
          <p:cNvSpPr/>
          <p:nvPr/>
        </p:nvSpPr>
        <p:spPr>
          <a:xfrm>
            <a:off x="4328160" y="3749040"/>
            <a:ext cx="3505200" cy="1600200"/>
          </a:xfrm>
          <a:prstGeom prst="roundRect">
            <a:avLst>
              <a:gd name="adj" fmla="val 5143"/>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28" name="Shape 21"/>
          <p:cNvSpPr/>
          <p:nvPr/>
        </p:nvSpPr>
        <p:spPr>
          <a:xfrm>
            <a:off x="4556760" y="4251960"/>
            <a:ext cx="594360" cy="594360"/>
          </a:xfrm>
          <a:prstGeom prst="ellipse">
            <a:avLst/>
          </a:prstGeom>
          <a:solidFill>
            <a:srgbClr val="0E7C86"/>
          </a:solidFill>
          <a:ln/>
        </p:spPr>
        <p:txBody>
          <a:bodyPr/>
          <a:lstStyle/>
          <a:p>
            <a:endParaRPr lang="en-US"/>
          </a:p>
        </p:txBody>
      </p:sp>
      <p:pic>
        <p:nvPicPr>
          <p:cNvPr id="29" name="Image 5" descr="/home/claude/hospital/icons/mobile_white.png"/>
          <p:cNvPicPr>
            <a:picLocks noChangeAspect="1"/>
          </p:cNvPicPr>
          <p:nvPr/>
        </p:nvPicPr>
        <p:blipFill>
          <a:blip r:embed="rId8"/>
          <a:stretch>
            <a:fillRect/>
          </a:stretch>
        </p:blipFill>
        <p:spPr>
          <a:xfrm>
            <a:off x="4690491" y="4385691"/>
            <a:ext cx="326898" cy="326898"/>
          </a:xfrm>
          <a:prstGeom prst="rect">
            <a:avLst/>
          </a:prstGeom>
        </p:spPr>
      </p:pic>
      <p:sp>
        <p:nvSpPr>
          <p:cNvPr id="30" name="Text 22"/>
          <p:cNvSpPr/>
          <p:nvPr/>
        </p:nvSpPr>
        <p:spPr>
          <a:xfrm>
            <a:off x="5334000" y="4005072"/>
            <a:ext cx="2316480" cy="365760"/>
          </a:xfrm>
          <a:prstGeom prst="rect">
            <a:avLst/>
          </a:prstGeom>
          <a:noFill/>
          <a:ln/>
        </p:spPr>
        <p:txBody>
          <a:bodyPr wrap="square" rtlCol="0" anchor="ctr"/>
          <a:lstStyle/>
          <a:p>
            <a:pPr marL="0" indent="0">
              <a:buNone/>
            </a:pPr>
            <a:r>
              <a:rPr lang="en-US" sz="1300" b="1" dirty="0">
                <a:solidFill>
                  <a:srgbClr val="0B2545"/>
                </a:solidFill>
                <a:latin typeface="Cambria" pitchFamily="34" charset="0"/>
                <a:ea typeface="Cambria" pitchFamily="34" charset="-122"/>
                <a:cs typeface="Cambria" pitchFamily="34" charset="-120"/>
              </a:rPr>
              <a:t>Responsive Design</a:t>
            </a:r>
            <a:endParaRPr lang="en-US" sz="1300" dirty="0"/>
          </a:p>
        </p:txBody>
      </p:sp>
      <p:sp>
        <p:nvSpPr>
          <p:cNvPr id="31" name="Text 23"/>
          <p:cNvSpPr/>
          <p:nvPr/>
        </p:nvSpPr>
        <p:spPr>
          <a:xfrm>
            <a:off x="5334000" y="4370832"/>
            <a:ext cx="2316480" cy="685800"/>
          </a:xfrm>
          <a:prstGeom prst="rect">
            <a:avLst/>
          </a:prstGeom>
          <a:noFill/>
          <a:ln/>
        </p:spPr>
        <p:txBody>
          <a:bodyPr wrap="square" rtlCol="0" anchor="ctr"/>
          <a:lstStyle/>
          <a:p>
            <a:pPr marL="0" indent="0">
              <a:lnSpc>
                <a:spcPct val="110000"/>
              </a:lnSpc>
              <a:buNone/>
            </a:pPr>
            <a:r>
              <a:rPr lang="en-US" sz="930" dirty="0">
                <a:solidFill>
                  <a:srgbClr val="5B6B73"/>
                </a:solidFill>
                <a:latin typeface="Calibri" pitchFamily="34" charset="0"/>
                <a:ea typeface="Calibri" pitchFamily="34" charset="-122"/>
                <a:cs typeface="Calibri" pitchFamily="34" charset="-120"/>
              </a:rPr>
              <a:t>Consistent experience on every device</a:t>
            </a:r>
            <a:endParaRPr lang="en-US" sz="930" dirty="0"/>
          </a:p>
        </p:txBody>
      </p:sp>
      <p:sp>
        <p:nvSpPr>
          <p:cNvPr id="32" name="Shape 24"/>
          <p:cNvSpPr/>
          <p:nvPr/>
        </p:nvSpPr>
        <p:spPr>
          <a:xfrm>
            <a:off x="8107680" y="3749040"/>
            <a:ext cx="3505200" cy="1600200"/>
          </a:xfrm>
          <a:prstGeom prst="roundRect">
            <a:avLst>
              <a:gd name="adj" fmla="val 5143"/>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33" name="Shape 25"/>
          <p:cNvSpPr/>
          <p:nvPr/>
        </p:nvSpPr>
        <p:spPr>
          <a:xfrm>
            <a:off x="8336280" y="4251960"/>
            <a:ext cx="594360" cy="594360"/>
          </a:xfrm>
          <a:prstGeom prst="ellipse">
            <a:avLst/>
          </a:prstGeom>
          <a:solidFill>
            <a:srgbClr val="0E7C86"/>
          </a:solidFill>
          <a:ln/>
        </p:spPr>
        <p:txBody>
          <a:bodyPr/>
          <a:lstStyle/>
          <a:p>
            <a:endParaRPr lang="en-US"/>
          </a:p>
        </p:txBody>
      </p:sp>
      <p:pic>
        <p:nvPicPr>
          <p:cNvPr id="34" name="Image 6" descr="/home/claude/hospital/icons/github_white.png"/>
          <p:cNvPicPr>
            <a:picLocks noChangeAspect="1"/>
          </p:cNvPicPr>
          <p:nvPr/>
        </p:nvPicPr>
        <p:blipFill>
          <a:blip r:embed="rId9"/>
          <a:stretch>
            <a:fillRect/>
          </a:stretch>
        </p:blipFill>
        <p:spPr>
          <a:xfrm>
            <a:off x="8470011" y="4385691"/>
            <a:ext cx="326898" cy="326898"/>
          </a:xfrm>
          <a:prstGeom prst="rect">
            <a:avLst/>
          </a:prstGeom>
        </p:spPr>
      </p:pic>
      <p:sp>
        <p:nvSpPr>
          <p:cNvPr id="35" name="Text 26"/>
          <p:cNvSpPr/>
          <p:nvPr/>
        </p:nvSpPr>
        <p:spPr>
          <a:xfrm>
            <a:off x="9113520" y="4005072"/>
            <a:ext cx="2316480" cy="365760"/>
          </a:xfrm>
          <a:prstGeom prst="rect">
            <a:avLst/>
          </a:prstGeom>
          <a:noFill/>
          <a:ln/>
        </p:spPr>
        <p:txBody>
          <a:bodyPr wrap="square" rtlCol="0" anchor="ctr"/>
          <a:lstStyle/>
          <a:p>
            <a:pPr marL="0" indent="0">
              <a:buNone/>
            </a:pPr>
            <a:r>
              <a:rPr lang="en-US" sz="1300" b="1" dirty="0">
                <a:solidFill>
                  <a:srgbClr val="0B2545"/>
                </a:solidFill>
                <a:latin typeface="Cambria" pitchFamily="34" charset="0"/>
                <a:ea typeface="Cambria" pitchFamily="34" charset="-122"/>
                <a:cs typeface="Cambria" pitchFamily="34" charset="-120"/>
              </a:rPr>
              <a:t>Git &amp; GitHub</a:t>
            </a:r>
            <a:endParaRPr lang="en-US" sz="1300" dirty="0"/>
          </a:p>
        </p:txBody>
      </p:sp>
      <p:sp>
        <p:nvSpPr>
          <p:cNvPr id="36" name="Text 27"/>
          <p:cNvSpPr/>
          <p:nvPr/>
        </p:nvSpPr>
        <p:spPr>
          <a:xfrm>
            <a:off x="9113520" y="4370832"/>
            <a:ext cx="2316480" cy="685800"/>
          </a:xfrm>
          <a:prstGeom prst="rect">
            <a:avLst/>
          </a:prstGeom>
          <a:noFill/>
          <a:ln/>
        </p:spPr>
        <p:txBody>
          <a:bodyPr wrap="square" rtlCol="0" anchor="ctr"/>
          <a:lstStyle/>
          <a:p>
            <a:pPr marL="0" indent="0">
              <a:lnSpc>
                <a:spcPct val="110000"/>
              </a:lnSpc>
              <a:buNone/>
            </a:pPr>
            <a:r>
              <a:rPr lang="en-US" sz="930" dirty="0">
                <a:solidFill>
                  <a:srgbClr val="5B6B73"/>
                </a:solidFill>
                <a:latin typeface="Calibri" pitchFamily="34" charset="0"/>
                <a:ea typeface="Calibri" pitchFamily="34" charset="-122"/>
                <a:cs typeface="Calibri" pitchFamily="34" charset="-120"/>
              </a:rPr>
              <a:t>Version control &amp; collaboration</a:t>
            </a:r>
            <a:endParaRPr lang="en-US" sz="930" dirty="0"/>
          </a:p>
        </p:txBody>
      </p:sp>
      <p:pic>
        <p:nvPicPr>
          <p:cNvPr id="37" name="Image 7"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38" name="Text 28"/>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39" name="Text 29"/>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marL="0" indent="0" algn="l">
              <a:lnSpc>
                <a:spcPct val="102000"/>
              </a:lnSpc>
              <a:buNone/>
            </a:pPr>
            <a:r>
              <a:rPr lang="en-US" sz="2800" b="1" dirty="0">
                <a:solidFill>
                  <a:srgbClr val="0B2545"/>
                </a:solidFill>
                <a:latin typeface="Cambria" pitchFamily="34" charset="0"/>
                <a:ea typeface="Cambria" pitchFamily="34" charset="-122"/>
                <a:cs typeface="Cambria" pitchFamily="34" charset="-120"/>
              </a:rPr>
              <a:t>Future Improvements</a:t>
            </a:r>
            <a:endParaRPr lang="en-US" sz="2800" dirty="0"/>
          </a:p>
        </p:txBody>
      </p:sp>
      <p:pic>
        <p:nvPicPr>
          <p:cNvPr id="4" name="Image 0" descr="/home/claude/hospital/icons/logo_cross_teal.png"/>
          <p:cNvPicPr>
            <a:picLocks noChangeAspect="1"/>
          </p:cNvPicPr>
          <p:nvPr/>
        </p:nvPicPr>
        <p:blipFill>
          <a:blip r:embed="rId3"/>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a:r>
              <a:rPr lang="en-US" sz="1000" kern="0" spc="100" dirty="0">
                <a:solidFill>
                  <a:srgbClr val="5B6B73"/>
                </a:solidFill>
                <a:latin typeface="Calibri" pitchFamily="34" charset="0"/>
                <a:ea typeface="Calibri" pitchFamily="34" charset="-122"/>
                <a:cs typeface="Calibri" pitchFamily="34" charset="-120"/>
              </a:rPr>
              <a:t>CareConnect</a:t>
            </a:r>
            <a:endParaRPr lang="en-US" sz="1000" dirty="0"/>
          </a:p>
        </p:txBody>
      </p:sp>
      <p:sp>
        <p:nvSpPr>
          <p:cNvPr id="6" name="Text 3"/>
          <p:cNvSpPr/>
          <p:nvPr/>
        </p:nvSpPr>
        <p:spPr>
          <a:xfrm>
            <a:off x="548640" y="1298448"/>
            <a:ext cx="9601200" cy="365760"/>
          </a:xfrm>
          <a:prstGeom prst="rect">
            <a:avLst/>
          </a:prstGeom>
          <a:noFill/>
          <a:ln/>
        </p:spPr>
        <p:txBody>
          <a:bodyPr wrap="square" rtlCol="0" anchor="ctr"/>
          <a:lstStyle/>
          <a:p>
            <a:pPr marL="0" indent="0">
              <a:buNone/>
            </a:pPr>
            <a:r>
              <a:rPr lang="en-US" sz="1250" i="1" dirty="0">
                <a:solidFill>
                  <a:srgbClr val="5B6B73"/>
                </a:solidFill>
                <a:latin typeface="Calibri" pitchFamily="34" charset="0"/>
                <a:ea typeface="Calibri" pitchFamily="34" charset="-122"/>
                <a:cs typeface="Calibri" pitchFamily="34" charset="-120"/>
              </a:rPr>
              <a:t>Realistic next steps to evolve Medsev into a full patient platform.</a:t>
            </a:r>
            <a:endParaRPr lang="en-US" sz="1250" dirty="0"/>
          </a:p>
        </p:txBody>
      </p:sp>
      <p:sp>
        <p:nvSpPr>
          <p:cNvPr id="7" name="Shape 4"/>
          <p:cNvSpPr/>
          <p:nvPr/>
        </p:nvSpPr>
        <p:spPr>
          <a:xfrm>
            <a:off x="548640" y="1874520"/>
            <a:ext cx="3505200" cy="4251960"/>
          </a:xfrm>
          <a:prstGeom prst="roundRect">
            <a:avLst>
              <a:gd name="adj" fmla="val 2348"/>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8" name="Shape 5"/>
          <p:cNvSpPr/>
          <p:nvPr/>
        </p:nvSpPr>
        <p:spPr>
          <a:xfrm>
            <a:off x="777240" y="2103120"/>
            <a:ext cx="3048000" cy="457200"/>
          </a:xfrm>
          <a:prstGeom prst="roundRect">
            <a:avLst>
              <a:gd name="adj" fmla="val 16000"/>
            </a:avLst>
          </a:prstGeom>
          <a:solidFill>
            <a:srgbClr val="0E7C86"/>
          </a:solidFill>
          <a:ln/>
        </p:spPr>
        <p:txBody>
          <a:bodyPr/>
          <a:lstStyle/>
          <a:p>
            <a:endParaRPr lang="en-US"/>
          </a:p>
        </p:txBody>
      </p:sp>
      <p:sp>
        <p:nvSpPr>
          <p:cNvPr id="9" name="Text 6"/>
          <p:cNvSpPr/>
          <p:nvPr/>
        </p:nvSpPr>
        <p:spPr>
          <a:xfrm>
            <a:off x="777240" y="2103120"/>
            <a:ext cx="30480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Patient-Facing</a:t>
            </a:r>
            <a:endParaRPr lang="en-US" sz="1250" dirty="0"/>
          </a:p>
        </p:txBody>
      </p:sp>
      <p:sp>
        <p:nvSpPr>
          <p:cNvPr id="10" name="Shape 7"/>
          <p:cNvSpPr/>
          <p:nvPr/>
        </p:nvSpPr>
        <p:spPr>
          <a:xfrm>
            <a:off x="822960" y="2788920"/>
            <a:ext cx="384048" cy="384048"/>
          </a:xfrm>
          <a:prstGeom prst="ellipse">
            <a:avLst/>
          </a:prstGeom>
          <a:solidFill>
            <a:srgbClr val="E8F1F1"/>
          </a:solidFill>
          <a:ln/>
        </p:spPr>
        <p:txBody>
          <a:bodyPr/>
          <a:lstStyle/>
          <a:p>
            <a:endParaRPr lang="en-US"/>
          </a:p>
        </p:txBody>
      </p:sp>
      <p:pic>
        <p:nvPicPr>
          <p:cNvPr id="11" name="Image 1" descr="/home/claude/hospital/icons/dashboard_teal.png"/>
          <p:cNvPicPr>
            <a:picLocks noChangeAspect="1"/>
          </p:cNvPicPr>
          <p:nvPr/>
        </p:nvPicPr>
        <p:blipFill>
          <a:blip r:embed="rId4"/>
          <a:stretch>
            <a:fillRect/>
          </a:stretch>
        </p:blipFill>
        <p:spPr>
          <a:xfrm>
            <a:off x="909371" y="2875331"/>
            <a:ext cx="211226" cy="211226"/>
          </a:xfrm>
          <a:prstGeom prst="rect">
            <a:avLst/>
          </a:prstGeom>
        </p:spPr>
      </p:pic>
      <p:sp>
        <p:nvSpPr>
          <p:cNvPr id="12" name="Text 8"/>
          <p:cNvSpPr/>
          <p:nvPr/>
        </p:nvSpPr>
        <p:spPr>
          <a:xfrm>
            <a:off x="1325880" y="2788920"/>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Patient Dashboard</a:t>
            </a:r>
            <a:endParaRPr lang="en-US" sz="1100" dirty="0"/>
          </a:p>
        </p:txBody>
      </p:sp>
      <p:sp>
        <p:nvSpPr>
          <p:cNvPr id="13" name="Shape 9"/>
          <p:cNvSpPr/>
          <p:nvPr/>
        </p:nvSpPr>
        <p:spPr>
          <a:xfrm>
            <a:off x="822960" y="3410712"/>
            <a:ext cx="384048" cy="384048"/>
          </a:xfrm>
          <a:prstGeom prst="ellipse">
            <a:avLst/>
          </a:prstGeom>
          <a:solidFill>
            <a:srgbClr val="E8F1F1"/>
          </a:solidFill>
          <a:ln/>
        </p:spPr>
        <p:txBody>
          <a:bodyPr/>
          <a:lstStyle/>
          <a:p>
            <a:endParaRPr lang="en-US"/>
          </a:p>
        </p:txBody>
      </p:sp>
      <p:pic>
        <p:nvPicPr>
          <p:cNvPr id="14" name="Image 2" descr="/home/claude/hospital/icons/card_teal.png"/>
          <p:cNvPicPr>
            <a:picLocks noChangeAspect="1"/>
          </p:cNvPicPr>
          <p:nvPr/>
        </p:nvPicPr>
        <p:blipFill>
          <a:blip r:embed="rId5"/>
          <a:stretch>
            <a:fillRect/>
          </a:stretch>
        </p:blipFill>
        <p:spPr>
          <a:xfrm>
            <a:off x="909371" y="3497123"/>
            <a:ext cx="211226" cy="211226"/>
          </a:xfrm>
          <a:prstGeom prst="rect">
            <a:avLst/>
          </a:prstGeom>
        </p:spPr>
      </p:pic>
      <p:sp>
        <p:nvSpPr>
          <p:cNvPr id="15" name="Text 10"/>
          <p:cNvSpPr/>
          <p:nvPr/>
        </p:nvSpPr>
        <p:spPr>
          <a:xfrm>
            <a:off x="1325880" y="3410712"/>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Online Payment</a:t>
            </a:r>
            <a:endParaRPr lang="en-US" sz="1100" dirty="0"/>
          </a:p>
        </p:txBody>
      </p:sp>
      <p:sp>
        <p:nvSpPr>
          <p:cNvPr id="16" name="Shape 11"/>
          <p:cNvSpPr/>
          <p:nvPr/>
        </p:nvSpPr>
        <p:spPr>
          <a:xfrm>
            <a:off x="822960" y="4032504"/>
            <a:ext cx="384048" cy="384048"/>
          </a:xfrm>
          <a:prstGeom prst="ellipse">
            <a:avLst/>
          </a:prstGeom>
          <a:solidFill>
            <a:srgbClr val="E8F1F1"/>
          </a:solidFill>
          <a:ln/>
        </p:spPr>
        <p:txBody>
          <a:bodyPr/>
          <a:lstStyle/>
          <a:p>
            <a:endParaRPr lang="en-US"/>
          </a:p>
        </p:txBody>
      </p:sp>
      <p:pic>
        <p:nvPicPr>
          <p:cNvPr id="17" name="Image 3" descr="/home/claude/hospital/icons/clipboard_teal.png"/>
          <p:cNvPicPr>
            <a:picLocks noChangeAspect="1"/>
          </p:cNvPicPr>
          <p:nvPr/>
        </p:nvPicPr>
        <p:blipFill>
          <a:blip r:embed="rId6"/>
          <a:stretch>
            <a:fillRect/>
          </a:stretch>
        </p:blipFill>
        <p:spPr>
          <a:xfrm>
            <a:off x="909371" y="4118915"/>
            <a:ext cx="211226" cy="211226"/>
          </a:xfrm>
          <a:prstGeom prst="rect">
            <a:avLst/>
          </a:prstGeom>
        </p:spPr>
      </p:pic>
      <p:sp>
        <p:nvSpPr>
          <p:cNvPr id="18" name="Text 12"/>
          <p:cNvSpPr/>
          <p:nvPr/>
        </p:nvSpPr>
        <p:spPr>
          <a:xfrm>
            <a:off x="1325880" y="4032504"/>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Medical Reports &amp; History</a:t>
            </a:r>
            <a:endParaRPr lang="en-US" sz="1100" dirty="0"/>
          </a:p>
        </p:txBody>
      </p:sp>
      <p:sp>
        <p:nvSpPr>
          <p:cNvPr id="19" name="Shape 13"/>
          <p:cNvSpPr/>
          <p:nvPr/>
        </p:nvSpPr>
        <p:spPr>
          <a:xfrm>
            <a:off x="822960" y="4654296"/>
            <a:ext cx="384048" cy="384048"/>
          </a:xfrm>
          <a:prstGeom prst="ellipse">
            <a:avLst/>
          </a:prstGeom>
          <a:solidFill>
            <a:srgbClr val="E8F1F1"/>
          </a:solidFill>
          <a:ln/>
        </p:spPr>
        <p:txBody>
          <a:bodyPr/>
          <a:lstStyle/>
          <a:p>
            <a:endParaRPr lang="en-US"/>
          </a:p>
        </p:txBody>
      </p:sp>
      <p:pic>
        <p:nvPicPr>
          <p:cNvPr id="20" name="Image 4" descr="/home/claude/hospital/icons/bell_teal.png"/>
          <p:cNvPicPr>
            <a:picLocks noChangeAspect="1"/>
          </p:cNvPicPr>
          <p:nvPr/>
        </p:nvPicPr>
        <p:blipFill>
          <a:blip r:embed="rId7"/>
          <a:stretch>
            <a:fillRect/>
          </a:stretch>
        </p:blipFill>
        <p:spPr>
          <a:xfrm>
            <a:off x="909371" y="4740707"/>
            <a:ext cx="211226" cy="211226"/>
          </a:xfrm>
          <a:prstGeom prst="rect">
            <a:avLst/>
          </a:prstGeom>
        </p:spPr>
      </p:pic>
      <p:sp>
        <p:nvSpPr>
          <p:cNvPr id="21" name="Text 14"/>
          <p:cNvSpPr/>
          <p:nvPr/>
        </p:nvSpPr>
        <p:spPr>
          <a:xfrm>
            <a:off x="1325880" y="4654296"/>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Appointment Reminders</a:t>
            </a:r>
            <a:endParaRPr lang="en-US" sz="1100" dirty="0"/>
          </a:p>
        </p:txBody>
      </p:sp>
      <p:sp>
        <p:nvSpPr>
          <p:cNvPr id="22" name="Shape 15"/>
          <p:cNvSpPr/>
          <p:nvPr/>
        </p:nvSpPr>
        <p:spPr>
          <a:xfrm>
            <a:off x="822960" y="5276088"/>
            <a:ext cx="384048" cy="384048"/>
          </a:xfrm>
          <a:prstGeom prst="ellipse">
            <a:avLst/>
          </a:prstGeom>
          <a:solidFill>
            <a:srgbClr val="E8F1F1"/>
          </a:solidFill>
          <a:ln/>
        </p:spPr>
        <p:txBody>
          <a:bodyPr/>
          <a:lstStyle/>
          <a:p>
            <a:endParaRPr lang="en-US"/>
          </a:p>
        </p:txBody>
      </p:sp>
      <p:pic>
        <p:nvPicPr>
          <p:cNvPr id="23" name="Image 5" descr="/home/claude/hospital/icons/moon_teal.png"/>
          <p:cNvPicPr>
            <a:picLocks noChangeAspect="1"/>
          </p:cNvPicPr>
          <p:nvPr/>
        </p:nvPicPr>
        <p:blipFill>
          <a:blip r:embed="rId8"/>
          <a:stretch>
            <a:fillRect/>
          </a:stretch>
        </p:blipFill>
        <p:spPr>
          <a:xfrm>
            <a:off x="909371" y="5362499"/>
            <a:ext cx="211226" cy="211226"/>
          </a:xfrm>
          <a:prstGeom prst="rect">
            <a:avLst/>
          </a:prstGeom>
        </p:spPr>
      </p:pic>
      <p:sp>
        <p:nvSpPr>
          <p:cNvPr id="24" name="Text 16"/>
          <p:cNvSpPr/>
          <p:nvPr/>
        </p:nvSpPr>
        <p:spPr>
          <a:xfrm>
            <a:off x="1325880" y="5276088"/>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Dark Mode</a:t>
            </a:r>
            <a:endParaRPr lang="en-US" sz="1100" dirty="0"/>
          </a:p>
        </p:txBody>
      </p:sp>
      <p:sp>
        <p:nvSpPr>
          <p:cNvPr id="25" name="Shape 17"/>
          <p:cNvSpPr/>
          <p:nvPr/>
        </p:nvSpPr>
        <p:spPr>
          <a:xfrm>
            <a:off x="4328160" y="1874520"/>
            <a:ext cx="3505200" cy="4251960"/>
          </a:xfrm>
          <a:prstGeom prst="roundRect">
            <a:avLst>
              <a:gd name="adj" fmla="val 2348"/>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26" name="Shape 18"/>
          <p:cNvSpPr/>
          <p:nvPr/>
        </p:nvSpPr>
        <p:spPr>
          <a:xfrm>
            <a:off x="4556760" y="2103120"/>
            <a:ext cx="3048000" cy="457200"/>
          </a:xfrm>
          <a:prstGeom prst="roundRect">
            <a:avLst>
              <a:gd name="adj" fmla="val 16000"/>
            </a:avLst>
          </a:prstGeom>
          <a:solidFill>
            <a:srgbClr val="0B2545"/>
          </a:solidFill>
          <a:ln/>
        </p:spPr>
        <p:txBody>
          <a:bodyPr/>
          <a:lstStyle/>
          <a:p>
            <a:endParaRPr lang="en-US"/>
          </a:p>
        </p:txBody>
      </p:sp>
      <p:sp>
        <p:nvSpPr>
          <p:cNvPr id="27" name="Text 19"/>
          <p:cNvSpPr/>
          <p:nvPr/>
        </p:nvSpPr>
        <p:spPr>
          <a:xfrm>
            <a:off x="4556760" y="2103120"/>
            <a:ext cx="30480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Engagement</a:t>
            </a:r>
            <a:endParaRPr lang="en-US" sz="1250" dirty="0"/>
          </a:p>
        </p:txBody>
      </p:sp>
      <p:sp>
        <p:nvSpPr>
          <p:cNvPr id="28" name="Shape 20"/>
          <p:cNvSpPr/>
          <p:nvPr/>
        </p:nvSpPr>
        <p:spPr>
          <a:xfrm>
            <a:off x="4602480" y="2788920"/>
            <a:ext cx="384048" cy="384048"/>
          </a:xfrm>
          <a:prstGeom prst="ellipse">
            <a:avLst/>
          </a:prstGeom>
          <a:solidFill>
            <a:srgbClr val="E8F1F1"/>
          </a:solidFill>
          <a:ln/>
        </p:spPr>
        <p:txBody>
          <a:bodyPr/>
          <a:lstStyle/>
          <a:p>
            <a:endParaRPr lang="en-US"/>
          </a:p>
        </p:txBody>
      </p:sp>
      <p:pic>
        <p:nvPicPr>
          <p:cNvPr id="29" name="Image 6" descr="/home/claude/hospital/icons/chatbot_navy.png"/>
          <p:cNvPicPr>
            <a:picLocks noChangeAspect="1"/>
          </p:cNvPicPr>
          <p:nvPr/>
        </p:nvPicPr>
        <p:blipFill>
          <a:blip r:embed="rId9"/>
          <a:stretch>
            <a:fillRect/>
          </a:stretch>
        </p:blipFill>
        <p:spPr>
          <a:xfrm>
            <a:off x="4688891" y="2875331"/>
            <a:ext cx="211226" cy="211226"/>
          </a:xfrm>
          <a:prstGeom prst="rect">
            <a:avLst/>
          </a:prstGeom>
        </p:spPr>
      </p:pic>
      <p:sp>
        <p:nvSpPr>
          <p:cNvPr id="30" name="Text 21"/>
          <p:cNvSpPr/>
          <p:nvPr/>
        </p:nvSpPr>
        <p:spPr>
          <a:xfrm>
            <a:off x="5105400" y="2788920"/>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AI Assistant / Chatbot</a:t>
            </a:r>
            <a:endParaRPr lang="en-US" sz="1100" dirty="0"/>
          </a:p>
        </p:txBody>
      </p:sp>
      <p:sp>
        <p:nvSpPr>
          <p:cNvPr id="31" name="Shape 22"/>
          <p:cNvSpPr/>
          <p:nvPr/>
        </p:nvSpPr>
        <p:spPr>
          <a:xfrm>
            <a:off x="4602480" y="3410712"/>
            <a:ext cx="384048" cy="384048"/>
          </a:xfrm>
          <a:prstGeom prst="ellipse">
            <a:avLst/>
          </a:prstGeom>
          <a:solidFill>
            <a:srgbClr val="E8F1F1"/>
          </a:solidFill>
          <a:ln/>
        </p:spPr>
        <p:txBody>
          <a:bodyPr/>
          <a:lstStyle/>
          <a:p>
            <a:endParaRPr lang="en-US"/>
          </a:p>
        </p:txBody>
      </p:sp>
      <p:pic>
        <p:nvPicPr>
          <p:cNvPr id="32" name="Image 7" descr="/home/claude/hospital/icons/message_navy.png"/>
          <p:cNvPicPr>
            <a:picLocks noChangeAspect="1"/>
          </p:cNvPicPr>
          <p:nvPr/>
        </p:nvPicPr>
        <p:blipFill>
          <a:blip r:embed="rId10"/>
          <a:stretch>
            <a:fillRect/>
          </a:stretch>
        </p:blipFill>
        <p:spPr>
          <a:xfrm>
            <a:off x="4688891" y="3497123"/>
            <a:ext cx="211226" cy="211226"/>
          </a:xfrm>
          <a:prstGeom prst="rect">
            <a:avLst/>
          </a:prstGeom>
        </p:spPr>
      </p:pic>
      <p:sp>
        <p:nvSpPr>
          <p:cNvPr id="33" name="Text 23"/>
          <p:cNvSpPr/>
          <p:nvPr/>
        </p:nvSpPr>
        <p:spPr>
          <a:xfrm>
            <a:off x="5105400" y="3410712"/>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Live Chat Support</a:t>
            </a:r>
            <a:endParaRPr lang="en-US" sz="1100" dirty="0"/>
          </a:p>
        </p:txBody>
      </p:sp>
      <p:sp>
        <p:nvSpPr>
          <p:cNvPr id="34" name="Shape 24"/>
          <p:cNvSpPr/>
          <p:nvPr/>
        </p:nvSpPr>
        <p:spPr>
          <a:xfrm>
            <a:off x="4602480" y="4032504"/>
            <a:ext cx="384048" cy="384048"/>
          </a:xfrm>
          <a:prstGeom prst="ellipse">
            <a:avLst/>
          </a:prstGeom>
          <a:solidFill>
            <a:srgbClr val="E8F1F1"/>
          </a:solidFill>
          <a:ln/>
        </p:spPr>
        <p:txBody>
          <a:bodyPr/>
          <a:lstStyle/>
          <a:p>
            <a:endParaRPr lang="en-US"/>
          </a:p>
        </p:txBody>
      </p:sp>
      <p:pic>
        <p:nvPicPr>
          <p:cNvPr id="35" name="Image 8" descr="/home/claude/hospital/icons/mail_navy.png"/>
          <p:cNvPicPr>
            <a:picLocks noChangeAspect="1"/>
          </p:cNvPicPr>
          <p:nvPr/>
        </p:nvPicPr>
        <p:blipFill>
          <a:blip r:embed="rId11"/>
          <a:stretch>
            <a:fillRect/>
          </a:stretch>
        </p:blipFill>
        <p:spPr>
          <a:xfrm>
            <a:off x="4688891" y="4118915"/>
            <a:ext cx="211226" cy="211226"/>
          </a:xfrm>
          <a:prstGeom prst="rect">
            <a:avLst/>
          </a:prstGeom>
        </p:spPr>
      </p:pic>
      <p:sp>
        <p:nvSpPr>
          <p:cNvPr id="36" name="Text 25"/>
          <p:cNvSpPr/>
          <p:nvPr/>
        </p:nvSpPr>
        <p:spPr>
          <a:xfrm>
            <a:off x="5105400" y="4032504"/>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Email Verification</a:t>
            </a:r>
            <a:endParaRPr lang="en-US" sz="1100" dirty="0"/>
          </a:p>
        </p:txBody>
      </p:sp>
      <p:sp>
        <p:nvSpPr>
          <p:cNvPr id="37" name="Shape 26"/>
          <p:cNvSpPr/>
          <p:nvPr/>
        </p:nvSpPr>
        <p:spPr>
          <a:xfrm>
            <a:off x="4602480" y="4654296"/>
            <a:ext cx="384048" cy="384048"/>
          </a:xfrm>
          <a:prstGeom prst="ellipse">
            <a:avLst/>
          </a:prstGeom>
          <a:solidFill>
            <a:srgbClr val="E8F1F1"/>
          </a:solidFill>
          <a:ln/>
        </p:spPr>
        <p:txBody>
          <a:bodyPr/>
          <a:lstStyle/>
          <a:p>
            <a:endParaRPr lang="en-US"/>
          </a:p>
        </p:txBody>
      </p:sp>
      <p:pic>
        <p:nvPicPr>
          <p:cNvPr id="38" name="Image 9" descr="/home/claude/hospital/icons/language_navy.png"/>
          <p:cNvPicPr>
            <a:picLocks noChangeAspect="1"/>
          </p:cNvPicPr>
          <p:nvPr/>
        </p:nvPicPr>
        <p:blipFill>
          <a:blip r:embed="rId12"/>
          <a:stretch>
            <a:fillRect/>
          </a:stretch>
        </p:blipFill>
        <p:spPr>
          <a:xfrm>
            <a:off x="4688891" y="4740707"/>
            <a:ext cx="211226" cy="211226"/>
          </a:xfrm>
          <a:prstGeom prst="rect">
            <a:avLst/>
          </a:prstGeom>
        </p:spPr>
      </p:pic>
      <p:sp>
        <p:nvSpPr>
          <p:cNvPr id="39" name="Text 27"/>
          <p:cNvSpPr/>
          <p:nvPr/>
        </p:nvSpPr>
        <p:spPr>
          <a:xfrm>
            <a:off x="5105400" y="4654296"/>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Multi-language Support</a:t>
            </a:r>
            <a:endParaRPr lang="en-US" sz="1100" dirty="0"/>
          </a:p>
        </p:txBody>
      </p:sp>
      <p:sp>
        <p:nvSpPr>
          <p:cNvPr id="40" name="Shape 28"/>
          <p:cNvSpPr/>
          <p:nvPr/>
        </p:nvSpPr>
        <p:spPr>
          <a:xfrm>
            <a:off x="4602480" y="5276088"/>
            <a:ext cx="384048" cy="384048"/>
          </a:xfrm>
          <a:prstGeom prst="ellipse">
            <a:avLst/>
          </a:prstGeom>
          <a:solidFill>
            <a:srgbClr val="E8F1F1"/>
          </a:solidFill>
          <a:ln/>
        </p:spPr>
        <p:txBody>
          <a:bodyPr/>
          <a:lstStyle/>
          <a:p>
            <a:endParaRPr lang="en-US"/>
          </a:p>
        </p:txBody>
      </p:sp>
      <p:pic>
        <p:nvPicPr>
          <p:cNvPr id="41" name="Image 10" descr="/home/claude/hospital/icons/video_navy.png"/>
          <p:cNvPicPr>
            <a:picLocks noChangeAspect="1"/>
          </p:cNvPicPr>
          <p:nvPr/>
        </p:nvPicPr>
        <p:blipFill>
          <a:blip r:embed="rId13"/>
          <a:stretch>
            <a:fillRect/>
          </a:stretch>
        </p:blipFill>
        <p:spPr>
          <a:xfrm>
            <a:off x="4688891" y="5362499"/>
            <a:ext cx="211226" cy="211226"/>
          </a:xfrm>
          <a:prstGeom prst="rect">
            <a:avLst/>
          </a:prstGeom>
        </p:spPr>
      </p:pic>
      <p:sp>
        <p:nvSpPr>
          <p:cNvPr id="42" name="Text 29"/>
          <p:cNvSpPr/>
          <p:nvPr/>
        </p:nvSpPr>
        <p:spPr>
          <a:xfrm>
            <a:off x="5105400" y="5276088"/>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Telemedicine</a:t>
            </a:r>
            <a:endParaRPr lang="en-US" sz="1100" dirty="0"/>
          </a:p>
        </p:txBody>
      </p:sp>
      <p:sp>
        <p:nvSpPr>
          <p:cNvPr id="43" name="Shape 30"/>
          <p:cNvSpPr/>
          <p:nvPr/>
        </p:nvSpPr>
        <p:spPr>
          <a:xfrm>
            <a:off x="8107680" y="1874520"/>
            <a:ext cx="3505200" cy="4251960"/>
          </a:xfrm>
          <a:prstGeom prst="roundRect">
            <a:avLst>
              <a:gd name="adj" fmla="val 2348"/>
            </a:avLst>
          </a:prstGeom>
          <a:solidFill>
            <a:srgbClr val="FFFFFF"/>
          </a:solidFill>
          <a:ln w="12700">
            <a:solidFill>
              <a:srgbClr val="DCE7E7"/>
            </a:solidFill>
            <a:prstDash val="solid"/>
          </a:ln>
          <a:effectLst>
            <a:outerShdw blurRad="127000" dist="38100" dir="5400000" algn="bl" rotWithShape="0">
              <a:srgbClr val="9AB3B3">
                <a:alpha val="28000"/>
              </a:srgbClr>
            </a:outerShdw>
          </a:effectLst>
        </p:spPr>
        <p:txBody>
          <a:bodyPr/>
          <a:lstStyle/>
          <a:p>
            <a:endParaRPr lang="en-US"/>
          </a:p>
        </p:txBody>
      </p:sp>
      <p:sp>
        <p:nvSpPr>
          <p:cNvPr id="44" name="Shape 31"/>
          <p:cNvSpPr/>
          <p:nvPr/>
        </p:nvSpPr>
        <p:spPr>
          <a:xfrm>
            <a:off x="8336280" y="2103120"/>
            <a:ext cx="3048000" cy="457200"/>
          </a:xfrm>
          <a:prstGeom prst="roundRect">
            <a:avLst>
              <a:gd name="adj" fmla="val 16000"/>
            </a:avLst>
          </a:prstGeom>
          <a:solidFill>
            <a:srgbClr val="0A5C63"/>
          </a:solidFill>
          <a:ln/>
        </p:spPr>
        <p:txBody>
          <a:bodyPr/>
          <a:lstStyle/>
          <a:p>
            <a:endParaRPr lang="en-US"/>
          </a:p>
        </p:txBody>
      </p:sp>
      <p:sp>
        <p:nvSpPr>
          <p:cNvPr id="45" name="Text 32"/>
          <p:cNvSpPr/>
          <p:nvPr/>
        </p:nvSpPr>
        <p:spPr>
          <a:xfrm>
            <a:off x="8336280" y="2103120"/>
            <a:ext cx="30480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Platform</a:t>
            </a:r>
            <a:endParaRPr lang="en-US" sz="1250" dirty="0"/>
          </a:p>
        </p:txBody>
      </p:sp>
      <p:sp>
        <p:nvSpPr>
          <p:cNvPr id="46" name="Shape 33"/>
          <p:cNvSpPr/>
          <p:nvPr/>
        </p:nvSpPr>
        <p:spPr>
          <a:xfrm>
            <a:off x="8382000" y="2788920"/>
            <a:ext cx="384048" cy="384048"/>
          </a:xfrm>
          <a:prstGeom prst="ellipse">
            <a:avLst/>
          </a:prstGeom>
          <a:solidFill>
            <a:srgbClr val="E8F1F1"/>
          </a:solidFill>
          <a:ln/>
        </p:spPr>
        <p:txBody>
          <a:bodyPr/>
          <a:lstStyle/>
          <a:p>
            <a:endParaRPr lang="en-US"/>
          </a:p>
        </p:txBody>
      </p:sp>
      <p:pic>
        <p:nvPicPr>
          <p:cNvPr id="47" name="Image 11" descr="/home/claude/hospital/icons/dashboard_teal.png"/>
          <p:cNvPicPr>
            <a:picLocks noChangeAspect="1"/>
          </p:cNvPicPr>
          <p:nvPr/>
        </p:nvPicPr>
        <p:blipFill>
          <a:blip r:embed="rId4"/>
          <a:stretch>
            <a:fillRect/>
          </a:stretch>
        </p:blipFill>
        <p:spPr>
          <a:xfrm>
            <a:off x="8468411" y="2875331"/>
            <a:ext cx="211226" cy="211226"/>
          </a:xfrm>
          <a:prstGeom prst="rect">
            <a:avLst/>
          </a:prstGeom>
        </p:spPr>
      </p:pic>
      <p:sp>
        <p:nvSpPr>
          <p:cNvPr id="48" name="Text 34"/>
          <p:cNvSpPr/>
          <p:nvPr/>
        </p:nvSpPr>
        <p:spPr>
          <a:xfrm>
            <a:off x="8884920" y="2788920"/>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Doctor Dashboard</a:t>
            </a:r>
            <a:endParaRPr lang="en-US" sz="1100" dirty="0"/>
          </a:p>
        </p:txBody>
      </p:sp>
      <p:sp>
        <p:nvSpPr>
          <p:cNvPr id="49" name="Shape 35"/>
          <p:cNvSpPr/>
          <p:nvPr/>
        </p:nvSpPr>
        <p:spPr>
          <a:xfrm>
            <a:off x="8382000" y="3410712"/>
            <a:ext cx="384048" cy="384048"/>
          </a:xfrm>
          <a:prstGeom prst="ellipse">
            <a:avLst/>
          </a:prstGeom>
          <a:solidFill>
            <a:srgbClr val="E8F1F1"/>
          </a:solidFill>
          <a:ln/>
        </p:spPr>
        <p:txBody>
          <a:bodyPr/>
          <a:lstStyle/>
          <a:p>
            <a:endParaRPr lang="en-US"/>
          </a:p>
        </p:txBody>
      </p:sp>
      <p:pic>
        <p:nvPicPr>
          <p:cNvPr id="50" name="Image 12" descr="/home/claude/hospital/icons/gear_teal.png"/>
          <p:cNvPicPr>
            <a:picLocks noChangeAspect="1"/>
          </p:cNvPicPr>
          <p:nvPr/>
        </p:nvPicPr>
        <p:blipFill>
          <a:blip r:embed="rId14"/>
          <a:stretch>
            <a:fillRect/>
          </a:stretch>
        </p:blipFill>
        <p:spPr>
          <a:xfrm>
            <a:off x="8468411" y="3497123"/>
            <a:ext cx="211226" cy="211226"/>
          </a:xfrm>
          <a:prstGeom prst="rect">
            <a:avLst/>
          </a:prstGeom>
        </p:spPr>
      </p:pic>
      <p:sp>
        <p:nvSpPr>
          <p:cNvPr id="51" name="Text 36"/>
          <p:cNvSpPr/>
          <p:nvPr/>
        </p:nvSpPr>
        <p:spPr>
          <a:xfrm>
            <a:off x="8884920" y="3410712"/>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Admin Panel</a:t>
            </a:r>
            <a:endParaRPr lang="en-US" sz="1100" dirty="0"/>
          </a:p>
        </p:txBody>
      </p:sp>
      <p:sp>
        <p:nvSpPr>
          <p:cNvPr id="52" name="Shape 37"/>
          <p:cNvSpPr/>
          <p:nvPr/>
        </p:nvSpPr>
        <p:spPr>
          <a:xfrm>
            <a:off x="8382000" y="4032504"/>
            <a:ext cx="384048" cy="384048"/>
          </a:xfrm>
          <a:prstGeom prst="ellipse">
            <a:avLst/>
          </a:prstGeom>
          <a:solidFill>
            <a:srgbClr val="E8F1F1"/>
          </a:solidFill>
          <a:ln/>
        </p:spPr>
        <p:txBody>
          <a:bodyPr/>
          <a:lstStyle/>
          <a:p>
            <a:endParaRPr lang="en-US"/>
          </a:p>
        </p:txBody>
      </p:sp>
      <p:pic>
        <p:nvPicPr>
          <p:cNvPr id="53" name="Image 13" descr="/home/claude/hospital/icons/search_teal.png"/>
          <p:cNvPicPr>
            <a:picLocks noChangeAspect="1"/>
          </p:cNvPicPr>
          <p:nvPr/>
        </p:nvPicPr>
        <p:blipFill>
          <a:blip r:embed="rId15"/>
          <a:stretch>
            <a:fillRect/>
          </a:stretch>
        </p:blipFill>
        <p:spPr>
          <a:xfrm>
            <a:off x="8468411" y="4118915"/>
            <a:ext cx="211226" cy="211226"/>
          </a:xfrm>
          <a:prstGeom prst="rect">
            <a:avLst/>
          </a:prstGeom>
        </p:spPr>
      </p:pic>
      <p:sp>
        <p:nvSpPr>
          <p:cNvPr id="54" name="Text 38"/>
          <p:cNvSpPr/>
          <p:nvPr/>
        </p:nvSpPr>
        <p:spPr>
          <a:xfrm>
            <a:off x="8884920" y="4032504"/>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Advanced Search</a:t>
            </a:r>
            <a:endParaRPr lang="en-US" sz="1100" dirty="0"/>
          </a:p>
        </p:txBody>
      </p:sp>
      <p:sp>
        <p:nvSpPr>
          <p:cNvPr id="55" name="Shape 39"/>
          <p:cNvSpPr/>
          <p:nvPr/>
        </p:nvSpPr>
        <p:spPr>
          <a:xfrm>
            <a:off x="8382000" y="4654296"/>
            <a:ext cx="384048" cy="384048"/>
          </a:xfrm>
          <a:prstGeom prst="ellipse">
            <a:avLst/>
          </a:prstGeom>
          <a:solidFill>
            <a:srgbClr val="E8F1F1"/>
          </a:solidFill>
          <a:ln/>
        </p:spPr>
        <p:txBody>
          <a:bodyPr/>
          <a:lstStyle/>
          <a:p>
            <a:endParaRPr lang="en-US"/>
          </a:p>
        </p:txBody>
      </p:sp>
      <p:pic>
        <p:nvPicPr>
          <p:cNvPr id="56" name="Image 14" descr="/home/claude/hospital/icons/filter_teal.png"/>
          <p:cNvPicPr>
            <a:picLocks noChangeAspect="1"/>
          </p:cNvPicPr>
          <p:nvPr/>
        </p:nvPicPr>
        <p:blipFill>
          <a:blip r:embed="rId16"/>
          <a:stretch>
            <a:fillRect/>
          </a:stretch>
        </p:blipFill>
        <p:spPr>
          <a:xfrm>
            <a:off x="8468411" y="4740707"/>
            <a:ext cx="211226" cy="211226"/>
          </a:xfrm>
          <a:prstGeom prst="rect">
            <a:avLst/>
          </a:prstGeom>
        </p:spPr>
      </p:pic>
      <p:sp>
        <p:nvSpPr>
          <p:cNvPr id="57" name="Text 40"/>
          <p:cNvSpPr/>
          <p:nvPr/>
        </p:nvSpPr>
        <p:spPr>
          <a:xfrm>
            <a:off x="8884920" y="4654296"/>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Advanced Filtering</a:t>
            </a:r>
            <a:endParaRPr lang="en-US" sz="1100" dirty="0"/>
          </a:p>
        </p:txBody>
      </p:sp>
      <p:sp>
        <p:nvSpPr>
          <p:cNvPr id="58" name="Shape 41"/>
          <p:cNvSpPr/>
          <p:nvPr/>
        </p:nvSpPr>
        <p:spPr>
          <a:xfrm>
            <a:off x="8382000" y="5276088"/>
            <a:ext cx="384048" cy="384048"/>
          </a:xfrm>
          <a:prstGeom prst="ellipse">
            <a:avLst/>
          </a:prstGeom>
          <a:solidFill>
            <a:srgbClr val="E8F1F1"/>
          </a:solidFill>
          <a:ln/>
        </p:spPr>
        <p:txBody>
          <a:bodyPr/>
          <a:lstStyle/>
          <a:p>
            <a:endParaRPr lang="en-US"/>
          </a:p>
        </p:txBody>
      </p:sp>
      <p:pic>
        <p:nvPicPr>
          <p:cNvPr id="59" name="Image 15" descr="/home/claude/hospital/icons/bell_teal.png"/>
          <p:cNvPicPr>
            <a:picLocks noChangeAspect="1"/>
          </p:cNvPicPr>
          <p:nvPr/>
        </p:nvPicPr>
        <p:blipFill>
          <a:blip r:embed="rId7"/>
          <a:stretch>
            <a:fillRect/>
          </a:stretch>
        </p:blipFill>
        <p:spPr>
          <a:xfrm>
            <a:off x="8468411" y="5362499"/>
            <a:ext cx="211226" cy="211226"/>
          </a:xfrm>
          <a:prstGeom prst="rect">
            <a:avLst/>
          </a:prstGeom>
        </p:spPr>
      </p:pic>
      <p:sp>
        <p:nvSpPr>
          <p:cNvPr id="60" name="Text 42"/>
          <p:cNvSpPr/>
          <p:nvPr/>
        </p:nvSpPr>
        <p:spPr>
          <a:xfrm>
            <a:off x="8884920" y="5276088"/>
            <a:ext cx="2499360" cy="384048"/>
          </a:xfrm>
          <a:prstGeom prst="rect">
            <a:avLst/>
          </a:prstGeom>
          <a:noFill/>
          <a:ln/>
        </p:spPr>
        <p:txBody>
          <a:bodyPr wrap="square" rtlCol="0" anchor="ctr"/>
          <a:lstStyle/>
          <a:p>
            <a:pPr marL="0" indent="0">
              <a:buNone/>
            </a:pPr>
            <a:r>
              <a:rPr lang="en-US" sz="1100" dirty="0">
                <a:solidFill>
                  <a:srgbClr val="1B2B34"/>
                </a:solidFill>
                <a:latin typeface="Calibri" pitchFamily="34" charset="0"/>
                <a:ea typeface="Calibri" pitchFamily="34" charset="-122"/>
                <a:cs typeface="Calibri" pitchFamily="34" charset="-120"/>
              </a:rPr>
              <a:t>Push Notifications</a:t>
            </a:r>
            <a:endParaRPr lang="en-US" sz="1100" dirty="0"/>
          </a:p>
        </p:txBody>
      </p:sp>
      <p:pic>
        <p:nvPicPr>
          <p:cNvPr id="61" name="Image 16" descr="/home/claude/hospital/icons/logo_cross_teal.png"/>
          <p:cNvPicPr>
            <a:picLocks noChangeAspect="1"/>
          </p:cNvPicPr>
          <p:nvPr/>
        </p:nvPicPr>
        <p:blipFill>
          <a:blip r:embed="rId3"/>
          <a:stretch>
            <a:fillRect/>
          </a:stretch>
        </p:blipFill>
        <p:spPr>
          <a:xfrm>
            <a:off x="457200" y="6473952"/>
            <a:ext cx="201168" cy="201168"/>
          </a:xfrm>
          <a:prstGeom prst="rect">
            <a:avLst/>
          </a:prstGeom>
        </p:spPr>
      </p:pic>
      <p:sp>
        <p:nvSpPr>
          <p:cNvPr id="62" name="Text 43"/>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63" name="Text 44"/>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txBody>
          <a:bodyPr/>
          <a:lstStyle/>
          <a:p>
            <a:endParaRPr lang="en-US"/>
          </a:p>
        </p:txBody>
      </p:sp>
      <p:sp>
        <p:nvSpPr>
          <p:cNvPr id="3" name="Shape 1"/>
          <p:cNvSpPr/>
          <p:nvPr/>
        </p:nvSpPr>
        <p:spPr>
          <a:xfrm>
            <a:off x="10543032" y="4480560"/>
            <a:ext cx="2926080" cy="2926080"/>
          </a:xfrm>
          <a:prstGeom prst="ellipse">
            <a:avLst/>
          </a:prstGeom>
          <a:solidFill>
            <a:srgbClr val="2EC4B6">
              <a:alpha val="30000"/>
            </a:srgbClr>
          </a:solidFill>
          <a:ln/>
        </p:spPr>
        <p:txBody>
          <a:bodyPr/>
          <a:lstStyle/>
          <a:p>
            <a:endParaRPr lang="en-US"/>
          </a:p>
        </p:txBody>
      </p:sp>
      <p:sp>
        <p:nvSpPr>
          <p:cNvPr id="4" name="Text 2"/>
          <p:cNvSpPr/>
          <p:nvPr/>
        </p:nvSpPr>
        <p:spPr>
          <a:xfrm>
            <a:off x="640080" y="640080"/>
            <a:ext cx="4572000" cy="320040"/>
          </a:xfrm>
          <a:prstGeom prst="rect">
            <a:avLst/>
          </a:prstGeom>
          <a:noFill/>
          <a:ln/>
        </p:spPr>
        <p:txBody>
          <a:bodyPr wrap="square" rtlCol="0" anchor="ctr"/>
          <a:lstStyle/>
          <a:p>
            <a:pPr marL="0" indent="0" algn="l">
              <a:buNone/>
            </a:pPr>
            <a:r>
              <a:rPr lang="en-US" sz="1200" b="1" kern="0" spc="200" dirty="0">
                <a:solidFill>
                  <a:srgbClr val="2EC4B6"/>
                </a:solidFill>
                <a:latin typeface="Calibri" pitchFamily="34" charset="0"/>
                <a:ea typeface="Calibri" pitchFamily="34" charset="-122"/>
                <a:cs typeface="Calibri" pitchFamily="34" charset="-120"/>
              </a:rPr>
              <a:t>CLOSING</a:t>
            </a:r>
            <a:endParaRPr lang="en-US" sz="1200" dirty="0"/>
          </a:p>
        </p:txBody>
      </p:sp>
      <p:sp>
        <p:nvSpPr>
          <p:cNvPr id="5" name="Text 3"/>
          <p:cNvSpPr/>
          <p:nvPr/>
        </p:nvSpPr>
        <p:spPr>
          <a:xfrm>
            <a:off x="640080" y="1005840"/>
            <a:ext cx="8686800" cy="1554480"/>
          </a:xfrm>
          <a:prstGeom prst="rect">
            <a:avLst/>
          </a:prstGeom>
          <a:noFill/>
          <a:ln/>
        </p:spPr>
        <p:txBody>
          <a:bodyPr wrap="square"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A Digital Front Door</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Built on Trust</a:t>
            </a:r>
            <a:endParaRPr lang="en-US" sz="3800" dirty="0"/>
          </a:p>
        </p:txBody>
      </p:sp>
      <p:sp>
        <p:nvSpPr>
          <p:cNvPr id="6" name="Shape 4"/>
          <p:cNvSpPr/>
          <p:nvPr/>
        </p:nvSpPr>
        <p:spPr>
          <a:xfrm>
            <a:off x="548640" y="2834640"/>
            <a:ext cx="2574036" cy="1965960"/>
          </a:xfrm>
          <a:prstGeom prst="roundRect">
            <a:avLst>
              <a:gd name="adj" fmla="val 4186"/>
            </a:avLst>
          </a:prstGeom>
          <a:solidFill>
            <a:srgbClr val="13315C"/>
          </a:solidFill>
          <a:ln w="12700">
            <a:solidFill>
              <a:srgbClr val="1F4C74"/>
            </a:solidFill>
            <a:prstDash val="solid"/>
          </a:ln>
        </p:spPr>
        <p:txBody>
          <a:bodyPr/>
          <a:lstStyle/>
          <a:p>
            <a:endParaRPr lang="en-US"/>
          </a:p>
        </p:txBody>
      </p:sp>
      <p:sp>
        <p:nvSpPr>
          <p:cNvPr id="7" name="Shape 5"/>
          <p:cNvSpPr/>
          <p:nvPr/>
        </p:nvSpPr>
        <p:spPr>
          <a:xfrm>
            <a:off x="1584198" y="3063240"/>
            <a:ext cx="502920" cy="502920"/>
          </a:xfrm>
          <a:prstGeom prst="ellipse">
            <a:avLst/>
          </a:prstGeom>
          <a:solidFill>
            <a:srgbClr val="2EC4B6"/>
          </a:solidFill>
          <a:ln/>
        </p:spPr>
        <p:txBody>
          <a:bodyPr/>
          <a:lstStyle/>
          <a:p>
            <a:endParaRPr lang="en-US"/>
          </a:p>
        </p:txBody>
      </p:sp>
      <p:pic>
        <p:nvPicPr>
          <p:cNvPr id="8" name="Image 0" descr="/home/claude/hospital/icons/target_navy.png"/>
          <p:cNvPicPr>
            <a:picLocks noChangeAspect="1"/>
          </p:cNvPicPr>
          <p:nvPr/>
        </p:nvPicPr>
        <p:blipFill>
          <a:blip r:embed="rId3"/>
          <a:stretch>
            <a:fillRect/>
          </a:stretch>
        </p:blipFill>
        <p:spPr>
          <a:xfrm>
            <a:off x="1697355" y="3176397"/>
            <a:ext cx="276606" cy="276606"/>
          </a:xfrm>
          <a:prstGeom prst="rect">
            <a:avLst/>
          </a:prstGeom>
        </p:spPr>
      </p:pic>
      <p:sp>
        <p:nvSpPr>
          <p:cNvPr id="9" name="Text 6"/>
          <p:cNvSpPr/>
          <p:nvPr/>
        </p:nvSpPr>
        <p:spPr>
          <a:xfrm>
            <a:off x="685800" y="3703320"/>
            <a:ext cx="2299716"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Project Vision</a:t>
            </a:r>
            <a:endParaRPr lang="en-US" sz="1200" dirty="0"/>
          </a:p>
        </p:txBody>
      </p:sp>
      <p:sp>
        <p:nvSpPr>
          <p:cNvPr id="10" name="Text 7"/>
          <p:cNvSpPr/>
          <p:nvPr/>
        </p:nvSpPr>
        <p:spPr>
          <a:xfrm>
            <a:off x="713232" y="4069080"/>
            <a:ext cx="2244852" cy="640080"/>
          </a:xfrm>
          <a:prstGeom prst="rect">
            <a:avLst/>
          </a:prstGeom>
          <a:noFill/>
          <a:ln/>
        </p:spPr>
        <p:txBody>
          <a:bodyPr wrap="square" rtlCol="0" anchor="ctr"/>
          <a:lstStyle/>
          <a:p>
            <a:pPr marL="0" indent="0" algn="ctr">
              <a:lnSpc>
                <a:spcPct val="110000"/>
              </a:lnSpc>
              <a:buNone/>
            </a:pPr>
            <a:r>
              <a:rPr lang="en-US" sz="920" dirty="0">
                <a:solidFill>
                  <a:srgbClr val="C3D6D6"/>
                </a:solidFill>
                <a:latin typeface="Calibri" pitchFamily="34" charset="0"/>
                <a:ea typeface="Calibri" pitchFamily="34" charset="-122"/>
                <a:cs typeface="Calibri" pitchFamily="34" charset="-120"/>
              </a:rPr>
              <a:t>A single, trustworthy digital home for every patient touchpoint.</a:t>
            </a:r>
            <a:endParaRPr lang="en-US" sz="920" dirty="0"/>
          </a:p>
        </p:txBody>
      </p:sp>
      <p:sp>
        <p:nvSpPr>
          <p:cNvPr id="11" name="Shape 8"/>
          <p:cNvSpPr/>
          <p:nvPr/>
        </p:nvSpPr>
        <p:spPr>
          <a:xfrm>
            <a:off x="3378708" y="2834640"/>
            <a:ext cx="2574036" cy="1965960"/>
          </a:xfrm>
          <a:prstGeom prst="roundRect">
            <a:avLst>
              <a:gd name="adj" fmla="val 4186"/>
            </a:avLst>
          </a:prstGeom>
          <a:solidFill>
            <a:srgbClr val="13315C"/>
          </a:solidFill>
          <a:ln w="12700">
            <a:solidFill>
              <a:srgbClr val="1F4C74"/>
            </a:solidFill>
            <a:prstDash val="solid"/>
          </a:ln>
        </p:spPr>
        <p:txBody>
          <a:bodyPr/>
          <a:lstStyle/>
          <a:p>
            <a:endParaRPr lang="en-US"/>
          </a:p>
        </p:txBody>
      </p:sp>
      <p:sp>
        <p:nvSpPr>
          <p:cNvPr id="12" name="Shape 9"/>
          <p:cNvSpPr/>
          <p:nvPr/>
        </p:nvSpPr>
        <p:spPr>
          <a:xfrm>
            <a:off x="4414266" y="3063240"/>
            <a:ext cx="502920" cy="502920"/>
          </a:xfrm>
          <a:prstGeom prst="ellipse">
            <a:avLst/>
          </a:prstGeom>
          <a:solidFill>
            <a:srgbClr val="2EC4B6"/>
          </a:solidFill>
          <a:ln/>
        </p:spPr>
        <p:txBody>
          <a:bodyPr/>
          <a:lstStyle/>
          <a:p>
            <a:endParaRPr lang="en-US"/>
          </a:p>
        </p:txBody>
      </p:sp>
      <p:pic>
        <p:nvPicPr>
          <p:cNvPr id="13" name="Image 1" descr="/home/claude/hospital/icons/chart_navy.png"/>
          <p:cNvPicPr>
            <a:picLocks noChangeAspect="1"/>
          </p:cNvPicPr>
          <p:nvPr/>
        </p:nvPicPr>
        <p:blipFill>
          <a:blip r:embed="rId4"/>
          <a:stretch>
            <a:fillRect/>
          </a:stretch>
        </p:blipFill>
        <p:spPr>
          <a:xfrm>
            <a:off x="4527423" y="3176397"/>
            <a:ext cx="276606" cy="276606"/>
          </a:xfrm>
          <a:prstGeom prst="rect">
            <a:avLst/>
          </a:prstGeom>
        </p:spPr>
      </p:pic>
      <p:sp>
        <p:nvSpPr>
          <p:cNvPr id="14" name="Text 10"/>
          <p:cNvSpPr/>
          <p:nvPr/>
        </p:nvSpPr>
        <p:spPr>
          <a:xfrm>
            <a:off x="3515868" y="3703320"/>
            <a:ext cx="2299716"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Business Value</a:t>
            </a:r>
            <a:endParaRPr lang="en-US" sz="1200" dirty="0"/>
          </a:p>
        </p:txBody>
      </p:sp>
      <p:sp>
        <p:nvSpPr>
          <p:cNvPr id="15" name="Text 11"/>
          <p:cNvSpPr/>
          <p:nvPr/>
        </p:nvSpPr>
        <p:spPr>
          <a:xfrm>
            <a:off x="3543300" y="4069080"/>
            <a:ext cx="2244852" cy="640080"/>
          </a:xfrm>
          <a:prstGeom prst="rect">
            <a:avLst/>
          </a:prstGeom>
          <a:noFill/>
          <a:ln/>
        </p:spPr>
        <p:txBody>
          <a:bodyPr wrap="square" rtlCol="0" anchor="ctr"/>
          <a:lstStyle/>
          <a:p>
            <a:pPr marL="0" indent="0" algn="ctr">
              <a:lnSpc>
                <a:spcPct val="110000"/>
              </a:lnSpc>
              <a:buNone/>
            </a:pPr>
            <a:r>
              <a:rPr lang="en-US" sz="920" dirty="0">
                <a:solidFill>
                  <a:srgbClr val="C3D6D6"/>
                </a:solidFill>
                <a:latin typeface="Calibri" pitchFamily="34" charset="0"/>
                <a:ea typeface="Calibri" pitchFamily="34" charset="-122"/>
                <a:cs typeface="Calibri" pitchFamily="34" charset="-120"/>
              </a:rPr>
              <a:t>Fewer calls, more bookings, and a stronger, measurable brand.</a:t>
            </a:r>
            <a:endParaRPr lang="en-US" sz="920" dirty="0"/>
          </a:p>
        </p:txBody>
      </p:sp>
      <p:sp>
        <p:nvSpPr>
          <p:cNvPr id="16" name="Shape 12"/>
          <p:cNvSpPr/>
          <p:nvPr/>
        </p:nvSpPr>
        <p:spPr>
          <a:xfrm>
            <a:off x="6208776" y="2834640"/>
            <a:ext cx="2574036" cy="1965960"/>
          </a:xfrm>
          <a:prstGeom prst="roundRect">
            <a:avLst>
              <a:gd name="adj" fmla="val 4186"/>
            </a:avLst>
          </a:prstGeom>
          <a:solidFill>
            <a:srgbClr val="13315C"/>
          </a:solidFill>
          <a:ln w="12700">
            <a:solidFill>
              <a:srgbClr val="1F4C74"/>
            </a:solidFill>
            <a:prstDash val="solid"/>
          </a:ln>
        </p:spPr>
        <p:txBody>
          <a:bodyPr/>
          <a:lstStyle/>
          <a:p>
            <a:endParaRPr lang="en-US"/>
          </a:p>
        </p:txBody>
      </p:sp>
      <p:sp>
        <p:nvSpPr>
          <p:cNvPr id="17" name="Shape 13"/>
          <p:cNvSpPr/>
          <p:nvPr/>
        </p:nvSpPr>
        <p:spPr>
          <a:xfrm>
            <a:off x="7244334" y="3063240"/>
            <a:ext cx="502920" cy="502920"/>
          </a:xfrm>
          <a:prstGeom prst="ellipse">
            <a:avLst/>
          </a:prstGeom>
          <a:solidFill>
            <a:srgbClr val="2EC4B6"/>
          </a:solidFill>
          <a:ln/>
        </p:spPr>
        <p:txBody>
          <a:bodyPr/>
          <a:lstStyle/>
          <a:p>
            <a:endParaRPr lang="en-US"/>
          </a:p>
        </p:txBody>
      </p:sp>
      <p:pic>
        <p:nvPicPr>
          <p:cNvPr id="18" name="Image 2" descr="/home/claude/hospital/icons/users_navy.png"/>
          <p:cNvPicPr>
            <a:picLocks noChangeAspect="1"/>
          </p:cNvPicPr>
          <p:nvPr/>
        </p:nvPicPr>
        <p:blipFill>
          <a:blip r:embed="rId5"/>
          <a:stretch>
            <a:fillRect/>
          </a:stretch>
        </p:blipFill>
        <p:spPr>
          <a:xfrm>
            <a:off x="7357491" y="3176397"/>
            <a:ext cx="276606" cy="276606"/>
          </a:xfrm>
          <a:prstGeom prst="rect">
            <a:avLst/>
          </a:prstGeom>
        </p:spPr>
      </p:pic>
      <p:sp>
        <p:nvSpPr>
          <p:cNvPr id="19" name="Text 14"/>
          <p:cNvSpPr/>
          <p:nvPr/>
        </p:nvSpPr>
        <p:spPr>
          <a:xfrm>
            <a:off x="6345936" y="3703320"/>
            <a:ext cx="2299716"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User Experience</a:t>
            </a:r>
            <a:endParaRPr lang="en-US" sz="1200" dirty="0"/>
          </a:p>
        </p:txBody>
      </p:sp>
      <p:sp>
        <p:nvSpPr>
          <p:cNvPr id="20" name="Text 15"/>
          <p:cNvSpPr/>
          <p:nvPr/>
        </p:nvSpPr>
        <p:spPr>
          <a:xfrm>
            <a:off x="6373368" y="4069080"/>
            <a:ext cx="2244852" cy="640080"/>
          </a:xfrm>
          <a:prstGeom prst="rect">
            <a:avLst/>
          </a:prstGeom>
          <a:noFill/>
          <a:ln/>
        </p:spPr>
        <p:txBody>
          <a:bodyPr wrap="square" rtlCol="0" anchor="ctr"/>
          <a:lstStyle/>
          <a:p>
            <a:pPr marL="0" indent="0" algn="ctr">
              <a:lnSpc>
                <a:spcPct val="110000"/>
              </a:lnSpc>
              <a:buNone/>
            </a:pPr>
            <a:r>
              <a:rPr lang="en-US" sz="920" dirty="0">
                <a:solidFill>
                  <a:srgbClr val="C3D6D6"/>
                </a:solidFill>
                <a:latin typeface="Calibri" pitchFamily="34" charset="0"/>
                <a:ea typeface="Calibri" pitchFamily="34" charset="-122"/>
                <a:cs typeface="Calibri" pitchFamily="34" charset="-120"/>
              </a:rPr>
              <a:t>Clear, accessible, and reassuring at every step of the journey.</a:t>
            </a:r>
            <a:endParaRPr lang="en-US" sz="920" dirty="0"/>
          </a:p>
        </p:txBody>
      </p:sp>
      <p:sp>
        <p:nvSpPr>
          <p:cNvPr id="21" name="Shape 16"/>
          <p:cNvSpPr/>
          <p:nvPr/>
        </p:nvSpPr>
        <p:spPr>
          <a:xfrm>
            <a:off x="9038844" y="2834640"/>
            <a:ext cx="2574036" cy="1965960"/>
          </a:xfrm>
          <a:prstGeom prst="roundRect">
            <a:avLst>
              <a:gd name="adj" fmla="val 4186"/>
            </a:avLst>
          </a:prstGeom>
          <a:solidFill>
            <a:srgbClr val="13315C"/>
          </a:solidFill>
          <a:ln w="12700">
            <a:solidFill>
              <a:srgbClr val="1F4C74"/>
            </a:solidFill>
            <a:prstDash val="solid"/>
          </a:ln>
        </p:spPr>
        <p:txBody>
          <a:bodyPr/>
          <a:lstStyle/>
          <a:p>
            <a:endParaRPr lang="en-US"/>
          </a:p>
        </p:txBody>
      </p:sp>
      <p:sp>
        <p:nvSpPr>
          <p:cNvPr id="22" name="Shape 17"/>
          <p:cNvSpPr/>
          <p:nvPr/>
        </p:nvSpPr>
        <p:spPr>
          <a:xfrm>
            <a:off x="10074402" y="3063240"/>
            <a:ext cx="502920" cy="502920"/>
          </a:xfrm>
          <a:prstGeom prst="ellipse">
            <a:avLst/>
          </a:prstGeom>
          <a:solidFill>
            <a:srgbClr val="2EC4B6"/>
          </a:solidFill>
          <a:ln/>
        </p:spPr>
        <p:txBody>
          <a:bodyPr/>
          <a:lstStyle/>
          <a:p>
            <a:endParaRPr lang="en-US"/>
          </a:p>
        </p:txBody>
      </p:sp>
      <p:pic>
        <p:nvPicPr>
          <p:cNvPr id="23" name="Image 3" descr="/home/claude/hospital/icons/rocket_navy.png"/>
          <p:cNvPicPr>
            <a:picLocks noChangeAspect="1"/>
          </p:cNvPicPr>
          <p:nvPr/>
        </p:nvPicPr>
        <p:blipFill>
          <a:blip r:embed="rId6"/>
          <a:stretch>
            <a:fillRect/>
          </a:stretch>
        </p:blipFill>
        <p:spPr>
          <a:xfrm>
            <a:off x="10187559" y="3176397"/>
            <a:ext cx="276606" cy="276606"/>
          </a:xfrm>
          <a:prstGeom prst="rect">
            <a:avLst/>
          </a:prstGeom>
        </p:spPr>
      </p:pic>
      <p:sp>
        <p:nvSpPr>
          <p:cNvPr id="24" name="Text 18"/>
          <p:cNvSpPr/>
          <p:nvPr/>
        </p:nvSpPr>
        <p:spPr>
          <a:xfrm>
            <a:off x="9176004" y="3703320"/>
            <a:ext cx="2299716" cy="3657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Digital Transformation</a:t>
            </a:r>
            <a:endParaRPr lang="en-US" sz="1200" dirty="0"/>
          </a:p>
        </p:txBody>
      </p:sp>
      <p:sp>
        <p:nvSpPr>
          <p:cNvPr id="25" name="Text 19"/>
          <p:cNvSpPr/>
          <p:nvPr/>
        </p:nvSpPr>
        <p:spPr>
          <a:xfrm>
            <a:off x="9203436" y="4069080"/>
            <a:ext cx="2244852" cy="640080"/>
          </a:xfrm>
          <a:prstGeom prst="rect">
            <a:avLst/>
          </a:prstGeom>
          <a:noFill/>
          <a:ln/>
        </p:spPr>
        <p:txBody>
          <a:bodyPr wrap="square" rtlCol="0" anchor="ctr"/>
          <a:lstStyle/>
          <a:p>
            <a:pPr marL="0" indent="0" algn="ctr">
              <a:lnSpc>
                <a:spcPct val="110000"/>
              </a:lnSpc>
              <a:buNone/>
            </a:pPr>
            <a:r>
              <a:rPr lang="en-US" sz="920" dirty="0">
                <a:solidFill>
                  <a:srgbClr val="C3D6D6"/>
                </a:solidFill>
                <a:latin typeface="Calibri" pitchFamily="34" charset="0"/>
                <a:ea typeface="Calibri" pitchFamily="34" charset="-122"/>
                <a:cs typeface="Calibri" pitchFamily="34" charset="-120"/>
              </a:rPr>
              <a:t>A scalable foundation ready for dashboards, AI, and telemedicine.</a:t>
            </a:r>
            <a:endParaRPr lang="en-US" sz="920" dirty="0"/>
          </a:p>
        </p:txBody>
      </p:sp>
      <p:sp>
        <p:nvSpPr>
          <p:cNvPr id="26" name="Text 20"/>
          <p:cNvSpPr/>
          <p:nvPr/>
        </p:nvSpPr>
        <p:spPr>
          <a:xfrm>
            <a:off x="548640" y="5120640"/>
            <a:ext cx="11064240" cy="640080"/>
          </a:xfrm>
          <a:prstGeom prst="rect">
            <a:avLst/>
          </a:prstGeom>
          <a:noFill/>
          <a:ln/>
        </p:spPr>
        <p:txBody>
          <a:bodyPr wrap="square" rtlCol="0" anchor="ctr"/>
          <a:lstStyle/>
          <a:p>
            <a:pPr algn="ctr"/>
            <a:r>
              <a:rPr lang="en-US" sz="1400" kern="0" spc="100" dirty="0">
                <a:solidFill>
                  <a:srgbClr val="5B6B73"/>
                </a:solidFill>
                <a:latin typeface="Calibri" pitchFamily="34" charset="0"/>
                <a:ea typeface="Calibri" pitchFamily="34" charset="-122"/>
                <a:cs typeface="Calibri" pitchFamily="34" charset="-120"/>
              </a:rPr>
              <a:t>CareConnect</a:t>
            </a:r>
            <a:r>
              <a:rPr lang="en-US" sz="1400" i="1" dirty="0">
                <a:solidFill>
                  <a:srgbClr val="FFFFFF"/>
                </a:solidFill>
                <a:latin typeface="Calibri" pitchFamily="34" charset="0"/>
                <a:ea typeface="Calibri" pitchFamily="34" charset="-122"/>
                <a:cs typeface="Calibri" pitchFamily="34" charset="-120"/>
              </a:rPr>
              <a:t> proves that a hospital website can be more than a brochure — it can be a trusted, active partner in patient care. Thank you.</a:t>
            </a:r>
            <a:endParaRPr lang="en-US" sz="1400" dirty="0"/>
          </a:p>
        </p:txBody>
      </p:sp>
      <p:pic>
        <p:nvPicPr>
          <p:cNvPr id="27" name="Image 4" descr="/home/claude/hospital/icons/logo_cross_teal.png"/>
          <p:cNvPicPr>
            <a:picLocks noChangeAspect="1"/>
          </p:cNvPicPr>
          <p:nvPr/>
        </p:nvPicPr>
        <p:blipFill>
          <a:blip r:embed="rId7"/>
          <a:stretch>
            <a:fillRect/>
          </a:stretch>
        </p:blipFill>
        <p:spPr>
          <a:xfrm>
            <a:off x="457200" y="6473952"/>
            <a:ext cx="201168" cy="201168"/>
          </a:xfrm>
          <a:prstGeom prst="rect">
            <a:avLst/>
          </a:prstGeom>
        </p:spPr>
      </p:pic>
      <p:sp>
        <p:nvSpPr>
          <p:cNvPr id="28" name="Text 21"/>
          <p:cNvSpPr/>
          <p:nvPr/>
        </p:nvSpPr>
        <p:spPr>
          <a:xfrm>
            <a:off x="713232" y="6446520"/>
            <a:ext cx="5486400" cy="274320"/>
          </a:xfrm>
          <a:prstGeom prst="rect">
            <a:avLst/>
          </a:prstGeom>
          <a:noFill/>
          <a:ln/>
        </p:spPr>
        <p:txBody>
          <a:bodyPr wrap="square" rtlCol="0" anchor="ctr"/>
          <a:lstStyle/>
          <a:p>
            <a:r>
              <a:rPr lang="en-US" sz="850" kern="0" spc="100" dirty="0">
                <a:solidFill>
                  <a:srgbClr val="5B6B73"/>
                </a:solidFill>
                <a:latin typeface="Calibri" pitchFamily="34" charset="0"/>
                <a:ea typeface="Calibri" pitchFamily="34" charset="-122"/>
                <a:cs typeface="Calibri" pitchFamily="34" charset="-120"/>
              </a:rPr>
              <a:t>CareConnect  //  HEALTHCARE WEBSITE ANALYSIS</a:t>
            </a:r>
            <a:endParaRPr lang="en-US" sz="850" dirty="0"/>
          </a:p>
        </p:txBody>
      </p:sp>
      <p:sp>
        <p:nvSpPr>
          <p:cNvPr id="29" name="Text 22"/>
          <p:cNvSpPr/>
          <p:nvPr/>
        </p:nvSpPr>
        <p:spPr>
          <a:xfrm>
            <a:off x="11274552" y="6446520"/>
            <a:ext cx="548640" cy="274320"/>
          </a:xfrm>
          <a:prstGeom prst="rect">
            <a:avLst/>
          </a:prstGeom>
          <a:noFill/>
          <a:ln/>
        </p:spPr>
        <p:txBody>
          <a:bodyPr wrap="square"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3726</Words>
  <Application>Microsoft Office PowerPoint</Application>
  <PresentationFormat>Widescreen</PresentationFormat>
  <Paragraphs>511</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Thomas Najah Adly Fahda</cp:lastModifiedBy>
  <cp:revision>3</cp:revision>
  <dcterms:created xsi:type="dcterms:W3CDTF">2026-07-10T09:06:15Z</dcterms:created>
  <dcterms:modified xsi:type="dcterms:W3CDTF">2026-07-16T14:54:25Z</dcterms:modified>
</cp:coreProperties>
</file>